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Presentarse. La exposición recorre tres artículos recientes con la misma estructura para cada uno: resumen, materiales y métodos, resultados y conclusión, y cierra con un bloque de manejo integrado.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tipo de evidencia de cada fuente: una revisión narrativa que explica mecanismos, un estudio de farmacovigilancia que mide asociaciones en datos reales, y una revisión sistemática con metaanálisis, el nivel más alto de evidencia de los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diferencia entre agrandamiento, un término clínico, e hiperplasia o hipertrofia, términos histológicos. La foto es la figura 1 de Sabarudin: papilas interdentales anteriores agrandadas, lobuladas, en un paciente con amlodipina.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grupos tienen usos muy distintos: epilepsia, hipertensión y trasplante. Hay unas veinte prescripciones conocidas asociadas al problema. El tiempo de inicio refleja características temporales del reporte, no el riesgo directo.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artículo: una revisión narrativa de un grupo malayo de periodoncia e inmunología clínica.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una revisión narrativa: no busca cuantificar, sino ordenar lo que se sabe del mecanismo. Los autores son periodoncistas e inmunólogos clínicos de Malasia.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crítico para la clase: una revisión narrativa depende del criterio de los autores para elegir qué citar. No hay protocolo, ni búsqueda reproducible, ni evaluación del riesgo de sesgo. Sirve para entender mecanismos, no para estimar cuánto o a quién.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primero la fila superior: el fármaco reduce la entrada de cationes, cae la captación de folato, no se activan las metaloproteinasas y la colagenasa queda inactiva. El problema no es que se produzca más colágeno sino que no se degrada el que sobra; por eso se probó el ácido fólico. La fila inferior es la vía inflamatoria: la placa mantiene la encía en reparación permanente, con IL-1β, IL-6, TGF-β y CTGF; los fibroblastos proliferan y fagocitan menos colágeno por menor expresión de integrina α2. La línea punteada marca la sinergia: la nifedipina con IL-1β multiplica la síntesis de colágeno, y la ciclosporina eleva la IL-6.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autores no jerarquizan con datos propios: recogen lo publicado. El punto más útil es el orden: primero factores locales y placa, después coadyuvantes y cambio de fármaco, cirugía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primer artículo con su límite: explica el cómo, no el cuánto. Eso lo aportan los dos siguientes.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artículo: un estudio original de farmacovigilancia de farmacéuticos clínicos de Shanghai.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Estudio original de farmacovigilancia. Los autores son farmacéuticos clínicos.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qué es un sistema de notificación espontánea: no mide incidencia, mide desproporción. Un ROR de 10 significa que el agrandamiento se reporta con ese fármaco diez veces más de lo esperado respecto al resto de la base. La regresión logística ajusta por edad, sexo y región. La rama derecha de la figura es la farmacología de redes, sólo para el ácido zoledrónico.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Cuanto más a la derecha, más veces de lo esperado se reporta el agrandamiento con ese fármaco. La escala es logarítmica. Amlodipina concentra la mayoría de los reportes, en parte porque las guías británicas la recomiendan como primera línea en mayores de 55 años. Señalar los tres puntos vacíos: valproato, levetiracetam y ácido zoledrónico no llevan la advertencia en el prospecto.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nomograma se lee sumando puntos: la clase del fármaco es la variable que más pesa, y los bloqueantes de calcio llegan al máximo. El hallazgo de los bifosfonatos es el más novedoso y también el más frágil: 29 y 10 casos, y una red construida en bases de datos, no en tejido. Los autores lo presentan como hipótesis.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Subrayar la palabra «hipótesis» que usan los propios autores para los bifosfonatos.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artículo: la fuente de mayor jerarquía, de King's College London y Karolinska.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fuente de mayor jerarquía de las tres. Grupo de King's College London y Karolinska.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diferencia de jerarquía con el primer artículo: protocolo registrado antes de empezar, búsqueda reproducible en tres bases, dos revisores independientes calibrados, evaluación del riesgo de sesgo y GRADE. Dos preguntas: qué factores aumentan el riesgo y qué tratamiento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Cerca de la mitad de los pacientes con fenitoína u ortodoncia fija. Recalcar la advertencia de los autores sobre el sesgo de reclutamiento y la heterogeneidad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mensaje central: lo modificable es la placa. La dosis y la duración, que intuitivamente parecerían importar, no mostraron asociación. Los polimorfismos genéticos y los biomarcadores en fluido crevicular dieron resultados inconsistentes.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18 ensayos son pocos y varios con riesgo de sesgo; por eso la certeza global es muy baja. Aun así, el patrón es consistente: control de placa primero, azitromicina o cambio de fármaco como refuerzo, cirugía para lo que persiste.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idea de futuro: la farmacogenómica podría identificar a los pacientes susceptibles antes de iniciar la medicación.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esquema completo y anunciar que las siguientes diapositivas desarrollan los pasos 4 y 5. Enfatizar que la cirugía sin control de placa recidiva.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odontólogo no cambia la medicación: informa al médico con registros clínicos y fotografías, y el médico decide. Mencionar la interconsulta escrita como práctica recomendable.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que el ácido fólico se estudió también para reducir la recurrencia después de la gingivectomía en pacientes con fenitoína (Poppell 1991). No hay datos de costo ni de preferencia del paciente en la literatura revisada.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poco tiempo, esta diapositiva resume toda la exposición.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esta diapositiva durante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1F"/>
        </a:solidFill>
      </p:bgPr>
    </p:bg>
    <p:spTree>
      <p:nvGrpSpPr>
        <p:cNvPr id="1" name=""/>
        <p:cNvGrpSpPr/>
        <p:nvPr/>
      </p:nvGrpSpPr>
      <p:grpSpPr>
        <a:xfrm>
          <a:off x="0" y="0"/>
          <a:ext cx="0" cy="0"/>
          <a:chOff x="0" y="0"/>
          <a:chExt cx="0" cy="0"/>
        </a:xfrm>
      </p:grpSpPr>
      <p:sp>
        <p:nvSpPr>
          <p:cNvPr id="2" name="Text 0"/>
          <p:cNvSpPr txBox="1"/>
          <p:nvPr/>
        </p:nvSpPr>
        <p:spPr>
          <a:xfrm>
            <a:off x="822960" y="822960"/>
            <a:ext cx="7315200" cy="274320"/>
          </a:xfrm>
          <a:prstGeom prst="rect">
            <a:avLst/>
          </a:prstGeom>
          <a:noFill/>
          <a:ln/>
        </p:spPr>
        <p:txBody>
          <a:bodyPr wrap="square" lIns="0" tIns="0" rIns="0" bIns="0" rtlCol="0" anchor="t"/>
          <a:lstStyle/>
          <a:p>
            <a:pPr indent="0" marL="0">
              <a:buNone/>
            </a:pPr>
            <a:r>
              <a:rPr lang="en-US" sz="1300" dirty="0">
                <a:solidFill>
                  <a:srgbClr val="F4F4F1"/>
                </a:solidFill>
                <a:latin typeface="Calibri" pitchFamily="34" charset="0"/>
                <a:ea typeface="Calibri" pitchFamily="34" charset="-122"/>
                <a:cs typeface="Calibri" pitchFamily="34" charset="-120"/>
              </a:rPr>
              <a:t>Universidad del Zulia, Facultad de Odontología</a:t>
            </a:r>
            <a:endParaRPr lang="en-US" sz="1300" dirty="0"/>
          </a:p>
        </p:txBody>
      </p:sp>
      <p:sp>
        <p:nvSpPr>
          <p:cNvPr id="3" name="Text 1"/>
          <p:cNvSpPr txBox="1"/>
          <p:nvPr/>
        </p:nvSpPr>
        <p:spPr>
          <a:xfrm>
            <a:off x="822960" y="1097280"/>
            <a:ext cx="7315200" cy="274320"/>
          </a:xfrm>
          <a:prstGeom prst="rect">
            <a:avLst/>
          </a:prstGeom>
          <a:noFill/>
          <a:ln/>
        </p:spPr>
        <p:txBody>
          <a:bodyPr wrap="square" lIns="0" tIns="0" rIns="0" bIns="0" rtlCol="0" anchor="t"/>
          <a:lstStyle/>
          <a:p>
            <a:pPr indent="0" marL="0">
              <a:buNone/>
            </a:pPr>
            <a:r>
              <a:rPr lang="en-US" sz="1300" dirty="0">
                <a:solidFill>
                  <a:srgbClr val="B3B8BD"/>
                </a:solidFill>
                <a:latin typeface="Calibri" pitchFamily="34" charset="0"/>
                <a:ea typeface="Calibri" pitchFamily="34" charset="-122"/>
                <a:cs typeface="Calibri" pitchFamily="34" charset="-120"/>
              </a:rPr>
              <a:t>Postgrado de Periodoncia, Farmacología</a:t>
            </a:r>
            <a:endParaRPr lang="en-US" sz="1300" dirty="0"/>
          </a:p>
        </p:txBody>
      </p:sp>
      <p:sp>
        <p:nvSpPr>
          <p:cNvPr id="4" name="Text 2"/>
          <p:cNvSpPr txBox="1"/>
          <p:nvPr/>
        </p:nvSpPr>
        <p:spPr>
          <a:xfrm>
            <a:off x="822960" y="2286000"/>
            <a:ext cx="9601200" cy="1737360"/>
          </a:xfrm>
          <a:prstGeom prst="rect">
            <a:avLst/>
          </a:prstGeom>
          <a:noFill/>
          <a:ln/>
        </p:spPr>
        <p:txBody>
          <a:bodyPr wrap="square" lIns="0" tIns="0" rIns="0" bIns="0" rtlCol="0" anchor="t"/>
          <a:lstStyle/>
          <a:p>
            <a:pPr indent="0" marL="0">
              <a:lnSpc>
                <a:spcPct val="95000"/>
              </a:lnSpc>
              <a:buNone/>
            </a:pPr>
            <a:r>
              <a:rPr lang="en-US" sz="6000" dirty="0">
                <a:solidFill>
                  <a:srgbClr val="F4F4F1"/>
                </a:solidFill>
                <a:latin typeface="Cambria" pitchFamily="34" charset="0"/>
                <a:ea typeface="Cambria" pitchFamily="34" charset="-122"/>
                <a:cs typeface="Cambria" pitchFamily="34" charset="-120"/>
              </a:rPr>
              <a:t>Agrandamiento gingival </a:t>
            </a:r>
            <a:pPr indent="0" marL="0">
              <a:lnSpc>
                <a:spcPct val="95000"/>
              </a:lnSpc>
              <a:buNone/>
            </a:pPr>
            <a:r>
              <a:rPr lang="en-US" sz="6000" i="1" dirty="0">
                <a:solidFill>
                  <a:srgbClr val="F4F4F1"/>
                </a:solidFill>
                <a:latin typeface="Cambria" pitchFamily="34" charset="0"/>
                <a:ea typeface="Cambria" pitchFamily="34" charset="-122"/>
                <a:cs typeface="Cambria" pitchFamily="34" charset="-120"/>
              </a:rPr>
              <a:t>inducido por fármacos</a:t>
            </a:r>
            <a:endParaRPr lang="en-US" sz="6000" dirty="0"/>
          </a:p>
        </p:txBody>
      </p:sp>
      <p:sp>
        <p:nvSpPr>
          <p:cNvPr id="5" name="Text 3"/>
          <p:cNvSpPr txBox="1"/>
          <p:nvPr/>
        </p:nvSpPr>
        <p:spPr>
          <a:xfrm>
            <a:off x="822960" y="4114800"/>
            <a:ext cx="6400800" cy="640080"/>
          </a:xfrm>
          <a:prstGeom prst="rect">
            <a:avLst/>
          </a:prstGeom>
          <a:noFill/>
          <a:ln/>
        </p:spPr>
        <p:txBody>
          <a:bodyPr wrap="square" lIns="0" tIns="0" rIns="0" bIns="0" rtlCol="0" anchor="t"/>
          <a:lstStyle/>
          <a:p>
            <a:pPr indent="0" marL="0">
              <a:lnSpc>
                <a:spcPct val="120000"/>
              </a:lnSpc>
              <a:buNone/>
            </a:pPr>
            <a:r>
              <a:rPr lang="en-US" sz="1400" dirty="0">
                <a:solidFill>
                  <a:srgbClr val="B3B8BD"/>
                </a:solidFill>
                <a:latin typeface="Calibri" pitchFamily="34" charset="0"/>
                <a:ea typeface="Calibri" pitchFamily="34" charset="-122"/>
                <a:cs typeface="Calibri" pitchFamily="34" charset="-120"/>
              </a:rPr>
              <a:t>Revisión de tres artículos: mecanismo, farmacovigilancia y evidencia clínica sobre riesgo y manejo.</a:t>
            </a:r>
            <a:endParaRPr lang="en-US" sz="1400" dirty="0"/>
          </a:p>
        </p:txBody>
      </p:sp>
      <p:sp>
        <p:nvSpPr>
          <p:cNvPr id="6" name="Shape 4"/>
          <p:cNvSpPr/>
          <p:nvPr/>
        </p:nvSpPr>
        <p:spPr>
          <a:xfrm>
            <a:off x="822960" y="5897880"/>
            <a:ext cx="10545775" cy="0"/>
          </a:xfrm>
          <a:prstGeom prst="line">
            <a:avLst/>
          </a:prstGeom>
          <a:noFill/>
          <a:ln w="9525">
            <a:solidFill>
              <a:srgbClr val="3A3F44"/>
            </a:solidFill>
            <a:prstDash val="solid"/>
          </a:ln>
        </p:spPr>
      </p:sp>
      <p:sp>
        <p:nvSpPr>
          <p:cNvPr id="7" name="Text 5"/>
          <p:cNvSpPr txBox="1"/>
          <p:nvPr/>
        </p:nvSpPr>
        <p:spPr>
          <a:xfrm>
            <a:off x="822960" y="6016752"/>
            <a:ext cx="5486400" cy="274320"/>
          </a:xfrm>
          <a:prstGeom prst="rect">
            <a:avLst/>
          </a:prstGeom>
          <a:noFill/>
          <a:ln/>
        </p:spPr>
        <p:txBody>
          <a:bodyPr wrap="square" lIns="0" tIns="0" rIns="0" bIns="0" rtlCol="0" anchor="t"/>
          <a:lstStyle/>
          <a:p>
            <a:pPr indent="0" marL="0">
              <a:buNone/>
            </a:pPr>
            <a:r>
              <a:rPr lang="en-US" sz="1300" dirty="0">
                <a:solidFill>
                  <a:srgbClr val="F4F4F1"/>
                </a:solidFill>
                <a:latin typeface="Calibri" pitchFamily="34" charset="0"/>
                <a:ea typeface="Calibri" pitchFamily="34" charset="-122"/>
                <a:cs typeface="Calibri" pitchFamily="34" charset="-120"/>
              </a:rPr>
              <a:t>Rosmary Tarazona, C.I. V-26.488.581</a:t>
            </a:r>
            <a:endParaRPr lang="en-US" sz="1300" dirty="0"/>
          </a:p>
        </p:txBody>
      </p:sp>
      <p:sp>
        <p:nvSpPr>
          <p:cNvPr id="8" name="Text 6"/>
          <p:cNvSpPr txBox="1"/>
          <p:nvPr/>
        </p:nvSpPr>
        <p:spPr>
          <a:xfrm>
            <a:off x="6796735" y="6016752"/>
            <a:ext cx="4572000" cy="274320"/>
          </a:xfrm>
          <a:prstGeom prst="rect">
            <a:avLst/>
          </a:prstGeom>
          <a:noFill/>
          <a:ln/>
        </p:spPr>
        <p:txBody>
          <a:bodyPr wrap="square" lIns="0" tIns="0" rIns="0" bIns="0" rtlCol="0" anchor="t"/>
          <a:lstStyle/>
          <a:p>
            <a:pPr algn="r" indent="0" marL="0">
              <a:buNone/>
            </a:pPr>
            <a:r>
              <a:rPr lang="en-US" sz="1300" dirty="0">
                <a:solidFill>
                  <a:srgbClr val="B3B8BD"/>
                </a:solidFill>
                <a:latin typeface="Calibri" pitchFamily="34" charset="0"/>
                <a:ea typeface="Calibri" pitchFamily="34" charset="-122"/>
                <a:cs typeface="Calibri" pitchFamily="34" charset="-120"/>
              </a:rPr>
              <a:t>Maracaibo, septiembre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Contexto</a:t>
            </a:r>
            <a:endParaRPr lang="en-US" sz="1200" dirty="0"/>
          </a:p>
        </p:txBody>
      </p:sp>
      <p:sp>
        <p:nvSpPr>
          <p:cNvPr id="4" name="Text 2"/>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Tres artículos, tres niveles de evidencia</a:t>
            </a:r>
            <a:endParaRPr lang="en-US" sz="3600" dirty="0"/>
          </a:p>
        </p:txBody>
      </p:sp>
      <p:sp>
        <p:nvSpPr>
          <p:cNvPr id="5" name="Text 3"/>
          <p:cNvSpPr txBox="1"/>
          <p:nvPr/>
        </p:nvSpPr>
        <p:spPr>
          <a:xfrm>
            <a:off x="822960" y="251460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01</a:t>
            </a:r>
            <a:endParaRPr lang="en-US" sz="1200" dirty="0"/>
          </a:p>
        </p:txBody>
      </p:sp>
      <p:sp>
        <p:nvSpPr>
          <p:cNvPr id="6" name="Text 4"/>
          <p:cNvSpPr txBox="1"/>
          <p:nvPr/>
        </p:nvSpPr>
        <p:spPr>
          <a:xfrm>
            <a:off x="1371600" y="2514600"/>
            <a:ext cx="5486400"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Revisión narrativa</a:t>
            </a:r>
            <a:endParaRPr lang="en-US" sz="1100" dirty="0"/>
          </a:p>
        </p:txBody>
      </p:sp>
      <p:sp>
        <p:nvSpPr>
          <p:cNvPr id="7" name="Text 5"/>
          <p:cNvSpPr txBox="1"/>
          <p:nvPr/>
        </p:nvSpPr>
        <p:spPr>
          <a:xfrm>
            <a:off x="1371600" y="2770632"/>
            <a:ext cx="5669280" cy="566928"/>
          </a:xfrm>
          <a:prstGeom prst="rect">
            <a:avLst/>
          </a:prstGeom>
          <a:noFill/>
          <a:ln/>
        </p:spPr>
        <p:txBody>
          <a:bodyPr wrap="square" lIns="0" tIns="0" rIns="0" bIns="0" rtlCol="0" anchor="t"/>
          <a:lstStyle/>
          <a:p>
            <a:pPr indent="0" marL="0">
              <a:lnSpc>
                <a:spcPct val="105000"/>
              </a:lnSpc>
              <a:buNone/>
            </a:pPr>
            <a:r>
              <a:rPr lang="en-US" sz="1500" i="1" dirty="0">
                <a:solidFill>
                  <a:srgbClr val="1A1D1F"/>
                </a:solidFill>
                <a:latin typeface="Cambria" pitchFamily="34" charset="0"/>
                <a:ea typeface="Cambria" pitchFamily="34" charset="-122"/>
                <a:cs typeface="Cambria" pitchFamily="34" charset="-120"/>
              </a:rPr>
              <a:t>Refining the Mechanism of Drug-Influenced Gingival Enlargement and Its Management</a:t>
            </a:r>
            <a:endParaRPr lang="en-US" sz="1500" dirty="0"/>
          </a:p>
        </p:txBody>
      </p:sp>
      <p:sp>
        <p:nvSpPr>
          <p:cNvPr id="8" name="Text 6"/>
          <p:cNvSpPr txBox="1"/>
          <p:nvPr/>
        </p:nvSpPr>
        <p:spPr>
          <a:xfrm>
            <a:off x="1371600" y="3355848"/>
            <a:ext cx="5669280" cy="365760"/>
          </a:xfrm>
          <a:prstGeom prst="rect">
            <a:avLst/>
          </a:prstGeom>
          <a:noFill/>
          <a:ln/>
        </p:spPr>
        <p:txBody>
          <a:bodyPr wrap="square" lIns="0" tIns="0" rIns="0" bIns="0" rtlCol="0" anchor="t"/>
          <a:lstStyle/>
          <a:p>
            <a:pPr indent="0" marL="0">
              <a:lnSpc>
                <a:spcPct val="110000"/>
              </a:lnSpc>
              <a:buNone/>
            </a:pPr>
            <a:r>
              <a:rPr lang="en-US" sz="1100" dirty="0">
                <a:solidFill>
                  <a:srgbClr val="666B70"/>
                </a:solidFill>
                <a:latin typeface="Calibri" pitchFamily="34" charset="0"/>
                <a:ea typeface="Calibri" pitchFamily="34" charset="-122"/>
                <a:cs typeface="Calibri" pitchFamily="34" charset="-120"/>
              </a:rPr>
              <a:t>Sabarudin, Taib y Wan Mohamad, Cureus, 2022</a:t>
            </a:r>
            <a:endParaRPr lang="en-US" sz="1100" dirty="0"/>
          </a:p>
        </p:txBody>
      </p:sp>
      <p:sp>
        <p:nvSpPr>
          <p:cNvPr id="9" name="Text 7"/>
          <p:cNvSpPr txBox="1"/>
          <p:nvPr/>
        </p:nvSpPr>
        <p:spPr>
          <a:xfrm>
            <a:off x="7406640" y="2514600"/>
            <a:ext cx="3962095" cy="914400"/>
          </a:xfrm>
          <a:prstGeom prst="rect">
            <a:avLst/>
          </a:prstGeom>
          <a:noFill/>
          <a:ln/>
        </p:spPr>
        <p:txBody>
          <a:bodyPr wrap="square" lIns="0" tIns="0" rIns="0" bIns="0" rtlCol="0" anchor="t"/>
          <a:lstStyle/>
          <a:p>
            <a:pPr indent="0" marL="0">
              <a:lnSpc>
                <a:spcPct val="120000"/>
              </a:lnSpc>
              <a:buNone/>
            </a:pPr>
            <a:r>
              <a:rPr lang="en-US" sz="1250" dirty="0">
                <a:solidFill>
                  <a:srgbClr val="3B4045"/>
                </a:solidFill>
                <a:latin typeface="Calibri" pitchFamily="34" charset="0"/>
                <a:ea typeface="Calibri" pitchFamily="34" charset="-122"/>
                <a:cs typeface="Calibri" pitchFamily="34" charset="-120"/>
              </a:rPr>
              <a:t>Explica las vías del mecanismo y repasa las opciones de tratamiento.</a:t>
            </a:r>
            <a:endParaRPr lang="en-US" sz="1250" dirty="0"/>
          </a:p>
        </p:txBody>
      </p:sp>
      <p:sp>
        <p:nvSpPr>
          <p:cNvPr id="10" name="Shape 8"/>
          <p:cNvSpPr/>
          <p:nvPr/>
        </p:nvSpPr>
        <p:spPr>
          <a:xfrm>
            <a:off x="822960" y="3611880"/>
            <a:ext cx="10545775" cy="0"/>
          </a:xfrm>
          <a:prstGeom prst="line">
            <a:avLst/>
          </a:prstGeom>
          <a:noFill/>
          <a:ln w="9525">
            <a:solidFill>
              <a:srgbClr val="D9D9D4"/>
            </a:solidFill>
            <a:prstDash val="solid"/>
          </a:ln>
        </p:spPr>
      </p:sp>
      <p:sp>
        <p:nvSpPr>
          <p:cNvPr id="11" name="Text 9"/>
          <p:cNvSpPr txBox="1"/>
          <p:nvPr/>
        </p:nvSpPr>
        <p:spPr>
          <a:xfrm>
            <a:off x="822960" y="3721608"/>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02</a:t>
            </a:r>
            <a:endParaRPr lang="en-US" sz="1200" dirty="0"/>
          </a:p>
        </p:txBody>
      </p:sp>
      <p:sp>
        <p:nvSpPr>
          <p:cNvPr id="12" name="Text 10"/>
          <p:cNvSpPr txBox="1"/>
          <p:nvPr/>
        </p:nvSpPr>
        <p:spPr>
          <a:xfrm>
            <a:off x="1371600" y="3721608"/>
            <a:ext cx="5486400"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Farmacovigilancia, estudio original</a:t>
            </a:r>
            <a:endParaRPr lang="en-US" sz="1100" dirty="0"/>
          </a:p>
        </p:txBody>
      </p:sp>
      <p:sp>
        <p:nvSpPr>
          <p:cNvPr id="13" name="Text 11"/>
          <p:cNvSpPr txBox="1"/>
          <p:nvPr/>
        </p:nvSpPr>
        <p:spPr>
          <a:xfrm>
            <a:off x="1371600" y="3977640"/>
            <a:ext cx="5669280" cy="566928"/>
          </a:xfrm>
          <a:prstGeom prst="rect">
            <a:avLst/>
          </a:prstGeom>
          <a:noFill/>
          <a:ln/>
        </p:spPr>
        <p:txBody>
          <a:bodyPr wrap="square" lIns="0" tIns="0" rIns="0" bIns="0" rtlCol="0" anchor="t"/>
          <a:lstStyle/>
          <a:p>
            <a:pPr indent="0" marL="0">
              <a:lnSpc>
                <a:spcPct val="105000"/>
              </a:lnSpc>
              <a:buNone/>
            </a:pPr>
            <a:r>
              <a:rPr lang="en-US" sz="1500" i="1" dirty="0">
                <a:solidFill>
                  <a:srgbClr val="1A1D1F"/>
                </a:solidFill>
                <a:latin typeface="Cambria" pitchFamily="34" charset="0"/>
                <a:ea typeface="Cambria" pitchFamily="34" charset="-122"/>
                <a:cs typeface="Cambria" pitchFamily="34" charset="-120"/>
              </a:rPr>
              <a:t>Drug-induced gingival overgrowth: FAERS based real-world pharmacovigilance study and network pharmacology analysis</a:t>
            </a:r>
            <a:endParaRPr lang="en-US" sz="1500" dirty="0"/>
          </a:p>
        </p:txBody>
      </p:sp>
      <p:sp>
        <p:nvSpPr>
          <p:cNvPr id="14" name="Text 12"/>
          <p:cNvSpPr txBox="1"/>
          <p:nvPr/>
        </p:nvSpPr>
        <p:spPr>
          <a:xfrm>
            <a:off x="1371600" y="4562856"/>
            <a:ext cx="5669280" cy="365760"/>
          </a:xfrm>
          <a:prstGeom prst="rect">
            <a:avLst/>
          </a:prstGeom>
          <a:noFill/>
          <a:ln/>
        </p:spPr>
        <p:txBody>
          <a:bodyPr wrap="square" lIns="0" tIns="0" rIns="0" bIns="0" rtlCol="0" anchor="t"/>
          <a:lstStyle/>
          <a:p>
            <a:pPr indent="0" marL="0">
              <a:lnSpc>
                <a:spcPct val="110000"/>
              </a:lnSpc>
              <a:buNone/>
            </a:pPr>
            <a:r>
              <a:rPr lang="en-US" sz="1100" dirty="0">
                <a:solidFill>
                  <a:srgbClr val="666B70"/>
                </a:solidFill>
                <a:latin typeface="Calibri" pitchFamily="34" charset="0"/>
                <a:ea typeface="Calibri" pitchFamily="34" charset="-122"/>
                <a:cs typeface="Calibri" pitchFamily="34" charset="-120"/>
              </a:rPr>
              <a:t>Zhu, Wu, Jiao, Han y Yuan, Frontiers in Pharmacology, 2026</a:t>
            </a:r>
            <a:endParaRPr lang="en-US" sz="1100" dirty="0"/>
          </a:p>
        </p:txBody>
      </p:sp>
      <p:sp>
        <p:nvSpPr>
          <p:cNvPr id="15" name="Text 13"/>
          <p:cNvSpPr txBox="1"/>
          <p:nvPr/>
        </p:nvSpPr>
        <p:spPr>
          <a:xfrm>
            <a:off x="7406640" y="3721608"/>
            <a:ext cx="3962095" cy="914400"/>
          </a:xfrm>
          <a:prstGeom prst="rect">
            <a:avLst/>
          </a:prstGeom>
          <a:noFill/>
          <a:ln/>
        </p:spPr>
        <p:txBody>
          <a:bodyPr wrap="square" lIns="0" tIns="0" rIns="0" bIns="0" rtlCol="0" anchor="t"/>
          <a:lstStyle/>
          <a:p>
            <a:pPr indent="0" marL="0">
              <a:lnSpc>
                <a:spcPct val="120000"/>
              </a:lnSpc>
              <a:buNone/>
            </a:pPr>
            <a:r>
              <a:rPr lang="en-US" sz="1250" dirty="0">
                <a:solidFill>
                  <a:srgbClr val="3B4045"/>
                </a:solidFill>
                <a:latin typeface="Calibri" pitchFamily="34" charset="0"/>
                <a:ea typeface="Calibri" pitchFamily="34" charset="-122"/>
                <a:cs typeface="Calibri" pitchFamily="34" charset="-120"/>
              </a:rPr>
              <a:t>Mide qué fármacos se asocian al problema en 21 años de reportes reales.</a:t>
            </a:r>
            <a:endParaRPr lang="en-US" sz="1250" dirty="0"/>
          </a:p>
        </p:txBody>
      </p:sp>
      <p:sp>
        <p:nvSpPr>
          <p:cNvPr id="16" name="Shape 14"/>
          <p:cNvSpPr/>
          <p:nvPr/>
        </p:nvSpPr>
        <p:spPr>
          <a:xfrm>
            <a:off x="822960" y="4818888"/>
            <a:ext cx="10545775" cy="0"/>
          </a:xfrm>
          <a:prstGeom prst="line">
            <a:avLst/>
          </a:prstGeom>
          <a:noFill/>
          <a:ln w="9525">
            <a:solidFill>
              <a:srgbClr val="D9D9D4"/>
            </a:solidFill>
            <a:prstDash val="solid"/>
          </a:ln>
        </p:spPr>
      </p:sp>
      <p:sp>
        <p:nvSpPr>
          <p:cNvPr id="17" name="Text 15"/>
          <p:cNvSpPr txBox="1"/>
          <p:nvPr/>
        </p:nvSpPr>
        <p:spPr>
          <a:xfrm>
            <a:off x="822960" y="4928616"/>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03</a:t>
            </a:r>
            <a:endParaRPr lang="en-US" sz="1200" dirty="0"/>
          </a:p>
        </p:txBody>
      </p:sp>
      <p:sp>
        <p:nvSpPr>
          <p:cNvPr id="18" name="Text 16"/>
          <p:cNvSpPr txBox="1"/>
          <p:nvPr/>
        </p:nvSpPr>
        <p:spPr>
          <a:xfrm>
            <a:off x="1371600" y="4928616"/>
            <a:ext cx="5486400"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Revisión sistemática y metaanálisis</a:t>
            </a:r>
            <a:endParaRPr lang="en-US" sz="1100" dirty="0"/>
          </a:p>
        </p:txBody>
      </p:sp>
      <p:sp>
        <p:nvSpPr>
          <p:cNvPr id="19" name="Text 17"/>
          <p:cNvSpPr txBox="1"/>
          <p:nvPr/>
        </p:nvSpPr>
        <p:spPr>
          <a:xfrm>
            <a:off x="1371600" y="5184648"/>
            <a:ext cx="5669280" cy="566928"/>
          </a:xfrm>
          <a:prstGeom prst="rect">
            <a:avLst/>
          </a:prstGeom>
          <a:noFill/>
          <a:ln/>
        </p:spPr>
        <p:txBody>
          <a:bodyPr wrap="square" lIns="0" tIns="0" rIns="0" bIns="0" rtlCol="0" anchor="t"/>
          <a:lstStyle/>
          <a:p>
            <a:pPr indent="0" marL="0">
              <a:lnSpc>
                <a:spcPct val="105000"/>
              </a:lnSpc>
              <a:buNone/>
            </a:pPr>
            <a:r>
              <a:rPr lang="en-US" sz="1500" i="1" dirty="0">
                <a:solidFill>
                  <a:srgbClr val="1A1D1F"/>
                </a:solidFill>
                <a:latin typeface="Cambria" pitchFamily="34" charset="0"/>
                <a:ea typeface="Cambria" pitchFamily="34" charset="-122"/>
                <a:cs typeface="Cambria" pitchFamily="34" charset="-120"/>
              </a:rPr>
              <a:t>Risk Factors and Management of Gingival Enlargement: A Systematic Review and Meta-Analysis</a:t>
            </a:r>
            <a:endParaRPr lang="en-US" sz="1500" dirty="0"/>
          </a:p>
        </p:txBody>
      </p:sp>
      <p:sp>
        <p:nvSpPr>
          <p:cNvPr id="20" name="Text 18"/>
          <p:cNvSpPr txBox="1"/>
          <p:nvPr/>
        </p:nvSpPr>
        <p:spPr>
          <a:xfrm>
            <a:off x="1371600" y="5769864"/>
            <a:ext cx="5669280" cy="365760"/>
          </a:xfrm>
          <a:prstGeom prst="rect">
            <a:avLst/>
          </a:prstGeom>
          <a:noFill/>
          <a:ln/>
        </p:spPr>
        <p:txBody>
          <a:bodyPr wrap="square" lIns="0" tIns="0" rIns="0" bIns="0" rtlCol="0" anchor="t"/>
          <a:lstStyle/>
          <a:p>
            <a:pPr indent="0" marL="0">
              <a:lnSpc>
                <a:spcPct val="110000"/>
              </a:lnSpc>
              <a:buNone/>
            </a:pPr>
            <a:r>
              <a:rPr lang="en-US" sz="1100" dirty="0">
                <a:solidFill>
                  <a:srgbClr val="666B70"/>
                </a:solidFill>
                <a:latin typeface="Calibri" pitchFamily="34" charset="0"/>
                <a:ea typeface="Calibri" pitchFamily="34" charset="-122"/>
                <a:cs typeface="Calibri" pitchFamily="34" charset="-120"/>
              </a:rPr>
              <a:t>Nibali, Lu, Kang, Bostanci, Belibasakis y Paz, Journal of Clinical Periodontology, 2026</a:t>
            </a:r>
            <a:endParaRPr lang="en-US" sz="1100" dirty="0"/>
          </a:p>
        </p:txBody>
      </p:sp>
      <p:sp>
        <p:nvSpPr>
          <p:cNvPr id="21" name="Text 19"/>
          <p:cNvSpPr txBox="1"/>
          <p:nvPr/>
        </p:nvSpPr>
        <p:spPr>
          <a:xfrm>
            <a:off x="7406640" y="4928616"/>
            <a:ext cx="3962095" cy="914400"/>
          </a:xfrm>
          <a:prstGeom prst="rect">
            <a:avLst/>
          </a:prstGeom>
          <a:noFill/>
          <a:ln/>
        </p:spPr>
        <p:txBody>
          <a:bodyPr wrap="square" lIns="0" tIns="0" rIns="0" bIns="0" rtlCol="0" anchor="t"/>
          <a:lstStyle/>
          <a:p>
            <a:pPr indent="0" marL="0">
              <a:lnSpc>
                <a:spcPct val="120000"/>
              </a:lnSpc>
              <a:buNone/>
            </a:pPr>
            <a:r>
              <a:rPr lang="en-US" sz="1250" dirty="0">
                <a:solidFill>
                  <a:srgbClr val="3B4045"/>
                </a:solidFill>
                <a:latin typeface="Calibri" pitchFamily="34" charset="0"/>
                <a:ea typeface="Calibri" pitchFamily="34" charset="-122"/>
                <a:cs typeface="Calibri" pitchFamily="34" charset="-120"/>
              </a:rPr>
              <a:t>Cuantifica prevalencia, factores de riesgo y evidencia de tratamiento en 349 estudios.</a:t>
            </a:r>
            <a:endParaRPr lang="en-US" sz="1250" dirty="0"/>
          </a:p>
        </p:txBody>
      </p:sp>
      <p:sp>
        <p:nvSpPr>
          <p:cNvPr id="22" name="Text 20"/>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02 / 28</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Contexto</a:t>
            </a:r>
            <a:endParaRPr lang="en-US" sz="1200" dirty="0"/>
          </a:p>
        </p:txBody>
      </p:sp>
      <p:sp>
        <p:nvSpPr>
          <p:cNvPr id="4" name="Text 2"/>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Definición y presentación clínica</a:t>
            </a:r>
            <a:endParaRPr lang="en-US" sz="3600" dirty="0"/>
          </a:p>
        </p:txBody>
      </p:sp>
      <p:sp>
        <p:nvSpPr>
          <p:cNvPr id="5" name="Text 3"/>
          <p:cNvSpPr txBox="1"/>
          <p:nvPr/>
        </p:nvSpPr>
        <p:spPr>
          <a:xfrm>
            <a:off x="822960" y="2514600"/>
            <a:ext cx="4846320" cy="1371600"/>
          </a:xfrm>
          <a:prstGeom prst="rect">
            <a:avLst/>
          </a:prstGeom>
          <a:noFill/>
          <a:ln/>
        </p:spPr>
        <p:txBody>
          <a:bodyPr wrap="square" lIns="0" tIns="0" rIns="0" bIns="0" rtlCol="0" anchor="t"/>
          <a:lstStyle/>
          <a:p>
            <a:pPr indent="0" marL="0">
              <a:lnSpc>
                <a:spcPct val="120000"/>
              </a:lnSpc>
              <a:buNone/>
            </a:pPr>
            <a:r>
              <a:rPr lang="en-US" sz="1700" i="1" dirty="0">
                <a:solidFill>
                  <a:srgbClr val="1A1D1F"/>
                </a:solidFill>
                <a:latin typeface="Cambria" pitchFamily="34" charset="0"/>
                <a:ea typeface="Cambria" pitchFamily="34" charset="-122"/>
                <a:cs typeface="Cambria" pitchFamily="34" charset="-120"/>
              </a:rPr>
              <a:t>Crecimiento anormal del tejido gingival, localizado o generalizado. El término reemplaza a «hiperplasia» e «hipertrofia», que son diagnósticos histológicos y no describen todo el proceso.</a:t>
            </a:r>
            <a:endParaRPr lang="en-US" sz="1700" dirty="0"/>
          </a:p>
        </p:txBody>
      </p:sp>
      <p:sp>
        <p:nvSpPr>
          <p:cNvPr id="6" name="Text 4"/>
          <p:cNvSpPr txBox="1"/>
          <p:nvPr/>
        </p:nvSpPr>
        <p:spPr>
          <a:xfrm>
            <a:off x="822960" y="4069080"/>
            <a:ext cx="1097280" cy="475488"/>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Cuándo</a:t>
            </a:r>
            <a:endParaRPr lang="en-US" sz="1200" dirty="0"/>
          </a:p>
        </p:txBody>
      </p:sp>
      <p:sp>
        <p:nvSpPr>
          <p:cNvPr id="7" name="Text 5"/>
          <p:cNvSpPr txBox="1"/>
          <p:nvPr/>
        </p:nvSpPr>
        <p:spPr>
          <a:xfrm>
            <a:off x="2011680" y="4069080"/>
            <a:ext cx="3657600" cy="475488"/>
          </a:xfrm>
          <a:prstGeom prst="rect">
            <a:avLst/>
          </a:prstGeom>
          <a:noFill/>
          <a:ln/>
        </p:spPr>
        <p:txBody>
          <a:bodyPr wrap="square" lIns="0" tIns="0" rIns="0" bIns="0" rtlCol="0" anchor="t"/>
          <a:lstStyle/>
          <a:p>
            <a:pPr indent="0" marL="0">
              <a:lnSpc>
                <a:spcPct val="115000"/>
              </a:lnSpc>
              <a:buNone/>
            </a:pPr>
            <a:r>
              <a:rPr lang="en-US" sz="1200" dirty="0">
                <a:solidFill>
                  <a:srgbClr val="3B4045"/>
                </a:solidFill>
                <a:latin typeface="Calibri" pitchFamily="34" charset="0"/>
                <a:ea typeface="Calibri" pitchFamily="34" charset="-122"/>
                <a:cs typeface="Calibri" pitchFamily="34" charset="-120"/>
              </a:rPr>
              <a:t>Primeros tres meses de medicación, en individuos susceptibles.</a:t>
            </a:r>
            <a:endParaRPr lang="en-US" sz="1200" dirty="0"/>
          </a:p>
        </p:txBody>
      </p:sp>
      <p:sp>
        <p:nvSpPr>
          <p:cNvPr id="8" name="Shape 6"/>
          <p:cNvSpPr/>
          <p:nvPr/>
        </p:nvSpPr>
        <p:spPr>
          <a:xfrm>
            <a:off x="822960" y="4654296"/>
            <a:ext cx="4846320" cy="0"/>
          </a:xfrm>
          <a:prstGeom prst="line">
            <a:avLst/>
          </a:prstGeom>
          <a:noFill/>
          <a:ln w="9525">
            <a:solidFill>
              <a:srgbClr val="D9D9D4"/>
            </a:solidFill>
            <a:prstDash val="solid"/>
          </a:ln>
        </p:spPr>
      </p:sp>
      <p:sp>
        <p:nvSpPr>
          <p:cNvPr id="9" name="Text 7"/>
          <p:cNvSpPr txBox="1"/>
          <p:nvPr/>
        </p:nvSpPr>
        <p:spPr>
          <a:xfrm>
            <a:off x="822960" y="4782312"/>
            <a:ext cx="1097280" cy="475488"/>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Dónde</a:t>
            </a:r>
            <a:endParaRPr lang="en-US" sz="1200" dirty="0"/>
          </a:p>
        </p:txBody>
      </p:sp>
      <p:sp>
        <p:nvSpPr>
          <p:cNvPr id="10" name="Text 8"/>
          <p:cNvSpPr txBox="1"/>
          <p:nvPr/>
        </p:nvSpPr>
        <p:spPr>
          <a:xfrm>
            <a:off x="2011680" y="4782312"/>
            <a:ext cx="3657600" cy="475488"/>
          </a:xfrm>
          <a:prstGeom prst="rect">
            <a:avLst/>
          </a:prstGeom>
          <a:noFill/>
          <a:ln/>
        </p:spPr>
        <p:txBody>
          <a:bodyPr wrap="square" lIns="0" tIns="0" rIns="0" bIns="0" rtlCol="0" anchor="t"/>
          <a:lstStyle/>
          <a:p>
            <a:pPr indent="0" marL="0">
              <a:lnSpc>
                <a:spcPct val="115000"/>
              </a:lnSpc>
              <a:buNone/>
            </a:pPr>
            <a:r>
              <a:rPr lang="en-US" sz="1200" dirty="0">
                <a:solidFill>
                  <a:srgbClr val="3B4045"/>
                </a:solidFill>
                <a:latin typeface="Calibri" pitchFamily="34" charset="0"/>
                <a:ea typeface="Calibri" pitchFamily="34" charset="-122"/>
                <a:cs typeface="Calibri" pitchFamily="34" charset="-120"/>
              </a:rPr>
              <a:t>Papila interdental anterior; el tejido se engrosa, se lobula y puede cubrir la corona.</a:t>
            </a:r>
            <a:endParaRPr lang="en-US" sz="1200" dirty="0"/>
          </a:p>
        </p:txBody>
      </p:sp>
      <p:sp>
        <p:nvSpPr>
          <p:cNvPr id="11" name="Shape 9"/>
          <p:cNvSpPr/>
          <p:nvPr/>
        </p:nvSpPr>
        <p:spPr>
          <a:xfrm>
            <a:off x="822960" y="5367528"/>
            <a:ext cx="4846320" cy="0"/>
          </a:xfrm>
          <a:prstGeom prst="line">
            <a:avLst/>
          </a:prstGeom>
          <a:noFill/>
          <a:ln w="9525">
            <a:solidFill>
              <a:srgbClr val="D9D9D4"/>
            </a:solidFill>
            <a:prstDash val="solid"/>
          </a:ln>
        </p:spPr>
      </p:sp>
      <p:sp>
        <p:nvSpPr>
          <p:cNvPr id="12" name="Text 10"/>
          <p:cNvSpPr txBox="1"/>
          <p:nvPr/>
        </p:nvSpPr>
        <p:spPr>
          <a:xfrm>
            <a:off x="822960" y="5495544"/>
            <a:ext cx="1097280" cy="67665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Condición</a:t>
            </a:r>
            <a:endParaRPr lang="en-US" sz="1200" dirty="0"/>
          </a:p>
        </p:txBody>
      </p:sp>
      <p:sp>
        <p:nvSpPr>
          <p:cNvPr id="13" name="Text 11"/>
          <p:cNvSpPr txBox="1"/>
          <p:nvPr/>
        </p:nvSpPr>
        <p:spPr>
          <a:xfrm>
            <a:off x="2011680" y="5495544"/>
            <a:ext cx="3657600" cy="676656"/>
          </a:xfrm>
          <a:prstGeom prst="rect">
            <a:avLst/>
          </a:prstGeom>
          <a:noFill/>
          <a:ln/>
        </p:spPr>
        <p:txBody>
          <a:bodyPr wrap="square" lIns="0" tIns="0" rIns="0" bIns="0" rtlCol="0" anchor="t"/>
          <a:lstStyle/>
          <a:p>
            <a:pPr indent="0" marL="0">
              <a:lnSpc>
                <a:spcPct val="115000"/>
              </a:lnSpc>
              <a:buNone/>
            </a:pPr>
            <a:r>
              <a:rPr lang="en-US" sz="1200" dirty="0">
                <a:solidFill>
                  <a:srgbClr val="3B4045"/>
                </a:solidFill>
                <a:latin typeface="Calibri" pitchFamily="34" charset="0"/>
                <a:ea typeface="Calibri" pitchFamily="34" charset="-122"/>
                <a:cs typeface="Calibri" pitchFamily="34" charset="-120"/>
              </a:rPr>
              <a:t>Requiere dientes. Se acentúa donde se retiene placa: restauraciones, brackets, restos radiculares.</a:t>
            </a:r>
            <a:endParaRPr lang="en-US" sz="1200" dirty="0"/>
          </a:p>
        </p:txBody>
      </p:sp>
      <p:sp>
        <p:nvSpPr>
          <p:cNvPr id="14" name="Shape 12"/>
          <p:cNvSpPr/>
          <p:nvPr/>
        </p:nvSpPr>
        <p:spPr>
          <a:xfrm>
            <a:off x="822960" y="6281928"/>
            <a:ext cx="4846320" cy="0"/>
          </a:xfrm>
          <a:prstGeom prst="line">
            <a:avLst/>
          </a:prstGeom>
          <a:noFill/>
          <a:ln w="9525">
            <a:solidFill>
              <a:srgbClr val="D9D9D4"/>
            </a:solidFill>
            <a:prstDash val="solid"/>
          </a:ln>
        </p:spPr>
      </p:sp>
      <p:sp>
        <p:nvSpPr>
          <p:cNvPr id="15" name="Text 13"/>
          <p:cNvSpPr txBox="1"/>
          <p:nvPr/>
        </p:nvSpPr>
        <p:spPr>
          <a:xfrm>
            <a:off x="822960" y="6409944"/>
            <a:ext cx="1097280" cy="67665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Histología</a:t>
            </a:r>
            <a:endParaRPr lang="en-US" sz="1200" dirty="0"/>
          </a:p>
        </p:txBody>
      </p:sp>
      <p:sp>
        <p:nvSpPr>
          <p:cNvPr id="16" name="Text 14"/>
          <p:cNvSpPr txBox="1"/>
          <p:nvPr/>
        </p:nvSpPr>
        <p:spPr>
          <a:xfrm>
            <a:off x="2011680" y="6409944"/>
            <a:ext cx="3657600" cy="676656"/>
          </a:xfrm>
          <a:prstGeom prst="rect">
            <a:avLst/>
          </a:prstGeom>
          <a:noFill/>
          <a:ln/>
        </p:spPr>
        <p:txBody>
          <a:bodyPr wrap="square" lIns="0" tIns="0" rIns="0" bIns="0" rtlCol="0" anchor="t"/>
          <a:lstStyle/>
          <a:p>
            <a:pPr indent="0" marL="0">
              <a:lnSpc>
                <a:spcPct val="115000"/>
              </a:lnSpc>
              <a:buNone/>
            </a:pPr>
            <a:r>
              <a:rPr lang="en-US" sz="1200" dirty="0">
                <a:solidFill>
                  <a:srgbClr val="3B4045"/>
                </a:solidFill>
                <a:latin typeface="Calibri" pitchFamily="34" charset="0"/>
                <a:ea typeface="Calibri" pitchFamily="34" charset="-122"/>
                <a:cs typeface="Calibri" pitchFamily="34" charset="-120"/>
              </a:rPr>
              <a:t>Fibrosis, más matriz extracelular e infiltrado inflamatorio: responde el tejido conectivo, no el epitelio.</a:t>
            </a:r>
            <a:endParaRPr lang="en-US" sz="1200" dirty="0"/>
          </a:p>
        </p:txBody>
      </p:sp>
      <p:pic>
        <p:nvPicPr>
          <p:cNvPr id="17" name="Image 0" descr="/tmp/claude-0/-home-user-sondeo-caiena/ef64ae7b-88f9-53ed-bf0b-68d0a9f6b61e/scratchpad/img/cureus_fig1_clinica.png">    </p:cNvPr>
          <p:cNvPicPr>
            <a:picLocks noChangeAspect="1"/>
          </p:cNvPicPr>
          <p:nvPr/>
        </p:nvPicPr>
        <p:blipFill>
          <a:blip r:embed="rId1"/>
          <a:srcRect l="0" r="0" t="0" b="0"/>
          <a:stretch/>
        </p:blipFill>
        <p:spPr>
          <a:xfrm>
            <a:off x="6035040" y="2514600"/>
            <a:ext cx="5330952" cy="3017520"/>
          </a:xfrm>
          <a:prstGeom prst="rect">
            <a:avLst/>
          </a:prstGeom>
        </p:spPr>
      </p:pic>
      <p:sp>
        <p:nvSpPr>
          <p:cNvPr id="18" name="Text 15"/>
          <p:cNvSpPr txBox="1"/>
          <p:nvPr/>
        </p:nvSpPr>
        <p:spPr>
          <a:xfrm>
            <a:off x="6035040" y="5605272"/>
            <a:ext cx="5330952"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Amlodipina 10 mg durante tres años. Sabarudin et al. 2022, figura 1</a:t>
            </a:r>
            <a:endParaRPr lang="en-US" sz="1050" dirty="0"/>
          </a:p>
        </p:txBody>
      </p:sp>
      <p:sp>
        <p:nvSpPr>
          <p:cNvPr id="19" name="Text 16"/>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03 / 28</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Contexto</a:t>
            </a:r>
            <a:endParaRPr lang="en-US" sz="1200" dirty="0"/>
          </a:p>
        </p:txBody>
      </p:sp>
      <p:sp>
        <p:nvSpPr>
          <p:cNvPr id="4" name="Text 2"/>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Tres familias, un efecto adverso compartido</a:t>
            </a:r>
            <a:endParaRPr lang="en-US" sz="3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514600"/>
          <a:ext cx="10545775" cy="914400"/>
        </p:xfrm>
        <a:graphic>
          <a:graphicData uri="http://schemas.openxmlformats.org/drawingml/2006/table">
            <a:tbl>
              <a:tblPr/>
              <a:tblGrid>
                <a:gridCol w="2320071"/>
                <a:gridCol w="2741902"/>
                <a:gridCol w="2741902"/>
                <a:gridCol w="2741902"/>
              </a:tblGrid>
              <a:tr h="0">
                <a:tc>
                  <a:txBody>
                    <a:bodyPr/>
                    <a:lstStyle/>
                    <a:p>
                      <a:pPr indent="0" marL="0">
                        <a:buNone/>
                      </a:pPr>
                      <a:endParaRPr lang="en-US" sz="1700" dirty="0">
                        <a:latin typeface="Cambria" charset="0"/>
                        <a:ea typeface="Cambria" charset="0"/>
                        <a:cs typeface="Cambria"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700" dirty="0">
                          <a:solidFill>
                            <a:srgbClr val="1A1D1F"/>
                          </a:solidFill>
                          <a:latin typeface="Cambria" pitchFamily="34" charset="0"/>
                          <a:ea typeface="Cambria" pitchFamily="34" charset="-122"/>
                          <a:cs typeface="Cambria" pitchFamily="34" charset="-120"/>
                        </a:rPr>
                        <a:t>Anticonvulsivantes</a:t>
                      </a:r>
                      <a:endParaRPr lang="en-US" sz="1700" dirty="0">
                        <a:latin typeface="Cambria" charset="0"/>
                        <a:ea typeface="Cambria" charset="0"/>
                        <a:cs typeface="Cambria"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700" dirty="0">
                          <a:solidFill>
                            <a:srgbClr val="1A1D1F"/>
                          </a:solidFill>
                          <a:latin typeface="Cambria" pitchFamily="34" charset="0"/>
                          <a:ea typeface="Cambria" pitchFamily="34" charset="-122"/>
                          <a:cs typeface="Cambria" pitchFamily="34" charset="-120"/>
                        </a:rPr>
                        <a:t>Bloqueantes de calcio</a:t>
                      </a:r>
                      <a:endParaRPr lang="en-US" sz="1700" dirty="0">
                        <a:latin typeface="Cambria" charset="0"/>
                        <a:ea typeface="Cambria" charset="0"/>
                        <a:cs typeface="Cambria"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700" dirty="0">
                          <a:solidFill>
                            <a:srgbClr val="1A1D1F"/>
                          </a:solidFill>
                          <a:latin typeface="Cambria" pitchFamily="34" charset="0"/>
                          <a:ea typeface="Cambria" pitchFamily="34" charset="-122"/>
                          <a:cs typeface="Cambria" pitchFamily="34" charset="-120"/>
                        </a:rPr>
                        <a:t>Inmunosupresores</a:t>
                      </a:r>
                      <a:endParaRPr lang="en-US" sz="1700" dirty="0">
                        <a:latin typeface="Cambria" charset="0"/>
                        <a:ea typeface="Cambria" charset="0"/>
                        <a:cs typeface="Cambria"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50" dirty="0">
                          <a:solidFill>
                            <a:srgbClr val="666B70"/>
                          </a:solidFill>
                          <a:latin typeface="Calibri" pitchFamily="34" charset="0"/>
                          <a:ea typeface="Calibri" pitchFamily="34" charset="-122"/>
                          <a:cs typeface="Calibri" pitchFamily="34" charset="-120"/>
                        </a:rPr>
                        <a:t>Ejemplos</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Fenitoína. Reportes también con valproato, carbamazepina y levetiracetam.</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Amlodipina, nifedipina, diltiazem, felodipina, verapamilo.</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Ciclosporina A. Tacrolimus con riesgo mucho menor.</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50" dirty="0">
                          <a:solidFill>
                            <a:srgbClr val="666B70"/>
                          </a:solidFill>
                          <a:latin typeface="Calibri" pitchFamily="34" charset="0"/>
                          <a:ea typeface="Calibri" pitchFamily="34" charset="-122"/>
                          <a:cs typeface="Calibri" pitchFamily="34" charset="-120"/>
                        </a:rPr>
                        <a:t>Prevalencia reportada</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5 % a 50 % de los usuarios</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5 % a 20 % de los usuarios</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25 % a 30 % de los usuarios</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50" dirty="0">
                          <a:solidFill>
                            <a:srgbClr val="666B70"/>
                          </a:solidFill>
                          <a:latin typeface="Calibri" pitchFamily="34" charset="0"/>
                          <a:ea typeface="Calibri" pitchFamily="34" charset="-122"/>
                          <a:cs typeface="Calibri" pitchFamily="34" charset="-120"/>
                        </a:rPr>
                        <a:t>Patrón del tejido</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Fibrótico</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Fibrótico</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Inflamatorio, con poca fibrosis</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50" dirty="0">
                          <a:solidFill>
                            <a:srgbClr val="666B70"/>
                          </a:solidFill>
                          <a:latin typeface="Calibri" pitchFamily="34" charset="0"/>
                          <a:ea typeface="Calibri" pitchFamily="34" charset="-122"/>
                          <a:cs typeface="Calibri" pitchFamily="34" charset="-120"/>
                        </a:rPr>
                        <a:t>Tiempo mediano hasta el inicio</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37 días</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262 días</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50" dirty="0">
                          <a:solidFill>
                            <a:srgbClr val="3B4045"/>
                          </a:solidFill>
                          <a:latin typeface="Calibri" pitchFamily="34" charset="0"/>
                          <a:ea typeface="Calibri" pitchFamily="34" charset="-122"/>
                          <a:cs typeface="Calibri" pitchFamily="34" charset="-120"/>
                        </a:rPr>
                        <a:t>71 días</a:t>
                      </a:r>
                      <a:endParaRPr lang="en-US" sz="1250" dirty="0">
                        <a:latin typeface="Calibri" charset="0"/>
                        <a:ea typeface="Calibri" charset="0"/>
                        <a:cs typeface="Calibri" charset="0"/>
                      </a:endParaRPr>
                    </a:p>
                  </a:txBody>
                  <a:tcPr marL="0" marR="137160" marT="91440" marB="91440"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bl>
          </a:graphicData>
        </a:graphic>
      </p:graphicFrame>
      <p:sp>
        <p:nvSpPr>
          <p:cNvPr id="6" name="Text 3"/>
          <p:cNvSpPr txBox="1"/>
          <p:nvPr/>
        </p:nvSpPr>
        <p:spPr>
          <a:xfrm>
            <a:off x="822960" y="5120640"/>
            <a:ext cx="9601200" cy="914400"/>
          </a:xfrm>
          <a:prstGeom prst="rect">
            <a:avLst/>
          </a:prstGeom>
          <a:noFill/>
          <a:ln/>
        </p:spPr>
        <p:txBody>
          <a:bodyPr wrap="square" lIns="0" tIns="0" rIns="0" bIns="0" rtlCol="0" anchor="t"/>
          <a:lstStyle/>
          <a:p>
            <a:pPr indent="0" marL="0">
              <a:lnSpc>
                <a:spcPct val="115000"/>
              </a:lnSpc>
              <a:buNone/>
            </a:pPr>
            <a:r>
              <a:rPr lang="en-US" sz="1700" i="1" dirty="0">
                <a:solidFill>
                  <a:srgbClr val="1A1D1F"/>
                </a:solidFill>
                <a:latin typeface="Cambria" pitchFamily="34" charset="0"/>
                <a:ea typeface="Cambria" pitchFamily="34" charset="-122"/>
                <a:cs typeface="Cambria" pitchFamily="34" charset="-120"/>
              </a:rPr>
              <a:t>Tres mecanismos farmacológicos distintos, un punto en común: los tres inhiben la entrada de Ca²⁺ y Na⁺ a la célula gingival.</a:t>
            </a:r>
            <a:endParaRPr lang="en-US" sz="1700" dirty="0"/>
          </a:p>
        </p:txBody>
      </p:sp>
      <p:sp>
        <p:nvSpPr>
          <p:cNvPr id="7" name="Text 4"/>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04 / 28</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1F"/>
        </a:solidFill>
      </p:bgPr>
    </p:bg>
    <p:spTree>
      <p:nvGrpSpPr>
        <p:cNvPr id="1" name=""/>
        <p:cNvGrpSpPr/>
        <p:nvPr/>
      </p:nvGrpSpPr>
      <p:grpSpPr>
        <a:xfrm>
          <a:off x="0" y="0"/>
          <a:ext cx="0" cy="0"/>
          <a:chOff x="0" y="0"/>
          <a:chExt cx="0" cy="0"/>
        </a:xfrm>
      </p:grpSpPr>
      <p:sp>
        <p:nvSpPr>
          <p:cNvPr id="2" name="Text 0"/>
          <p:cNvSpPr txBox="1"/>
          <p:nvPr/>
        </p:nvSpPr>
        <p:spPr>
          <a:xfrm>
            <a:off x="822960" y="822960"/>
            <a:ext cx="4572000" cy="274320"/>
          </a:xfrm>
          <a:prstGeom prst="rect">
            <a:avLst/>
          </a:prstGeom>
          <a:noFill/>
          <a:ln/>
        </p:spPr>
        <p:txBody>
          <a:bodyPr wrap="square" lIns="0" tIns="0" rIns="0" bIns="0" rtlCol="0" anchor="t"/>
          <a:lstStyle/>
          <a:p>
            <a:pPr indent="0" marL="0">
              <a:buNone/>
            </a:pPr>
            <a:r>
              <a:rPr lang="en-US" sz="1200" dirty="0">
                <a:solidFill>
                  <a:srgbClr val="9DBBF3"/>
                </a:solidFill>
                <a:latin typeface="Courier New" pitchFamily="34" charset="0"/>
                <a:ea typeface="Courier New" pitchFamily="34" charset="-122"/>
                <a:cs typeface="Courier New" pitchFamily="34" charset="-120"/>
              </a:rPr>
              <a:t>Artículo 1 de 3</a:t>
            </a:r>
            <a:endParaRPr lang="en-US" sz="1200" dirty="0"/>
          </a:p>
        </p:txBody>
      </p:sp>
      <p:sp>
        <p:nvSpPr>
          <p:cNvPr id="3" name="Text 1"/>
          <p:cNvSpPr txBox="1"/>
          <p:nvPr/>
        </p:nvSpPr>
        <p:spPr>
          <a:xfrm>
            <a:off x="5882335" y="822960"/>
            <a:ext cx="5486400" cy="274320"/>
          </a:xfrm>
          <a:prstGeom prst="rect">
            <a:avLst/>
          </a:prstGeom>
          <a:noFill/>
          <a:ln/>
        </p:spPr>
        <p:txBody>
          <a:bodyPr wrap="square" lIns="0" tIns="0" rIns="0" bIns="0" rtlCol="0" anchor="t"/>
          <a:lstStyle/>
          <a:p>
            <a:pPr algn="r" indent="0" marL="0">
              <a:buNone/>
            </a:pPr>
            <a:r>
              <a:rPr lang="en-US" sz="1200" dirty="0">
                <a:solidFill>
                  <a:srgbClr val="B3B8BD"/>
                </a:solidFill>
                <a:latin typeface="Courier New" pitchFamily="34" charset="0"/>
                <a:ea typeface="Courier New" pitchFamily="34" charset="-122"/>
                <a:cs typeface="Courier New" pitchFamily="34" charset="-120"/>
              </a:rPr>
              <a:t>Revisión narrativa</a:t>
            </a:r>
            <a:endParaRPr lang="en-US" sz="1200" dirty="0"/>
          </a:p>
        </p:txBody>
      </p:sp>
      <p:sp>
        <p:nvSpPr>
          <p:cNvPr id="4" name="Text 2"/>
          <p:cNvSpPr txBox="1"/>
          <p:nvPr/>
        </p:nvSpPr>
        <p:spPr>
          <a:xfrm>
            <a:off x="822960" y="1920240"/>
            <a:ext cx="10241280" cy="1554480"/>
          </a:xfrm>
          <a:prstGeom prst="rect">
            <a:avLst/>
          </a:prstGeom>
          <a:noFill/>
          <a:ln/>
        </p:spPr>
        <p:txBody>
          <a:bodyPr wrap="square" lIns="0" tIns="0" rIns="0" bIns="0" rtlCol="0" anchor="t"/>
          <a:lstStyle/>
          <a:p>
            <a:pPr indent="0" marL="0">
              <a:lnSpc>
                <a:spcPct val="105000"/>
              </a:lnSpc>
              <a:buNone/>
            </a:pPr>
            <a:r>
              <a:rPr lang="en-US" sz="3200" i="1" dirty="0">
                <a:solidFill>
                  <a:srgbClr val="F4F4F1"/>
                </a:solidFill>
                <a:latin typeface="Cambria" pitchFamily="34" charset="0"/>
                <a:ea typeface="Cambria" pitchFamily="34" charset="-122"/>
                <a:cs typeface="Cambria" pitchFamily="34" charset="-120"/>
              </a:rPr>
              <a:t>Refining the Mechanism of Drug-Influenced Gingival Enlargement and Its Management</a:t>
            </a:r>
            <a:endParaRPr lang="en-US" sz="3200" dirty="0"/>
          </a:p>
        </p:txBody>
      </p:sp>
      <p:sp>
        <p:nvSpPr>
          <p:cNvPr id="5" name="Text 3"/>
          <p:cNvSpPr txBox="1"/>
          <p:nvPr/>
        </p:nvSpPr>
        <p:spPr>
          <a:xfrm>
            <a:off x="822960" y="3611880"/>
            <a:ext cx="9601200" cy="457200"/>
          </a:xfrm>
          <a:prstGeom prst="rect">
            <a:avLst/>
          </a:prstGeom>
          <a:noFill/>
          <a:ln/>
        </p:spPr>
        <p:txBody>
          <a:bodyPr wrap="square" lIns="0" tIns="0" rIns="0" bIns="0" rtlCol="0" anchor="t"/>
          <a:lstStyle/>
          <a:p>
            <a:pPr indent="0" marL="0">
              <a:lnSpc>
                <a:spcPct val="120000"/>
              </a:lnSpc>
              <a:buNone/>
            </a:pPr>
            <a:r>
              <a:rPr lang="en-US" sz="1400" dirty="0">
                <a:solidFill>
                  <a:srgbClr val="F4F4F1"/>
                </a:solidFill>
                <a:latin typeface="Calibri" pitchFamily="34" charset="0"/>
                <a:ea typeface="Calibri" pitchFamily="34" charset="-122"/>
                <a:cs typeface="Calibri" pitchFamily="34" charset="-120"/>
              </a:rPr>
              <a:t>Muhammad Annurdin Sabarudin, Haslina Taib, Wan Majdiah Wan Mohamad</a:t>
            </a:r>
            <a:endParaRPr lang="en-US" sz="1400" dirty="0"/>
          </a:p>
        </p:txBody>
      </p:sp>
      <p:sp>
        <p:nvSpPr>
          <p:cNvPr id="6" name="Text 4"/>
          <p:cNvSpPr txBox="1"/>
          <p:nvPr/>
        </p:nvSpPr>
        <p:spPr>
          <a:xfrm>
            <a:off x="822960" y="4114800"/>
            <a:ext cx="9601200" cy="274320"/>
          </a:xfrm>
          <a:prstGeom prst="rect">
            <a:avLst/>
          </a:prstGeom>
          <a:noFill/>
          <a:ln/>
        </p:spPr>
        <p:txBody>
          <a:bodyPr wrap="square" lIns="0" tIns="0" rIns="0" bIns="0" rtlCol="0" anchor="t"/>
          <a:lstStyle/>
          <a:p>
            <a:pPr indent="0" marL="0">
              <a:buNone/>
            </a:pPr>
            <a:r>
              <a:rPr lang="en-US" sz="1300" dirty="0">
                <a:solidFill>
                  <a:srgbClr val="B3B8BD"/>
                </a:solidFill>
                <a:latin typeface="Calibri" pitchFamily="34" charset="0"/>
                <a:ea typeface="Calibri" pitchFamily="34" charset="-122"/>
                <a:cs typeface="Calibri" pitchFamily="34" charset="-120"/>
              </a:rPr>
              <a:t>Cureus, 2022; 14(5): e25009. Publicado el 15 de mayo de 2022.</a:t>
            </a:r>
            <a:endParaRPr lang="en-US" sz="1300" dirty="0"/>
          </a:p>
        </p:txBody>
      </p:sp>
      <p:sp>
        <p:nvSpPr>
          <p:cNvPr id="7" name="Shape 5"/>
          <p:cNvSpPr/>
          <p:nvPr/>
        </p:nvSpPr>
        <p:spPr>
          <a:xfrm>
            <a:off x="822960" y="5257800"/>
            <a:ext cx="10545775" cy="0"/>
          </a:xfrm>
          <a:prstGeom prst="line">
            <a:avLst/>
          </a:prstGeom>
          <a:noFill/>
          <a:ln w="9525">
            <a:solidFill>
              <a:srgbClr val="3A3F44"/>
            </a:solidFill>
            <a:prstDash val="solid"/>
          </a:ln>
        </p:spPr>
      </p:sp>
      <p:sp>
        <p:nvSpPr>
          <p:cNvPr id="8" name="Text 6"/>
          <p:cNvSpPr txBox="1"/>
          <p:nvPr/>
        </p:nvSpPr>
        <p:spPr>
          <a:xfrm>
            <a:off x="822960" y="5376672"/>
            <a:ext cx="3657600" cy="228600"/>
          </a:xfrm>
          <a:prstGeom prst="rect">
            <a:avLst/>
          </a:prstGeom>
          <a:noFill/>
          <a:ln/>
        </p:spPr>
        <p:txBody>
          <a:bodyPr wrap="square" lIns="0" tIns="0" rIns="0" bIns="0" rtlCol="0" anchor="t"/>
          <a:lstStyle/>
          <a:p>
            <a:pPr indent="0" marL="0">
              <a:buNone/>
            </a:pPr>
            <a:r>
              <a:rPr lang="en-US" sz="1100" dirty="0">
                <a:solidFill>
                  <a:srgbClr val="B3B8BD"/>
                </a:solidFill>
                <a:latin typeface="Courier New" pitchFamily="34" charset="0"/>
                <a:ea typeface="Courier New" pitchFamily="34" charset="-122"/>
                <a:cs typeface="Courier New" pitchFamily="34" charset="-120"/>
              </a:rPr>
              <a:t>Referencia</a:t>
            </a:r>
            <a:endParaRPr lang="en-US" sz="1100" dirty="0"/>
          </a:p>
        </p:txBody>
      </p:sp>
      <p:sp>
        <p:nvSpPr>
          <p:cNvPr id="9" name="Text 7"/>
          <p:cNvSpPr txBox="1"/>
          <p:nvPr/>
        </p:nvSpPr>
        <p:spPr>
          <a:xfrm>
            <a:off x="822960" y="5623560"/>
            <a:ext cx="10545775" cy="548640"/>
          </a:xfrm>
          <a:prstGeom prst="rect">
            <a:avLst/>
          </a:prstGeom>
          <a:noFill/>
          <a:ln/>
        </p:spPr>
        <p:txBody>
          <a:bodyPr wrap="square" lIns="0" tIns="0" rIns="0" bIns="0" rtlCol="0" anchor="t"/>
          <a:lstStyle/>
          <a:p>
            <a:pPr indent="0" marL="0">
              <a:lnSpc>
                <a:spcPct val="120000"/>
              </a:lnSpc>
              <a:buNone/>
            </a:pPr>
            <a:r>
              <a:rPr lang="en-US" sz="1200" dirty="0">
                <a:solidFill>
                  <a:srgbClr val="F4F4F1"/>
                </a:solidFill>
                <a:latin typeface="Calibri" pitchFamily="34" charset="0"/>
                <a:ea typeface="Calibri" pitchFamily="34" charset="-122"/>
                <a:cs typeface="Calibri" pitchFamily="34" charset="-120"/>
              </a:rPr>
              <a:t>Sabarudin MA, Taib H, Wan Mohamad WM. Refining the Mechanism of Drug-Influenced Gingival Enlargement and Its Management. Cureus. 2022;14(5):e25009. doi:10.7759/cureus.25009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Resumen</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Sabarudin et al. 2022, Cureus</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Una revisión narrativa que ordena el mecanismo en dos vías</a:t>
            </a:r>
            <a:endParaRPr lang="en-US" sz="3600" dirty="0"/>
          </a:p>
        </p:txBody>
      </p:sp>
      <p:sp>
        <p:nvSpPr>
          <p:cNvPr id="6" name="Text 4"/>
          <p:cNvSpPr txBox="1"/>
          <p:nvPr/>
        </p:nvSpPr>
        <p:spPr>
          <a:xfrm>
            <a:off x="822960" y="2514600"/>
            <a:ext cx="4114800" cy="1463040"/>
          </a:xfrm>
          <a:prstGeom prst="rect">
            <a:avLst/>
          </a:prstGeom>
          <a:noFill/>
          <a:ln/>
        </p:spPr>
        <p:txBody>
          <a:bodyPr wrap="square" lIns="0" tIns="0" rIns="0" bIns="0" rtlCol="0" anchor="t"/>
          <a:lstStyle/>
          <a:p>
            <a:pPr indent="0" marL="0">
              <a:lnSpc>
                <a:spcPct val="110000"/>
              </a:lnSpc>
              <a:buNone/>
            </a:pPr>
            <a:r>
              <a:rPr lang="en-US" sz="1900" i="1" dirty="0">
                <a:solidFill>
                  <a:srgbClr val="1A1D1F"/>
                </a:solidFill>
                <a:latin typeface="Cambria" pitchFamily="34" charset="0"/>
                <a:ea typeface="Cambria" pitchFamily="34" charset="-122"/>
                <a:cs typeface="Cambria" pitchFamily="34" charset="-120"/>
              </a:rPr>
              <a:t>Refining the Mechanism of Drug-Influenced Gingival Enlargement and Its Management</a:t>
            </a:r>
            <a:endParaRPr lang="en-US" sz="1900" dirty="0"/>
          </a:p>
        </p:txBody>
      </p:sp>
      <p:sp>
        <p:nvSpPr>
          <p:cNvPr id="7" name="Text 5"/>
          <p:cNvSpPr txBox="1"/>
          <p:nvPr/>
        </p:nvSpPr>
        <p:spPr>
          <a:xfrm>
            <a:off x="822960" y="4069080"/>
            <a:ext cx="4114800" cy="914400"/>
          </a:xfrm>
          <a:prstGeom prst="rect">
            <a:avLst/>
          </a:prstGeom>
          <a:noFill/>
          <a:ln/>
        </p:spPr>
        <p:txBody>
          <a:bodyPr wrap="square" lIns="0" tIns="0" rIns="0" bIns="0" rtlCol="0" anchor="t"/>
          <a:lstStyle/>
          <a:p>
            <a:pPr indent="0" marL="0">
              <a:lnSpc>
                <a:spcPct val="120000"/>
              </a:lnSpc>
              <a:buNone/>
            </a:pPr>
            <a:r>
              <a:rPr lang="en-US" sz="1200" dirty="0">
                <a:solidFill>
                  <a:srgbClr val="3B4045"/>
                </a:solidFill>
                <a:latin typeface="Calibri" pitchFamily="34" charset="0"/>
                <a:ea typeface="Calibri" pitchFamily="34" charset="-122"/>
                <a:cs typeface="Calibri" pitchFamily="34" charset="-120"/>
              </a:rPr>
              <a:t>Muhammad Annurdin Sabarudin, Haslina Taib, Wan Majdiah Wan Mohamad. Universiti Sains Islam Malaysia y Universiti Sains Malaysia.</a:t>
            </a:r>
            <a:endParaRPr lang="en-US" sz="1200" dirty="0"/>
          </a:p>
        </p:txBody>
      </p:sp>
      <p:sp>
        <p:nvSpPr>
          <p:cNvPr id="8" name="Text 6"/>
          <p:cNvSpPr txBox="1"/>
          <p:nvPr/>
        </p:nvSpPr>
        <p:spPr>
          <a:xfrm>
            <a:off x="822960" y="5029200"/>
            <a:ext cx="4114800"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Cureus, 14(5): e25009, mayo de 2022</a:t>
            </a:r>
            <a:endParaRPr lang="en-US" sz="1050" dirty="0"/>
          </a:p>
        </p:txBody>
      </p:sp>
      <p:sp>
        <p:nvSpPr>
          <p:cNvPr id="9" name="Text 7"/>
          <p:cNvSpPr txBox="1"/>
          <p:nvPr/>
        </p:nvSpPr>
        <p:spPr>
          <a:xfrm>
            <a:off x="822960" y="5257800"/>
            <a:ext cx="4114800"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doi 10.7759/cureus.25009</a:t>
            </a:r>
            <a:endParaRPr lang="en-US" sz="1050" dirty="0"/>
          </a:p>
        </p:txBody>
      </p:sp>
      <p:sp>
        <p:nvSpPr>
          <p:cNvPr id="10" name="Text 8"/>
          <p:cNvSpPr txBox="1"/>
          <p:nvPr/>
        </p:nvSpPr>
        <p:spPr>
          <a:xfrm>
            <a:off x="5486400" y="2514600"/>
            <a:ext cx="1280160" cy="91135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Problema</a:t>
            </a:r>
            <a:endParaRPr lang="en-US" sz="1200" dirty="0"/>
          </a:p>
        </p:txBody>
      </p:sp>
      <p:sp>
        <p:nvSpPr>
          <p:cNvPr id="11" name="Text 9"/>
          <p:cNvSpPr txBox="1"/>
          <p:nvPr/>
        </p:nvSpPr>
        <p:spPr>
          <a:xfrm>
            <a:off x="6858000" y="2514600"/>
            <a:ext cx="4510735" cy="91135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El agrandamiento gingival inducido por fármacos es un efecto adverso de anticonvulsivantes, inmunosupresores y bloqueantes de calcio. Interfiere con la higiene, la estética y la masticación.</a:t>
            </a:r>
            <a:endParaRPr lang="en-US" sz="1250" dirty="0"/>
          </a:p>
        </p:txBody>
      </p:sp>
      <p:sp>
        <p:nvSpPr>
          <p:cNvPr id="12" name="Shape 10"/>
          <p:cNvSpPr/>
          <p:nvPr/>
        </p:nvSpPr>
        <p:spPr>
          <a:xfrm>
            <a:off x="5486400" y="3535680"/>
            <a:ext cx="5882335" cy="0"/>
          </a:xfrm>
          <a:prstGeom prst="line">
            <a:avLst/>
          </a:prstGeom>
          <a:noFill/>
          <a:ln w="9525">
            <a:solidFill>
              <a:srgbClr val="D9D9D4"/>
            </a:solidFill>
            <a:prstDash val="solid"/>
          </a:ln>
        </p:spPr>
      </p:sp>
      <p:sp>
        <p:nvSpPr>
          <p:cNvPr id="13" name="Text 11"/>
          <p:cNvSpPr txBox="1"/>
          <p:nvPr/>
        </p:nvSpPr>
        <p:spPr>
          <a:xfrm>
            <a:off x="5486400" y="3663696"/>
            <a:ext cx="1280160" cy="70180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Objetivo</a:t>
            </a:r>
            <a:endParaRPr lang="en-US" sz="1200" dirty="0"/>
          </a:p>
        </p:txBody>
      </p:sp>
      <p:sp>
        <p:nvSpPr>
          <p:cNvPr id="14" name="Text 12"/>
          <p:cNvSpPr txBox="1"/>
          <p:nvPr/>
        </p:nvSpPr>
        <p:spPr>
          <a:xfrm>
            <a:off x="6858000" y="3663696"/>
            <a:ext cx="4510735" cy="70180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Iluminar las vías putativas del mecanismo, no inflamatorias e inflamatorias, y destacar los abordajes de tratamiento según la investigación existente.</a:t>
            </a:r>
            <a:endParaRPr lang="en-US" sz="1250" dirty="0"/>
          </a:p>
        </p:txBody>
      </p:sp>
      <p:sp>
        <p:nvSpPr>
          <p:cNvPr id="15" name="Shape 13"/>
          <p:cNvSpPr/>
          <p:nvPr/>
        </p:nvSpPr>
        <p:spPr>
          <a:xfrm>
            <a:off x="5486400" y="4475226"/>
            <a:ext cx="5882335" cy="0"/>
          </a:xfrm>
          <a:prstGeom prst="line">
            <a:avLst/>
          </a:prstGeom>
          <a:noFill/>
          <a:ln w="9525">
            <a:solidFill>
              <a:srgbClr val="D9D9D4"/>
            </a:solidFill>
            <a:prstDash val="solid"/>
          </a:ln>
        </p:spPr>
      </p:sp>
      <p:sp>
        <p:nvSpPr>
          <p:cNvPr id="16" name="Text 14"/>
          <p:cNvSpPr txBox="1"/>
          <p:nvPr/>
        </p:nvSpPr>
        <p:spPr>
          <a:xfrm>
            <a:off x="5486400" y="4603242"/>
            <a:ext cx="1280160" cy="49225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Tipo de estudio</a:t>
            </a:r>
            <a:endParaRPr lang="en-US" sz="1200" dirty="0"/>
          </a:p>
        </p:txBody>
      </p:sp>
      <p:sp>
        <p:nvSpPr>
          <p:cNvPr id="17" name="Text 15"/>
          <p:cNvSpPr txBox="1"/>
          <p:nvPr/>
        </p:nvSpPr>
        <p:spPr>
          <a:xfrm>
            <a:off x="6858000" y="4603242"/>
            <a:ext cx="4510735" cy="49225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Revisión narrativa de la literatura, 61 referencias. Categorías: odontología, terapéutica, medicina oral.</a:t>
            </a:r>
            <a:endParaRPr lang="en-US" sz="1250" dirty="0"/>
          </a:p>
        </p:txBody>
      </p:sp>
      <p:sp>
        <p:nvSpPr>
          <p:cNvPr id="18" name="Shape 16"/>
          <p:cNvSpPr/>
          <p:nvPr/>
        </p:nvSpPr>
        <p:spPr>
          <a:xfrm>
            <a:off x="5486400" y="5205222"/>
            <a:ext cx="5882335" cy="0"/>
          </a:xfrm>
          <a:prstGeom prst="line">
            <a:avLst/>
          </a:prstGeom>
          <a:noFill/>
          <a:ln w="9525">
            <a:solidFill>
              <a:srgbClr val="D9D9D4"/>
            </a:solidFill>
            <a:prstDash val="solid"/>
          </a:ln>
        </p:spPr>
      </p:sp>
      <p:sp>
        <p:nvSpPr>
          <p:cNvPr id="19" name="Text 17"/>
          <p:cNvSpPr txBox="1"/>
          <p:nvPr/>
        </p:nvSpPr>
        <p:spPr>
          <a:xfrm>
            <a:off x="5486400" y="5333238"/>
            <a:ext cx="1280160" cy="70180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Mensaje</a:t>
            </a:r>
            <a:endParaRPr lang="en-US" sz="1200" dirty="0"/>
          </a:p>
        </p:txBody>
      </p:sp>
      <p:sp>
        <p:nvSpPr>
          <p:cNvPr id="20" name="Text 18"/>
          <p:cNvSpPr txBox="1"/>
          <p:nvPr/>
        </p:nvSpPr>
        <p:spPr>
          <a:xfrm>
            <a:off x="6858000" y="5333238"/>
            <a:ext cx="4510735" cy="70180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El mecanismo exacto sigue siendo desconocido y complejo; participan vías no inflamatorias e inflamatorias que se potencian.</a:t>
            </a:r>
            <a:endParaRPr lang="en-US" sz="1250" dirty="0"/>
          </a:p>
        </p:txBody>
      </p:sp>
      <p:sp>
        <p:nvSpPr>
          <p:cNvPr id="21" name="Text 19"/>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06 / 28</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Materiales y métodos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Sabarudin et al. 2022, Cureus</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Revisión narrativa de 61 referencias, sin protocolo de búsqueda</a:t>
            </a:r>
            <a:endParaRPr lang="en-US" sz="3600" dirty="0"/>
          </a:p>
        </p:txBody>
      </p:sp>
      <p:sp>
        <p:nvSpPr>
          <p:cNvPr id="6" name="Text 4"/>
          <p:cNvSpPr txBox="1"/>
          <p:nvPr/>
        </p:nvSpPr>
        <p:spPr>
          <a:xfrm>
            <a:off x="822960" y="2514600"/>
            <a:ext cx="1645920" cy="50901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Diseño</a:t>
            </a:r>
            <a:endParaRPr lang="en-US" sz="1200" dirty="0"/>
          </a:p>
        </p:txBody>
      </p:sp>
      <p:sp>
        <p:nvSpPr>
          <p:cNvPr id="7" name="Text 5"/>
          <p:cNvSpPr txBox="1"/>
          <p:nvPr/>
        </p:nvSpPr>
        <p:spPr>
          <a:xfrm>
            <a:off x="2560320" y="2514600"/>
            <a:ext cx="8808415" cy="509016"/>
          </a:xfrm>
          <a:prstGeom prst="rect">
            <a:avLst/>
          </a:prstGeom>
          <a:noFill/>
          <a:ln/>
        </p:spPr>
        <p:txBody>
          <a:bodyPr wrap="square" lIns="0" tIns="0" rIns="0" bIns="0" rtlCol="0" anchor="t"/>
          <a:lstStyle/>
          <a:p>
            <a:pPr indent="0" marL="0">
              <a:lnSpc>
                <a:spcPct val="115000"/>
              </a:lnSpc>
              <a:buNone/>
            </a:pPr>
            <a:r>
              <a:rPr lang="en-US" sz="1300" dirty="0">
                <a:solidFill>
                  <a:srgbClr val="3B4045"/>
                </a:solidFill>
                <a:latin typeface="Calibri" pitchFamily="34" charset="0"/>
                <a:ea typeface="Calibri" pitchFamily="34" charset="-122"/>
                <a:cs typeface="Calibri" pitchFamily="34" charset="-120"/>
              </a:rPr>
              <a:t>Revisión narrativa. No reporta estrategia de búsqueda sistemática, criterios de inclusión ni evaluación de calidad de los estudios citados.</a:t>
            </a:r>
            <a:endParaRPr lang="en-US" sz="1300" dirty="0"/>
          </a:p>
        </p:txBody>
      </p:sp>
      <p:sp>
        <p:nvSpPr>
          <p:cNvPr id="8" name="Shape 6"/>
          <p:cNvSpPr/>
          <p:nvPr/>
        </p:nvSpPr>
        <p:spPr>
          <a:xfrm>
            <a:off x="822960" y="3133344"/>
            <a:ext cx="10545775" cy="0"/>
          </a:xfrm>
          <a:prstGeom prst="line">
            <a:avLst/>
          </a:prstGeom>
          <a:noFill/>
          <a:ln w="9525">
            <a:solidFill>
              <a:srgbClr val="D9D9D4"/>
            </a:solidFill>
            <a:prstDash val="solid"/>
          </a:ln>
        </p:spPr>
      </p:sp>
      <p:sp>
        <p:nvSpPr>
          <p:cNvPr id="9" name="Text 7"/>
          <p:cNvSpPr txBox="1"/>
          <p:nvPr/>
        </p:nvSpPr>
        <p:spPr>
          <a:xfrm>
            <a:off x="822960" y="3261360"/>
            <a:ext cx="1645920" cy="50901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Fuentes</a:t>
            </a:r>
            <a:endParaRPr lang="en-US" sz="1200" dirty="0"/>
          </a:p>
        </p:txBody>
      </p:sp>
      <p:sp>
        <p:nvSpPr>
          <p:cNvPr id="10" name="Text 8"/>
          <p:cNvSpPr txBox="1"/>
          <p:nvPr/>
        </p:nvSpPr>
        <p:spPr>
          <a:xfrm>
            <a:off x="2560320" y="3261360"/>
            <a:ext cx="8808415" cy="509016"/>
          </a:xfrm>
          <a:prstGeom prst="rect">
            <a:avLst/>
          </a:prstGeom>
          <a:noFill/>
          <a:ln/>
        </p:spPr>
        <p:txBody>
          <a:bodyPr wrap="square" lIns="0" tIns="0" rIns="0" bIns="0" rtlCol="0" anchor="t"/>
          <a:lstStyle/>
          <a:p>
            <a:pPr indent="0" marL="0">
              <a:lnSpc>
                <a:spcPct val="115000"/>
              </a:lnSpc>
              <a:buNone/>
            </a:pPr>
            <a:r>
              <a:rPr lang="en-US" sz="1300" dirty="0">
                <a:solidFill>
                  <a:srgbClr val="3B4045"/>
                </a:solidFill>
                <a:latin typeface="Calibri" pitchFamily="34" charset="0"/>
                <a:ea typeface="Calibri" pitchFamily="34" charset="-122"/>
                <a:cs typeface="Calibri" pitchFamily="34" charset="-120"/>
              </a:rPr>
              <a:t>61 referencias publicadas entre 1977 y 2021: estudios in vitro con fibroblastos gingivales, modelos animales, estudios histológicos y ultraestructurales, ensayos clínicos y revisiones previas.</a:t>
            </a:r>
            <a:endParaRPr lang="en-US" sz="1300" dirty="0"/>
          </a:p>
        </p:txBody>
      </p:sp>
      <p:sp>
        <p:nvSpPr>
          <p:cNvPr id="11" name="Shape 9"/>
          <p:cNvSpPr/>
          <p:nvPr/>
        </p:nvSpPr>
        <p:spPr>
          <a:xfrm>
            <a:off x="822960" y="3880104"/>
            <a:ext cx="10545775" cy="0"/>
          </a:xfrm>
          <a:prstGeom prst="line">
            <a:avLst/>
          </a:prstGeom>
          <a:noFill/>
          <a:ln w="9525">
            <a:solidFill>
              <a:srgbClr val="D9D9D4"/>
            </a:solidFill>
            <a:prstDash val="solid"/>
          </a:ln>
        </p:spPr>
      </p:sp>
      <p:sp>
        <p:nvSpPr>
          <p:cNvPr id="12" name="Text 10"/>
          <p:cNvSpPr txBox="1"/>
          <p:nvPr/>
        </p:nvSpPr>
        <p:spPr>
          <a:xfrm>
            <a:off x="822960" y="4008120"/>
            <a:ext cx="1645920" cy="50901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Marco</a:t>
            </a:r>
            <a:endParaRPr lang="en-US" sz="1200" dirty="0"/>
          </a:p>
        </p:txBody>
      </p:sp>
      <p:sp>
        <p:nvSpPr>
          <p:cNvPr id="13" name="Text 11"/>
          <p:cNvSpPr txBox="1"/>
          <p:nvPr/>
        </p:nvSpPr>
        <p:spPr>
          <a:xfrm>
            <a:off x="2560320" y="4008120"/>
            <a:ext cx="8808415" cy="509016"/>
          </a:xfrm>
          <a:prstGeom prst="rect">
            <a:avLst/>
          </a:prstGeom>
          <a:noFill/>
          <a:ln/>
        </p:spPr>
        <p:txBody>
          <a:bodyPr wrap="square" lIns="0" tIns="0" rIns="0" bIns="0" rtlCol="0" anchor="t"/>
          <a:lstStyle/>
          <a:p>
            <a:pPr indent="0" marL="0">
              <a:lnSpc>
                <a:spcPct val="115000"/>
              </a:lnSpc>
              <a:buNone/>
            </a:pPr>
            <a:r>
              <a:rPr lang="en-US" sz="1300" dirty="0">
                <a:solidFill>
                  <a:srgbClr val="3B4045"/>
                </a:solidFill>
                <a:latin typeface="Calibri" pitchFamily="34" charset="0"/>
                <a:ea typeface="Calibri" pitchFamily="34" charset="-122"/>
                <a:cs typeface="Calibri" pitchFamily="34" charset="-120"/>
              </a:rPr>
              <a:t>Divide el mecanismo en dos vías: no inflamatoria (bioquímica) e inflamatoria. Dentro de cada una describe los mediadores y la evidencia que los sostiene.</a:t>
            </a:r>
            <a:endParaRPr lang="en-US" sz="1300" dirty="0"/>
          </a:p>
        </p:txBody>
      </p:sp>
      <p:sp>
        <p:nvSpPr>
          <p:cNvPr id="14" name="Shape 12"/>
          <p:cNvSpPr/>
          <p:nvPr/>
        </p:nvSpPr>
        <p:spPr>
          <a:xfrm>
            <a:off x="822960" y="4626864"/>
            <a:ext cx="10545775" cy="0"/>
          </a:xfrm>
          <a:prstGeom prst="line">
            <a:avLst/>
          </a:prstGeom>
          <a:noFill/>
          <a:ln w="9525">
            <a:solidFill>
              <a:srgbClr val="D9D9D4"/>
            </a:solidFill>
            <a:prstDash val="solid"/>
          </a:ln>
        </p:spPr>
      </p:sp>
      <p:sp>
        <p:nvSpPr>
          <p:cNvPr id="15" name="Text 13"/>
          <p:cNvSpPr txBox="1"/>
          <p:nvPr/>
        </p:nvSpPr>
        <p:spPr>
          <a:xfrm>
            <a:off x="822960" y="4754880"/>
            <a:ext cx="1645920" cy="50901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Tratamiento</a:t>
            </a:r>
            <a:endParaRPr lang="en-US" sz="1200" dirty="0"/>
          </a:p>
        </p:txBody>
      </p:sp>
      <p:sp>
        <p:nvSpPr>
          <p:cNvPr id="16" name="Text 14"/>
          <p:cNvSpPr txBox="1"/>
          <p:nvPr/>
        </p:nvSpPr>
        <p:spPr>
          <a:xfrm>
            <a:off x="2560320" y="4754880"/>
            <a:ext cx="8808415" cy="509016"/>
          </a:xfrm>
          <a:prstGeom prst="rect">
            <a:avLst/>
          </a:prstGeom>
          <a:noFill/>
          <a:ln/>
        </p:spPr>
        <p:txBody>
          <a:bodyPr wrap="square" lIns="0" tIns="0" rIns="0" bIns="0" rtlCol="0" anchor="t"/>
          <a:lstStyle/>
          <a:p>
            <a:pPr indent="0" marL="0">
              <a:lnSpc>
                <a:spcPct val="115000"/>
              </a:lnSpc>
              <a:buNone/>
            </a:pPr>
            <a:r>
              <a:rPr lang="en-US" sz="1300" dirty="0">
                <a:solidFill>
                  <a:srgbClr val="3B4045"/>
                </a:solidFill>
                <a:latin typeface="Calibri" pitchFamily="34" charset="0"/>
                <a:ea typeface="Calibri" pitchFamily="34" charset="-122"/>
                <a:cs typeface="Calibri" pitchFamily="34" charset="-120"/>
              </a:rPr>
              <a:t>Revisa el manejo en dos ramas: no quirúrgico (control de factores, remoción de placa, antibióticos, cambio de fármaco) y quirúrgico (gingivectomía con bisturí, electrocirugía o láser).</a:t>
            </a:r>
            <a:endParaRPr lang="en-US" sz="1300" dirty="0"/>
          </a:p>
        </p:txBody>
      </p:sp>
      <p:sp>
        <p:nvSpPr>
          <p:cNvPr id="17" name="Text 15"/>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07 / 28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Resultados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Sabarudin et al. 2022, Cureus</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Mecanismo: dos vías que convergen en la acumulación de matriz</a:t>
            </a:r>
            <a:endParaRPr lang="en-US" sz="3600" dirty="0"/>
          </a:p>
        </p:txBody>
      </p:sp>
      <p:sp>
        <p:nvSpPr>
          <p:cNvPr id="6" name="Text 4"/>
          <p:cNvSpPr txBox="1"/>
          <p:nvPr/>
        </p:nvSpPr>
        <p:spPr>
          <a:xfrm>
            <a:off x="822960" y="2514600"/>
            <a:ext cx="4572000"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Vía no inflamatoria</a:t>
            </a:r>
            <a:endParaRPr lang="en-US" sz="1100" dirty="0"/>
          </a:p>
        </p:txBody>
      </p:sp>
      <p:sp>
        <p:nvSpPr>
          <p:cNvPr id="7" name="Text 5"/>
          <p:cNvSpPr txBox="1"/>
          <p:nvPr/>
        </p:nvSpPr>
        <p:spPr>
          <a:xfrm>
            <a:off x="822960" y="4526280"/>
            <a:ext cx="4572000" cy="228600"/>
          </a:xfrm>
          <a:prstGeom prst="rect">
            <a:avLst/>
          </a:prstGeom>
          <a:noFill/>
          <a:ln/>
        </p:spPr>
        <p:txBody>
          <a:bodyPr wrap="square" lIns="0" tIns="0" rIns="0" bIns="0" rtlCol="0" anchor="t"/>
          <a:lstStyle/>
          <a:p>
            <a:pPr indent="0" marL="0">
              <a:buNone/>
            </a:pPr>
            <a:r>
              <a:rPr lang="en-US" sz="1100" dirty="0">
                <a:solidFill>
                  <a:srgbClr val="6B7075"/>
                </a:solidFill>
                <a:latin typeface="Courier New" pitchFamily="34" charset="0"/>
                <a:ea typeface="Courier New" pitchFamily="34" charset="-122"/>
                <a:cs typeface="Courier New" pitchFamily="34" charset="-120"/>
              </a:rPr>
              <a:t>Vía inflamatoria</a:t>
            </a:r>
            <a:endParaRPr lang="en-US" sz="1100" dirty="0"/>
          </a:p>
        </p:txBody>
      </p:sp>
      <p:sp>
        <p:nvSpPr>
          <p:cNvPr id="8" name="Shape 6"/>
          <p:cNvSpPr/>
          <p:nvPr/>
        </p:nvSpPr>
        <p:spPr>
          <a:xfrm>
            <a:off x="822960" y="2788920"/>
            <a:ext cx="1773936" cy="868680"/>
          </a:xfrm>
          <a:prstGeom prst="rect">
            <a:avLst/>
          </a:prstGeom>
          <a:solidFill>
            <a:srgbClr val="FAFAF7"/>
          </a:solidFill>
          <a:ln w="15875">
            <a:solidFill>
              <a:srgbClr val="1A1D1F"/>
            </a:solidFill>
            <a:prstDash val="solid"/>
          </a:ln>
        </p:spPr>
      </p:sp>
      <p:sp>
        <p:nvSpPr>
          <p:cNvPr id="9" name="Text 7"/>
          <p:cNvSpPr txBox="1"/>
          <p:nvPr/>
        </p:nvSpPr>
        <p:spPr>
          <a:xfrm>
            <a:off x="914400" y="278892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1A1D1F"/>
                </a:solidFill>
                <a:latin typeface="Calibri" pitchFamily="34" charset="0"/>
                <a:ea typeface="Calibri" pitchFamily="34" charset="-122"/>
                <a:cs typeface="Calibri" pitchFamily="34" charset="-120"/>
              </a:rPr>
              <a:t>1. Fármaco: fenitoína, bloqueante de calcio o ciclosporina A</a:t>
            </a:r>
            <a:endParaRPr lang="en-US" sz="1100" dirty="0"/>
          </a:p>
        </p:txBody>
      </p:sp>
      <p:sp>
        <p:nvSpPr>
          <p:cNvPr id="10" name="Shape 8"/>
          <p:cNvSpPr/>
          <p:nvPr/>
        </p:nvSpPr>
        <p:spPr>
          <a:xfrm>
            <a:off x="3017520" y="2788920"/>
            <a:ext cx="1773936" cy="868680"/>
          </a:xfrm>
          <a:prstGeom prst="rect">
            <a:avLst/>
          </a:prstGeom>
          <a:solidFill>
            <a:srgbClr val="FAFAF7"/>
          </a:solidFill>
          <a:ln w="15875">
            <a:solidFill>
              <a:srgbClr val="1A1D1F"/>
            </a:solidFill>
            <a:prstDash val="solid"/>
          </a:ln>
        </p:spPr>
      </p:sp>
      <p:sp>
        <p:nvSpPr>
          <p:cNvPr id="11" name="Text 9"/>
          <p:cNvSpPr txBox="1"/>
          <p:nvPr/>
        </p:nvSpPr>
        <p:spPr>
          <a:xfrm>
            <a:off x="3108960" y="278892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1A1D1F"/>
                </a:solidFill>
                <a:latin typeface="Calibri" pitchFamily="34" charset="0"/>
                <a:ea typeface="Calibri" pitchFamily="34" charset="-122"/>
                <a:cs typeface="Calibri" pitchFamily="34" charset="-120"/>
              </a:rPr>
              <a:t>2. Menos entrada de Ca²⁺ y Na⁺ por los canales catiónicos</a:t>
            </a:r>
            <a:endParaRPr lang="en-US" sz="1100" dirty="0"/>
          </a:p>
        </p:txBody>
      </p:sp>
      <p:sp>
        <p:nvSpPr>
          <p:cNvPr id="12" name="Shape 10"/>
          <p:cNvSpPr/>
          <p:nvPr/>
        </p:nvSpPr>
        <p:spPr>
          <a:xfrm>
            <a:off x="5212080" y="2788920"/>
            <a:ext cx="1773936" cy="868680"/>
          </a:xfrm>
          <a:prstGeom prst="rect">
            <a:avLst/>
          </a:prstGeom>
          <a:solidFill>
            <a:srgbClr val="FAFAF7"/>
          </a:solidFill>
          <a:ln w="15875">
            <a:solidFill>
              <a:srgbClr val="1A1D1F"/>
            </a:solidFill>
            <a:prstDash val="solid"/>
          </a:ln>
        </p:spPr>
      </p:sp>
      <p:sp>
        <p:nvSpPr>
          <p:cNvPr id="13" name="Text 11"/>
          <p:cNvSpPr txBox="1"/>
          <p:nvPr/>
        </p:nvSpPr>
        <p:spPr>
          <a:xfrm>
            <a:off x="5303520" y="278892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1A1D1F"/>
                </a:solidFill>
                <a:latin typeface="Calibri" pitchFamily="34" charset="0"/>
                <a:ea typeface="Calibri" pitchFamily="34" charset="-122"/>
                <a:cs typeface="Calibri" pitchFamily="34" charset="-120"/>
              </a:rPr>
              <a:t>3. Menor captación celular de ácido fólico</a:t>
            </a:r>
            <a:endParaRPr lang="en-US" sz="1100" dirty="0"/>
          </a:p>
        </p:txBody>
      </p:sp>
      <p:sp>
        <p:nvSpPr>
          <p:cNvPr id="14" name="Shape 12"/>
          <p:cNvSpPr/>
          <p:nvPr/>
        </p:nvSpPr>
        <p:spPr>
          <a:xfrm>
            <a:off x="7406640" y="2788920"/>
            <a:ext cx="1773936" cy="868680"/>
          </a:xfrm>
          <a:prstGeom prst="rect">
            <a:avLst/>
          </a:prstGeom>
          <a:solidFill>
            <a:srgbClr val="FAFAF7"/>
          </a:solidFill>
          <a:ln w="15875">
            <a:solidFill>
              <a:srgbClr val="1A1D1F"/>
            </a:solidFill>
            <a:prstDash val="solid"/>
          </a:ln>
        </p:spPr>
      </p:sp>
      <p:sp>
        <p:nvSpPr>
          <p:cNvPr id="15" name="Text 13"/>
          <p:cNvSpPr txBox="1"/>
          <p:nvPr/>
        </p:nvSpPr>
        <p:spPr>
          <a:xfrm>
            <a:off x="7498080" y="278892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1A1D1F"/>
                </a:solidFill>
                <a:latin typeface="Calibri" pitchFamily="34" charset="0"/>
                <a:ea typeface="Calibri" pitchFamily="34" charset="-122"/>
                <a:cs typeface="Calibri" pitchFamily="34" charset="-120"/>
              </a:rPr>
              <a:t>4. Metaloproteinasas sin activar: la colagenasa queda inactiva</a:t>
            </a:r>
            <a:endParaRPr lang="en-US" sz="1100" dirty="0"/>
          </a:p>
        </p:txBody>
      </p:sp>
      <p:sp>
        <p:nvSpPr>
          <p:cNvPr id="16" name="Shape 14"/>
          <p:cNvSpPr/>
          <p:nvPr/>
        </p:nvSpPr>
        <p:spPr>
          <a:xfrm>
            <a:off x="9601200" y="2788920"/>
            <a:ext cx="1773936" cy="868680"/>
          </a:xfrm>
          <a:prstGeom prst="rect">
            <a:avLst/>
          </a:prstGeom>
          <a:solidFill>
            <a:srgbClr val="1F4E9C"/>
          </a:solidFill>
          <a:ln w="15875">
            <a:solidFill>
              <a:srgbClr val="1F4E9C"/>
            </a:solidFill>
            <a:prstDash val="solid"/>
          </a:ln>
        </p:spPr>
      </p:sp>
      <p:sp>
        <p:nvSpPr>
          <p:cNvPr id="17" name="Text 15"/>
          <p:cNvSpPr txBox="1"/>
          <p:nvPr/>
        </p:nvSpPr>
        <p:spPr>
          <a:xfrm>
            <a:off x="9692640" y="278892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F4F4F1"/>
                </a:solidFill>
                <a:latin typeface="Calibri" pitchFamily="34" charset="0"/>
                <a:ea typeface="Calibri" pitchFamily="34" charset="-122"/>
                <a:cs typeface="Calibri" pitchFamily="34" charset="-120"/>
              </a:rPr>
              <a:t>9. Matriz extracelular que se acumula: la encía crece</a:t>
            </a:r>
            <a:endParaRPr lang="en-US" sz="1100" dirty="0"/>
          </a:p>
        </p:txBody>
      </p:sp>
      <p:sp>
        <p:nvSpPr>
          <p:cNvPr id="18" name="Shape 16"/>
          <p:cNvSpPr/>
          <p:nvPr/>
        </p:nvSpPr>
        <p:spPr>
          <a:xfrm>
            <a:off x="822960" y="4800600"/>
            <a:ext cx="1773936" cy="868680"/>
          </a:xfrm>
          <a:prstGeom prst="rect">
            <a:avLst/>
          </a:prstGeom>
          <a:solidFill>
            <a:srgbClr val="FAFAF7"/>
          </a:solidFill>
          <a:ln w="15875">
            <a:solidFill>
              <a:srgbClr val="6B7075"/>
            </a:solidFill>
            <a:prstDash val="solid"/>
          </a:ln>
        </p:spPr>
      </p:sp>
      <p:sp>
        <p:nvSpPr>
          <p:cNvPr id="19" name="Text 17"/>
          <p:cNvSpPr txBox="1"/>
          <p:nvPr/>
        </p:nvSpPr>
        <p:spPr>
          <a:xfrm>
            <a:off x="914400" y="480060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1A1D1F"/>
                </a:solidFill>
                <a:latin typeface="Calibri" pitchFamily="34" charset="0"/>
                <a:ea typeface="Calibri" pitchFamily="34" charset="-122"/>
                <a:cs typeface="Calibri" pitchFamily="34" charset="-120"/>
              </a:rPr>
              <a:t>5. Placa bacteriana y agresión física</a:t>
            </a:r>
            <a:endParaRPr lang="en-US" sz="1100" dirty="0"/>
          </a:p>
        </p:txBody>
      </p:sp>
      <p:sp>
        <p:nvSpPr>
          <p:cNvPr id="20" name="Shape 18"/>
          <p:cNvSpPr/>
          <p:nvPr/>
        </p:nvSpPr>
        <p:spPr>
          <a:xfrm>
            <a:off x="3017520" y="4800600"/>
            <a:ext cx="1773936" cy="868680"/>
          </a:xfrm>
          <a:prstGeom prst="rect">
            <a:avLst/>
          </a:prstGeom>
          <a:solidFill>
            <a:srgbClr val="FAFAF7"/>
          </a:solidFill>
          <a:ln w="15875">
            <a:solidFill>
              <a:srgbClr val="6B7075"/>
            </a:solidFill>
            <a:prstDash val="solid"/>
          </a:ln>
        </p:spPr>
      </p:sp>
      <p:sp>
        <p:nvSpPr>
          <p:cNvPr id="21" name="Text 19"/>
          <p:cNvSpPr txBox="1"/>
          <p:nvPr/>
        </p:nvSpPr>
        <p:spPr>
          <a:xfrm>
            <a:off x="3108960" y="480060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1A1D1F"/>
                </a:solidFill>
                <a:latin typeface="Calibri" pitchFamily="34" charset="0"/>
                <a:ea typeface="Calibri" pitchFamily="34" charset="-122"/>
                <a:cs typeface="Calibri" pitchFamily="34" charset="-120"/>
              </a:rPr>
              <a:t>6. Citoquinas y factores: IL-1β, IL-6, TGF-β, CTGF, PDGF</a:t>
            </a:r>
            <a:endParaRPr lang="en-US" sz="1100" dirty="0"/>
          </a:p>
        </p:txBody>
      </p:sp>
      <p:sp>
        <p:nvSpPr>
          <p:cNvPr id="22" name="Shape 20"/>
          <p:cNvSpPr/>
          <p:nvPr/>
        </p:nvSpPr>
        <p:spPr>
          <a:xfrm>
            <a:off x="5212080" y="4800600"/>
            <a:ext cx="1773936" cy="868680"/>
          </a:xfrm>
          <a:prstGeom prst="rect">
            <a:avLst/>
          </a:prstGeom>
          <a:solidFill>
            <a:srgbClr val="FAFAF7"/>
          </a:solidFill>
          <a:ln w="15875">
            <a:solidFill>
              <a:srgbClr val="6B7075"/>
            </a:solidFill>
            <a:prstDash val="solid"/>
          </a:ln>
        </p:spPr>
      </p:sp>
      <p:sp>
        <p:nvSpPr>
          <p:cNvPr id="23" name="Text 21"/>
          <p:cNvSpPr txBox="1"/>
          <p:nvPr/>
        </p:nvSpPr>
        <p:spPr>
          <a:xfrm>
            <a:off x="5303520" y="480060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1A1D1F"/>
                </a:solidFill>
                <a:latin typeface="Calibri" pitchFamily="34" charset="0"/>
                <a:ea typeface="Calibri" pitchFamily="34" charset="-122"/>
                <a:cs typeface="Calibri" pitchFamily="34" charset="-120"/>
              </a:rPr>
              <a:t>7. Fibroblastos proliferan; menos fagocitosis de colágeno</a:t>
            </a:r>
            <a:endParaRPr lang="en-US" sz="1100" dirty="0"/>
          </a:p>
        </p:txBody>
      </p:sp>
      <p:sp>
        <p:nvSpPr>
          <p:cNvPr id="24" name="Shape 22"/>
          <p:cNvSpPr/>
          <p:nvPr/>
        </p:nvSpPr>
        <p:spPr>
          <a:xfrm>
            <a:off x="7406640" y="4800600"/>
            <a:ext cx="1773936" cy="868680"/>
          </a:xfrm>
          <a:prstGeom prst="rect">
            <a:avLst/>
          </a:prstGeom>
          <a:solidFill>
            <a:srgbClr val="FAFAF7"/>
          </a:solidFill>
          <a:ln w="15875">
            <a:solidFill>
              <a:srgbClr val="6B7075"/>
            </a:solidFill>
            <a:prstDash val="solid"/>
          </a:ln>
        </p:spPr>
      </p:sp>
      <p:sp>
        <p:nvSpPr>
          <p:cNvPr id="25" name="Text 23"/>
          <p:cNvSpPr txBox="1"/>
          <p:nvPr/>
        </p:nvSpPr>
        <p:spPr>
          <a:xfrm>
            <a:off x="7498080" y="4800600"/>
            <a:ext cx="1591056" cy="868680"/>
          </a:xfrm>
          <a:prstGeom prst="rect">
            <a:avLst/>
          </a:prstGeom>
          <a:noFill/>
          <a:ln/>
        </p:spPr>
        <p:txBody>
          <a:bodyPr wrap="square" lIns="0" tIns="0" rIns="0" bIns="0" rtlCol="0" anchor="ctr"/>
          <a:lstStyle/>
          <a:p>
            <a:pPr algn="ctr" indent="0" marL="0">
              <a:lnSpc>
                <a:spcPct val="110000"/>
              </a:lnSpc>
              <a:buNone/>
            </a:pPr>
            <a:r>
              <a:rPr lang="en-US" sz="1100" dirty="0">
                <a:solidFill>
                  <a:srgbClr val="1A1D1F"/>
                </a:solidFill>
                <a:latin typeface="Calibri" pitchFamily="34" charset="0"/>
                <a:ea typeface="Calibri" pitchFamily="34" charset="-122"/>
                <a:cs typeface="Calibri" pitchFamily="34" charset="-120"/>
              </a:rPr>
              <a:t>8. Más colágeno y glucosaminoglucanos</a:t>
            </a:r>
            <a:endParaRPr lang="en-US" sz="1100" dirty="0"/>
          </a:p>
        </p:txBody>
      </p:sp>
      <p:sp>
        <p:nvSpPr>
          <p:cNvPr id="26" name="Shape 24"/>
          <p:cNvSpPr/>
          <p:nvPr/>
        </p:nvSpPr>
        <p:spPr>
          <a:xfrm>
            <a:off x="2596896" y="3223260"/>
            <a:ext cx="420624" cy="0"/>
          </a:xfrm>
          <a:prstGeom prst="line">
            <a:avLst/>
          </a:prstGeom>
          <a:noFill/>
          <a:ln w="22225">
            <a:solidFill>
              <a:srgbClr val="1A1D1F"/>
            </a:solidFill>
            <a:prstDash val="solid"/>
            <a:tailEnd type="triangle"/>
          </a:ln>
        </p:spPr>
      </p:sp>
      <p:sp>
        <p:nvSpPr>
          <p:cNvPr id="27" name="Shape 25"/>
          <p:cNvSpPr/>
          <p:nvPr/>
        </p:nvSpPr>
        <p:spPr>
          <a:xfrm>
            <a:off x="4791456" y="3223260"/>
            <a:ext cx="420624" cy="0"/>
          </a:xfrm>
          <a:prstGeom prst="line">
            <a:avLst/>
          </a:prstGeom>
          <a:noFill/>
          <a:ln w="22225">
            <a:solidFill>
              <a:srgbClr val="1A1D1F"/>
            </a:solidFill>
            <a:prstDash val="solid"/>
            <a:tailEnd type="triangle"/>
          </a:ln>
        </p:spPr>
      </p:sp>
      <p:sp>
        <p:nvSpPr>
          <p:cNvPr id="28" name="Shape 26"/>
          <p:cNvSpPr/>
          <p:nvPr/>
        </p:nvSpPr>
        <p:spPr>
          <a:xfrm>
            <a:off x="6986016" y="3223260"/>
            <a:ext cx="420624" cy="0"/>
          </a:xfrm>
          <a:prstGeom prst="line">
            <a:avLst/>
          </a:prstGeom>
          <a:noFill/>
          <a:ln w="22225">
            <a:solidFill>
              <a:srgbClr val="1A1D1F"/>
            </a:solidFill>
            <a:prstDash val="solid"/>
            <a:tailEnd type="triangle"/>
          </a:ln>
        </p:spPr>
      </p:sp>
      <p:sp>
        <p:nvSpPr>
          <p:cNvPr id="29" name="Shape 27"/>
          <p:cNvSpPr/>
          <p:nvPr/>
        </p:nvSpPr>
        <p:spPr>
          <a:xfrm>
            <a:off x="9180576" y="3223260"/>
            <a:ext cx="420624" cy="0"/>
          </a:xfrm>
          <a:prstGeom prst="line">
            <a:avLst/>
          </a:prstGeom>
          <a:noFill/>
          <a:ln w="22225">
            <a:solidFill>
              <a:srgbClr val="1A1D1F"/>
            </a:solidFill>
            <a:prstDash val="solid"/>
            <a:tailEnd type="triangle"/>
          </a:ln>
        </p:spPr>
      </p:sp>
      <p:sp>
        <p:nvSpPr>
          <p:cNvPr id="30" name="Shape 28"/>
          <p:cNvSpPr/>
          <p:nvPr/>
        </p:nvSpPr>
        <p:spPr>
          <a:xfrm>
            <a:off x="2596896" y="5234940"/>
            <a:ext cx="420624" cy="0"/>
          </a:xfrm>
          <a:prstGeom prst="line">
            <a:avLst/>
          </a:prstGeom>
          <a:noFill/>
          <a:ln w="22225">
            <a:solidFill>
              <a:srgbClr val="6B7075"/>
            </a:solidFill>
            <a:prstDash val="solid"/>
            <a:tailEnd type="triangle"/>
          </a:ln>
        </p:spPr>
      </p:sp>
      <p:sp>
        <p:nvSpPr>
          <p:cNvPr id="31" name="Shape 29"/>
          <p:cNvSpPr/>
          <p:nvPr/>
        </p:nvSpPr>
        <p:spPr>
          <a:xfrm>
            <a:off x="4791456" y="5234940"/>
            <a:ext cx="420624" cy="0"/>
          </a:xfrm>
          <a:prstGeom prst="line">
            <a:avLst/>
          </a:prstGeom>
          <a:noFill/>
          <a:ln w="22225">
            <a:solidFill>
              <a:srgbClr val="6B7075"/>
            </a:solidFill>
            <a:prstDash val="solid"/>
            <a:tailEnd type="triangle"/>
          </a:ln>
        </p:spPr>
      </p:sp>
      <p:sp>
        <p:nvSpPr>
          <p:cNvPr id="32" name="Shape 30"/>
          <p:cNvSpPr/>
          <p:nvPr/>
        </p:nvSpPr>
        <p:spPr>
          <a:xfrm>
            <a:off x="6986016" y="5234940"/>
            <a:ext cx="420624" cy="0"/>
          </a:xfrm>
          <a:prstGeom prst="line">
            <a:avLst/>
          </a:prstGeom>
          <a:noFill/>
          <a:ln w="22225">
            <a:solidFill>
              <a:srgbClr val="6B7075"/>
            </a:solidFill>
            <a:prstDash val="solid"/>
            <a:tailEnd type="triangle"/>
          </a:ln>
        </p:spPr>
      </p:sp>
      <p:sp>
        <p:nvSpPr>
          <p:cNvPr id="33" name="Shape 31"/>
          <p:cNvSpPr/>
          <p:nvPr/>
        </p:nvSpPr>
        <p:spPr>
          <a:xfrm>
            <a:off x="9180576" y="5234940"/>
            <a:ext cx="1307592" cy="0"/>
          </a:xfrm>
          <a:prstGeom prst="line">
            <a:avLst/>
          </a:prstGeom>
          <a:noFill/>
          <a:ln w="22225">
            <a:solidFill>
              <a:srgbClr val="6B7075"/>
            </a:solidFill>
            <a:prstDash val="solid"/>
          </a:ln>
        </p:spPr>
      </p:sp>
      <p:sp>
        <p:nvSpPr>
          <p:cNvPr id="34" name="Shape 32"/>
          <p:cNvSpPr/>
          <p:nvPr/>
        </p:nvSpPr>
        <p:spPr>
          <a:xfrm flipV="1">
            <a:off x="10488168" y="3657600"/>
            <a:ext cx="0" cy="1577340"/>
          </a:xfrm>
          <a:prstGeom prst="line">
            <a:avLst/>
          </a:prstGeom>
          <a:noFill/>
          <a:ln w="22225">
            <a:solidFill>
              <a:srgbClr val="6B7075"/>
            </a:solidFill>
            <a:prstDash val="solid"/>
            <a:tailEnd type="triangle"/>
          </a:ln>
        </p:spPr>
      </p:sp>
      <p:sp>
        <p:nvSpPr>
          <p:cNvPr id="35" name="Shape 33"/>
          <p:cNvSpPr/>
          <p:nvPr/>
        </p:nvSpPr>
        <p:spPr>
          <a:xfrm>
            <a:off x="3904488" y="3657600"/>
            <a:ext cx="0" cy="1143000"/>
          </a:xfrm>
          <a:prstGeom prst="line">
            <a:avLst/>
          </a:prstGeom>
          <a:noFill/>
          <a:ln w="19050">
            <a:solidFill>
              <a:srgbClr val="666B70"/>
            </a:solidFill>
            <a:prstDash val="dash"/>
            <a:headEnd type="triangle"/>
            <a:tailEnd type="triangle"/>
          </a:ln>
        </p:spPr>
      </p:sp>
      <p:sp>
        <p:nvSpPr>
          <p:cNvPr id="36" name="Text 34"/>
          <p:cNvSpPr txBox="1"/>
          <p:nvPr/>
        </p:nvSpPr>
        <p:spPr>
          <a:xfrm>
            <a:off x="4014216" y="3977640"/>
            <a:ext cx="1371600" cy="502920"/>
          </a:xfrm>
          <a:prstGeom prst="rect">
            <a:avLst/>
          </a:prstGeom>
          <a:noFill/>
          <a:ln/>
        </p:spPr>
        <p:txBody>
          <a:bodyPr wrap="square" lIns="0" tIns="0" rIns="0" bIns="0" rtlCol="0" anchor="t"/>
          <a:lstStyle/>
          <a:p>
            <a:pPr indent="0" marL="0">
              <a:lnSpc>
                <a:spcPct val="110000"/>
              </a:lnSpc>
              <a:buNone/>
            </a:pPr>
            <a:r>
              <a:rPr lang="en-US" sz="1100" i="1" dirty="0">
                <a:solidFill>
                  <a:srgbClr val="666B70"/>
                </a:solidFill>
                <a:latin typeface="Calibri" pitchFamily="34" charset="0"/>
                <a:ea typeface="Calibri" pitchFamily="34" charset="-122"/>
                <a:cs typeface="Calibri" pitchFamily="34" charset="-120"/>
              </a:rPr>
              <a:t>sinergia entre fármaco y citoquinas</a:t>
            </a:r>
            <a:endParaRPr lang="en-US" sz="1100" dirty="0"/>
          </a:p>
        </p:txBody>
      </p:sp>
      <p:sp>
        <p:nvSpPr>
          <p:cNvPr id="37" name="Text 35"/>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08 / 28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Resultados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Sabarudin et al. 2022, Cureus</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Manejo propuesto: no quirúrgico, cambio de fármaco y cirugía</a:t>
            </a:r>
            <a:endParaRPr lang="en-US" sz="3600" dirty="0"/>
          </a:p>
        </p:txBody>
      </p:sp>
      <p:sp>
        <p:nvSpPr>
          <p:cNvPr id="6" name="Text 4"/>
          <p:cNvSpPr txBox="1"/>
          <p:nvPr/>
        </p:nvSpPr>
        <p:spPr>
          <a:xfrm>
            <a:off x="822960" y="2514600"/>
            <a:ext cx="3295802"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No quirúrgico</a:t>
            </a:r>
            <a:endParaRPr lang="en-US" sz="1100" dirty="0"/>
          </a:p>
        </p:txBody>
      </p:sp>
      <p:sp>
        <p:nvSpPr>
          <p:cNvPr id="7" name="Text 5"/>
          <p:cNvSpPr txBox="1"/>
          <p:nvPr/>
        </p:nvSpPr>
        <p:spPr>
          <a:xfrm>
            <a:off x="822960" y="2788920"/>
            <a:ext cx="3295802" cy="548640"/>
          </a:xfrm>
          <a:prstGeom prst="rect">
            <a:avLst/>
          </a:prstGeom>
          <a:noFill/>
          <a:ln/>
        </p:spPr>
        <p:txBody>
          <a:bodyPr wrap="square" lIns="0" tIns="0" rIns="0" bIns="0" rtlCol="0" anchor="t"/>
          <a:lstStyle/>
          <a:p>
            <a:pPr indent="0" marL="0">
              <a:lnSpc>
                <a:spcPct val="105000"/>
              </a:lnSpc>
              <a:buNone/>
            </a:pPr>
            <a:r>
              <a:rPr lang="en-US" sz="1700" dirty="0">
                <a:solidFill>
                  <a:srgbClr val="1A1D1F"/>
                </a:solidFill>
                <a:latin typeface="Cambria" pitchFamily="34" charset="0"/>
                <a:ea typeface="Cambria" pitchFamily="34" charset="-122"/>
                <a:cs typeface="Cambria" pitchFamily="34" charset="-120"/>
              </a:rPr>
              <a:t>Controlar los factores modificadores</a:t>
            </a:r>
            <a:endParaRPr lang="en-US" sz="1700" dirty="0"/>
          </a:p>
        </p:txBody>
      </p:sp>
      <p:sp>
        <p:nvSpPr>
          <p:cNvPr id="8" name="Text 6"/>
          <p:cNvSpPr txBox="1"/>
          <p:nvPr/>
        </p:nvSpPr>
        <p:spPr>
          <a:xfrm>
            <a:off x="822960" y="3337560"/>
            <a:ext cx="3295802" cy="25603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Control meticuloso del biofilm y mantenimiento periodontal regular.</a:t>
            </a:r>
            <a:endParaRPr lang="en-US" sz="1200" dirty="0"/>
          </a:p>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Eliminar factores retentivos: márgenes desbordantes, restos radiculares, bandas de ortodoncia.</a:t>
            </a:r>
            <a:endParaRPr lang="en-US" sz="1200" dirty="0"/>
          </a:p>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Raspado y alisado radicular: ofrece cierto alivio.</a:t>
            </a:r>
            <a:endParaRPr lang="en-US" sz="1200" dirty="0"/>
          </a:p>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Azitromicina 3 a 5 días, 250 a 500 mg/día: remisión de 3 meses a 2 años en algunos estudios; otro ensayo de 7 días no mostró mejoría. Evidencia insuficiente.</a:t>
            </a:r>
            <a:endParaRPr lang="en-US" sz="1200" dirty="0"/>
          </a:p>
        </p:txBody>
      </p:sp>
      <p:sp>
        <p:nvSpPr>
          <p:cNvPr id="9" name="Shape 7"/>
          <p:cNvSpPr/>
          <p:nvPr/>
        </p:nvSpPr>
        <p:spPr>
          <a:xfrm>
            <a:off x="4283354" y="2514600"/>
            <a:ext cx="0" cy="3383280"/>
          </a:xfrm>
          <a:prstGeom prst="line">
            <a:avLst/>
          </a:prstGeom>
          <a:noFill/>
          <a:ln w="9525">
            <a:solidFill>
              <a:srgbClr val="D9D9D4"/>
            </a:solidFill>
            <a:prstDash val="solid"/>
          </a:ln>
        </p:spPr>
      </p:sp>
      <p:sp>
        <p:nvSpPr>
          <p:cNvPr id="10" name="Text 8"/>
          <p:cNvSpPr txBox="1"/>
          <p:nvPr/>
        </p:nvSpPr>
        <p:spPr>
          <a:xfrm>
            <a:off x="4447946" y="2514600"/>
            <a:ext cx="3295802"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Cambio de fármaco</a:t>
            </a:r>
            <a:endParaRPr lang="en-US" sz="1100" dirty="0"/>
          </a:p>
        </p:txBody>
      </p:sp>
      <p:sp>
        <p:nvSpPr>
          <p:cNvPr id="11" name="Text 9"/>
          <p:cNvSpPr txBox="1"/>
          <p:nvPr/>
        </p:nvSpPr>
        <p:spPr>
          <a:xfrm>
            <a:off x="4447946" y="2788920"/>
            <a:ext cx="3295802" cy="548640"/>
          </a:xfrm>
          <a:prstGeom prst="rect">
            <a:avLst/>
          </a:prstGeom>
          <a:noFill/>
          <a:ln/>
        </p:spPr>
        <p:txBody>
          <a:bodyPr wrap="square" lIns="0" tIns="0" rIns="0" bIns="0" rtlCol="0" anchor="t"/>
          <a:lstStyle/>
          <a:p>
            <a:pPr indent="0" marL="0">
              <a:lnSpc>
                <a:spcPct val="105000"/>
              </a:lnSpc>
              <a:buNone/>
            </a:pPr>
            <a:r>
              <a:rPr lang="en-US" sz="1700" dirty="0">
                <a:solidFill>
                  <a:srgbClr val="1A1D1F"/>
                </a:solidFill>
                <a:latin typeface="Cambria" pitchFamily="34" charset="0"/>
                <a:ea typeface="Cambria" pitchFamily="34" charset="-122"/>
                <a:cs typeface="Cambria" pitchFamily="34" charset="-120"/>
              </a:rPr>
              <a:t>Con el médico tratante</a:t>
            </a:r>
            <a:endParaRPr lang="en-US" sz="1700" dirty="0"/>
          </a:p>
        </p:txBody>
      </p:sp>
      <p:sp>
        <p:nvSpPr>
          <p:cNvPr id="12" name="Text 10"/>
          <p:cNvSpPr txBox="1"/>
          <p:nvPr/>
        </p:nvSpPr>
        <p:spPr>
          <a:xfrm>
            <a:off x="4447946" y="3337560"/>
            <a:ext cx="3295802" cy="25603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Retirar o sustituir el fármaco: remisión en 1 a 8 semanas, pero respuesta impredecible en lesiones antiguas.</a:t>
            </a:r>
            <a:endParaRPr lang="en-US" sz="1200" dirty="0"/>
          </a:p>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Bloqueantes de calcio: betabloqueantes, diuréticos o IECA, sin reportes de agrandamiento; o verapamilo e isradipina, de menor riesgo.</a:t>
            </a:r>
            <a:endParaRPr lang="en-US" sz="1200" dirty="0"/>
          </a:p>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Si no es posible cambiar, tratar la lesión con o sin cirugía.</a:t>
            </a:r>
            <a:endParaRPr lang="en-US" sz="1200" dirty="0"/>
          </a:p>
        </p:txBody>
      </p:sp>
      <p:sp>
        <p:nvSpPr>
          <p:cNvPr id="13" name="Shape 11"/>
          <p:cNvSpPr/>
          <p:nvPr/>
        </p:nvSpPr>
        <p:spPr>
          <a:xfrm>
            <a:off x="7908341" y="2514600"/>
            <a:ext cx="0" cy="3383280"/>
          </a:xfrm>
          <a:prstGeom prst="line">
            <a:avLst/>
          </a:prstGeom>
          <a:noFill/>
          <a:ln w="9525">
            <a:solidFill>
              <a:srgbClr val="D9D9D4"/>
            </a:solidFill>
            <a:prstDash val="solid"/>
          </a:ln>
        </p:spPr>
      </p:sp>
      <p:sp>
        <p:nvSpPr>
          <p:cNvPr id="14" name="Text 12"/>
          <p:cNvSpPr txBox="1"/>
          <p:nvPr/>
        </p:nvSpPr>
        <p:spPr>
          <a:xfrm>
            <a:off x="8072933" y="2514600"/>
            <a:ext cx="3295802"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Quirúrgico</a:t>
            </a:r>
            <a:endParaRPr lang="en-US" sz="1100" dirty="0"/>
          </a:p>
        </p:txBody>
      </p:sp>
      <p:sp>
        <p:nvSpPr>
          <p:cNvPr id="15" name="Text 13"/>
          <p:cNvSpPr txBox="1"/>
          <p:nvPr/>
        </p:nvSpPr>
        <p:spPr>
          <a:xfrm>
            <a:off x="8072933" y="2788920"/>
            <a:ext cx="3295802" cy="548640"/>
          </a:xfrm>
          <a:prstGeom prst="rect">
            <a:avLst/>
          </a:prstGeom>
          <a:noFill/>
          <a:ln/>
        </p:spPr>
        <p:txBody>
          <a:bodyPr wrap="square" lIns="0" tIns="0" rIns="0" bIns="0" rtlCol="0" anchor="t"/>
          <a:lstStyle/>
          <a:p>
            <a:pPr indent="0" marL="0">
              <a:lnSpc>
                <a:spcPct val="105000"/>
              </a:lnSpc>
              <a:buNone/>
            </a:pPr>
            <a:r>
              <a:rPr lang="en-US" sz="1700" dirty="0">
                <a:solidFill>
                  <a:srgbClr val="1A1D1F"/>
                </a:solidFill>
                <a:latin typeface="Cambria" pitchFamily="34" charset="0"/>
                <a:ea typeface="Cambria" pitchFamily="34" charset="-122"/>
                <a:cs typeface="Cambria" pitchFamily="34" charset="-120"/>
              </a:rPr>
              <a:t>Cuando compromete función o estética</a:t>
            </a:r>
            <a:endParaRPr lang="en-US" sz="1700" dirty="0"/>
          </a:p>
        </p:txBody>
      </p:sp>
      <p:sp>
        <p:nvSpPr>
          <p:cNvPr id="16" name="Text 14"/>
          <p:cNvSpPr txBox="1"/>
          <p:nvPr/>
        </p:nvSpPr>
        <p:spPr>
          <a:xfrm>
            <a:off x="8072933" y="3337560"/>
            <a:ext cx="3295802" cy="25603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Gingivectomía o gingivoplastia con bisel interno o externo.</a:t>
            </a:r>
            <a:endParaRPr lang="en-US" sz="1200" dirty="0"/>
          </a:p>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Bisturí, electrocirugía o láser.</a:t>
            </a:r>
            <a:endParaRPr lang="en-US" sz="1200" dirty="0"/>
          </a:p>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Láser: resultado predecible, buena hemostasia y menos dolor intra y postoperatorio.</a:t>
            </a:r>
            <a:endParaRPr lang="en-US" sz="1200" dirty="0"/>
          </a:p>
          <a:p>
            <a:pPr marL="342900" indent="-342900">
              <a:lnSpc>
                <a:spcPct val="115000"/>
              </a:lnSpc>
              <a:spcAft>
                <a:spcPts val="600"/>
              </a:spcAft>
              <a:buSzPct val="100000"/>
              <a:buChar char="•"/>
            </a:pPr>
            <a:r>
              <a:rPr lang="en-US" sz="1200" dirty="0">
                <a:solidFill>
                  <a:srgbClr val="3B4045"/>
                </a:solidFill>
                <a:latin typeface="Calibri" pitchFamily="34" charset="0"/>
                <a:ea typeface="Calibri" pitchFamily="34" charset="-122"/>
                <a:cs typeface="Calibri" pitchFamily="34" charset="-120"/>
              </a:rPr>
              <a:t>Electrocirugía o láser preferibles en pediatría, necesidades especiales o hemostasia comprometida.</a:t>
            </a:r>
            <a:endParaRPr lang="en-US" sz="1200" dirty="0"/>
          </a:p>
        </p:txBody>
      </p:sp>
      <p:sp>
        <p:nvSpPr>
          <p:cNvPr id="17" name="Text 15"/>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09 / 28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0EB"/>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Conclusión</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Sabarudin et al. 2022, Cureus</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El mecanismo sigue sin establecerse por completo</a:t>
            </a:r>
            <a:endParaRPr lang="en-US" sz="3600" dirty="0"/>
          </a:p>
        </p:txBody>
      </p:sp>
      <p:sp>
        <p:nvSpPr>
          <p:cNvPr id="6" name="Text 4"/>
          <p:cNvSpPr txBox="1"/>
          <p:nvPr/>
        </p:nvSpPr>
        <p:spPr>
          <a:xfrm>
            <a:off x="822960" y="2514600"/>
            <a:ext cx="10058400" cy="1645920"/>
          </a:xfrm>
          <a:prstGeom prst="rect">
            <a:avLst/>
          </a:prstGeom>
          <a:noFill/>
          <a:ln/>
        </p:spPr>
        <p:txBody>
          <a:bodyPr wrap="square" lIns="0" tIns="0" rIns="0" bIns="0" rtlCol="0" anchor="t"/>
          <a:lstStyle/>
          <a:p>
            <a:pPr indent="0" marL="0">
              <a:lnSpc>
                <a:spcPct val="120000"/>
              </a:lnSpc>
              <a:buNone/>
            </a:pPr>
            <a:r>
              <a:rPr lang="en-US" sz="2100" i="1" dirty="0">
                <a:solidFill>
                  <a:srgbClr val="1A1D1F"/>
                </a:solidFill>
                <a:latin typeface="Cambria" pitchFamily="34" charset="0"/>
                <a:ea typeface="Cambria" pitchFamily="34" charset="-122"/>
                <a:cs typeface="Cambria" pitchFamily="34" charset="-120"/>
              </a:rPr>
              <a:t>El mecanismo del agrandamiento gingival inducido por fármacos es complejo y aplicable a todos los fármacos implicados. Hacen falta abordajes moleculares para establecerlo con claridad y ofrecer mejores terapias.</a:t>
            </a:r>
            <a:endParaRPr lang="en-US" sz="2100" dirty="0"/>
          </a:p>
        </p:txBody>
      </p:sp>
      <p:sp>
        <p:nvSpPr>
          <p:cNvPr id="7" name="Text 5"/>
          <p:cNvSpPr txBox="1"/>
          <p:nvPr/>
        </p:nvSpPr>
        <p:spPr>
          <a:xfrm>
            <a:off x="822960" y="4343400"/>
            <a:ext cx="3657600"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Puntos clave</a:t>
            </a:r>
            <a:endParaRPr lang="en-US" sz="1100" dirty="0"/>
          </a:p>
        </p:txBody>
      </p:sp>
      <p:sp>
        <p:nvSpPr>
          <p:cNvPr id="8" name="Shape 6"/>
          <p:cNvSpPr/>
          <p:nvPr/>
        </p:nvSpPr>
        <p:spPr>
          <a:xfrm>
            <a:off x="822960" y="4544568"/>
            <a:ext cx="10545775" cy="0"/>
          </a:xfrm>
          <a:prstGeom prst="line">
            <a:avLst/>
          </a:prstGeom>
          <a:noFill/>
          <a:ln w="9525">
            <a:solidFill>
              <a:srgbClr val="D9D9D4"/>
            </a:solidFill>
            <a:prstDash val="solid"/>
          </a:ln>
        </p:spPr>
      </p:sp>
      <p:sp>
        <p:nvSpPr>
          <p:cNvPr id="9" name="Text 7"/>
          <p:cNvSpPr txBox="1"/>
          <p:nvPr/>
        </p:nvSpPr>
        <p:spPr>
          <a:xfrm>
            <a:off x="822960" y="461772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01</a:t>
            </a:r>
            <a:endParaRPr lang="en-US" sz="1200" dirty="0"/>
          </a:p>
        </p:txBody>
      </p:sp>
      <p:sp>
        <p:nvSpPr>
          <p:cNvPr id="10" name="Text 8"/>
          <p:cNvSpPr txBox="1"/>
          <p:nvPr/>
        </p:nvSpPr>
        <p:spPr>
          <a:xfrm>
            <a:off x="1371600" y="461772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Todos los fármacos implicados comparten un punto de partida: inhiben la entrada de cationes y reducen el folato celular.</a:t>
            </a:r>
            <a:endParaRPr lang="en-US" sz="1250" dirty="0"/>
          </a:p>
        </p:txBody>
      </p:sp>
      <p:sp>
        <p:nvSpPr>
          <p:cNvPr id="11" name="Shape 9"/>
          <p:cNvSpPr/>
          <p:nvPr/>
        </p:nvSpPr>
        <p:spPr>
          <a:xfrm>
            <a:off x="822960" y="5047488"/>
            <a:ext cx="10545775" cy="0"/>
          </a:xfrm>
          <a:prstGeom prst="line">
            <a:avLst/>
          </a:prstGeom>
          <a:noFill/>
          <a:ln w="9525">
            <a:solidFill>
              <a:srgbClr val="D9D9D4"/>
            </a:solidFill>
            <a:prstDash val="solid"/>
          </a:ln>
        </p:spPr>
      </p:sp>
      <p:sp>
        <p:nvSpPr>
          <p:cNvPr id="12" name="Text 10"/>
          <p:cNvSpPr txBox="1"/>
          <p:nvPr/>
        </p:nvSpPr>
        <p:spPr>
          <a:xfrm>
            <a:off x="822960" y="512064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02</a:t>
            </a:r>
            <a:endParaRPr lang="en-US" sz="1200" dirty="0"/>
          </a:p>
        </p:txBody>
      </p:sp>
      <p:sp>
        <p:nvSpPr>
          <p:cNvPr id="13" name="Text 11"/>
          <p:cNvSpPr txBox="1"/>
          <p:nvPr/>
        </p:nvSpPr>
        <p:spPr>
          <a:xfrm>
            <a:off x="1371600" y="512064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La inflamación por placa no es un acompañante: amplifica la vía bioquímica. Por eso el control de placa es la base de cualquier tratamiento.</a:t>
            </a:r>
            <a:endParaRPr lang="en-US" sz="1250" dirty="0"/>
          </a:p>
        </p:txBody>
      </p:sp>
      <p:sp>
        <p:nvSpPr>
          <p:cNvPr id="14" name="Shape 12"/>
          <p:cNvSpPr/>
          <p:nvPr/>
        </p:nvSpPr>
        <p:spPr>
          <a:xfrm>
            <a:off x="822960" y="5550408"/>
            <a:ext cx="10545775" cy="0"/>
          </a:xfrm>
          <a:prstGeom prst="line">
            <a:avLst/>
          </a:prstGeom>
          <a:noFill/>
          <a:ln w="9525">
            <a:solidFill>
              <a:srgbClr val="D9D9D4"/>
            </a:solidFill>
            <a:prstDash val="solid"/>
          </a:ln>
        </p:spPr>
      </p:sp>
      <p:sp>
        <p:nvSpPr>
          <p:cNvPr id="15" name="Text 13"/>
          <p:cNvSpPr txBox="1"/>
          <p:nvPr/>
        </p:nvSpPr>
        <p:spPr>
          <a:xfrm>
            <a:off x="822960" y="562356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03</a:t>
            </a:r>
            <a:endParaRPr lang="en-US" sz="1200" dirty="0"/>
          </a:p>
        </p:txBody>
      </p:sp>
      <p:sp>
        <p:nvSpPr>
          <p:cNvPr id="16" name="Text 14"/>
          <p:cNvSpPr txBox="1"/>
          <p:nvPr/>
        </p:nvSpPr>
        <p:spPr>
          <a:xfrm>
            <a:off x="1371600" y="562356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Es una revisión narrativa: útil para entender, insuficiente para cuantificar.</a:t>
            </a:r>
            <a:endParaRPr lang="en-US" sz="1250" dirty="0"/>
          </a:p>
        </p:txBody>
      </p:sp>
      <p:sp>
        <p:nvSpPr>
          <p:cNvPr id="17" name="Text 15"/>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10 / 28</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1F"/>
        </a:solidFill>
      </p:bgPr>
    </p:bg>
    <p:spTree>
      <p:nvGrpSpPr>
        <p:cNvPr id="1" name=""/>
        <p:cNvGrpSpPr/>
        <p:nvPr/>
      </p:nvGrpSpPr>
      <p:grpSpPr>
        <a:xfrm>
          <a:off x="0" y="0"/>
          <a:ext cx="0" cy="0"/>
          <a:chOff x="0" y="0"/>
          <a:chExt cx="0" cy="0"/>
        </a:xfrm>
      </p:grpSpPr>
      <p:sp>
        <p:nvSpPr>
          <p:cNvPr id="2" name="Text 0"/>
          <p:cNvSpPr txBox="1"/>
          <p:nvPr/>
        </p:nvSpPr>
        <p:spPr>
          <a:xfrm>
            <a:off x="822960" y="822960"/>
            <a:ext cx="4572000" cy="274320"/>
          </a:xfrm>
          <a:prstGeom prst="rect">
            <a:avLst/>
          </a:prstGeom>
          <a:noFill/>
          <a:ln/>
        </p:spPr>
        <p:txBody>
          <a:bodyPr wrap="square" lIns="0" tIns="0" rIns="0" bIns="0" rtlCol="0" anchor="t"/>
          <a:lstStyle/>
          <a:p>
            <a:pPr indent="0" marL="0">
              <a:buNone/>
            </a:pPr>
            <a:r>
              <a:rPr lang="en-US" sz="1200" dirty="0">
                <a:solidFill>
                  <a:srgbClr val="9DBBF3"/>
                </a:solidFill>
                <a:latin typeface="Courier New" pitchFamily="34" charset="0"/>
                <a:ea typeface="Courier New" pitchFamily="34" charset="-122"/>
                <a:cs typeface="Courier New" pitchFamily="34" charset="-120"/>
              </a:rPr>
              <a:t>Artículo 2 de 3</a:t>
            </a:r>
            <a:endParaRPr lang="en-US" sz="1200" dirty="0"/>
          </a:p>
        </p:txBody>
      </p:sp>
      <p:sp>
        <p:nvSpPr>
          <p:cNvPr id="3" name="Text 1"/>
          <p:cNvSpPr txBox="1"/>
          <p:nvPr/>
        </p:nvSpPr>
        <p:spPr>
          <a:xfrm>
            <a:off x="5882335" y="822960"/>
            <a:ext cx="5486400" cy="274320"/>
          </a:xfrm>
          <a:prstGeom prst="rect">
            <a:avLst/>
          </a:prstGeom>
          <a:noFill/>
          <a:ln/>
        </p:spPr>
        <p:txBody>
          <a:bodyPr wrap="square" lIns="0" tIns="0" rIns="0" bIns="0" rtlCol="0" anchor="t"/>
          <a:lstStyle/>
          <a:p>
            <a:pPr algn="r" indent="0" marL="0">
              <a:buNone/>
            </a:pPr>
            <a:r>
              <a:rPr lang="en-US" sz="1200" dirty="0">
                <a:solidFill>
                  <a:srgbClr val="B3B8BD"/>
                </a:solidFill>
                <a:latin typeface="Courier New" pitchFamily="34" charset="0"/>
                <a:ea typeface="Courier New" pitchFamily="34" charset="-122"/>
                <a:cs typeface="Courier New" pitchFamily="34" charset="-120"/>
              </a:rPr>
              <a:t>Estudio original de farmacovigilancia</a:t>
            </a:r>
            <a:endParaRPr lang="en-US" sz="1200" dirty="0"/>
          </a:p>
        </p:txBody>
      </p:sp>
      <p:sp>
        <p:nvSpPr>
          <p:cNvPr id="4" name="Text 2"/>
          <p:cNvSpPr txBox="1"/>
          <p:nvPr/>
        </p:nvSpPr>
        <p:spPr>
          <a:xfrm>
            <a:off x="822960" y="1920240"/>
            <a:ext cx="10241280" cy="1554480"/>
          </a:xfrm>
          <a:prstGeom prst="rect">
            <a:avLst/>
          </a:prstGeom>
          <a:noFill/>
          <a:ln/>
        </p:spPr>
        <p:txBody>
          <a:bodyPr wrap="square" lIns="0" tIns="0" rIns="0" bIns="0" rtlCol="0" anchor="t"/>
          <a:lstStyle/>
          <a:p>
            <a:pPr indent="0" marL="0">
              <a:lnSpc>
                <a:spcPct val="105000"/>
              </a:lnSpc>
              <a:buNone/>
            </a:pPr>
            <a:r>
              <a:rPr lang="en-US" sz="3200" i="1" dirty="0">
                <a:solidFill>
                  <a:srgbClr val="F4F4F1"/>
                </a:solidFill>
                <a:latin typeface="Cambria" pitchFamily="34" charset="0"/>
                <a:ea typeface="Cambria" pitchFamily="34" charset="-122"/>
                <a:cs typeface="Cambria" pitchFamily="34" charset="-120"/>
              </a:rPr>
              <a:t>Drug-induced gingival overgrowth: FAERS based real-world pharmacovigilance study and network pharmacology analysis</a:t>
            </a:r>
            <a:endParaRPr lang="en-US" sz="3200" dirty="0"/>
          </a:p>
        </p:txBody>
      </p:sp>
      <p:sp>
        <p:nvSpPr>
          <p:cNvPr id="5" name="Text 3"/>
          <p:cNvSpPr txBox="1"/>
          <p:nvPr/>
        </p:nvSpPr>
        <p:spPr>
          <a:xfrm>
            <a:off x="822960" y="3611880"/>
            <a:ext cx="9601200" cy="457200"/>
          </a:xfrm>
          <a:prstGeom prst="rect">
            <a:avLst/>
          </a:prstGeom>
          <a:noFill/>
          <a:ln/>
        </p:spPr>
        <p:txBody>
          <a:bodyPr wrap="square" lIns="0" tIns="0" rIns="0" bIns="0" rtlCol="0" anchor="t"/>
          <a:lstStyle/>
          <a:p>
            <a:pPr indent="0" marL="0">
              <a:lnSpc>
                <a:spcPct val="120000"/>
              </a:lnSpc>
              <a:buNone/>
            </a:pPr>
            <a:r>
              <a:rPr lang="en-US" sz="1400" dirty="0">
                <a:solidFill>
                  <a:srgbClr val="F4F4F1"/>
                </a:solidFill>
                <a:latin typeface="Calibri" pitchFamily="34" charset="0"/>
                <a:ea typeface="Calibri" pitchFamily="34" charset="-122"/>
                <a:cs typeface="Calibri" pitchFamily="34" charset="-120"/>
              </a:rPr>
              <a:t>Qingxia Zhu, Zebing Wu, Xianting Jiao, Lu Han, Yongfang Yuan</a:t>
            </a:r>
            <a:endParaRPr lang="en-US" sz="1400" dirty="0"/>
          </a:p>
        </p:txBody>
      </p:sp>
      <p:sp>
        <p:nvSpPr>
          <p:cNvPr id="6" name="Text 4"/>
          <p:cNvSpPr txBox="1"/>
          <p:nvPr/>
        </p:nvSpPr>
        <p:spPr>
          <a:xfrm>
            <a:off x="822960" y="4114800"/>
            <a:ext cx="9601200" cy="274320"/>
          </a:xfrm>
          <a:prstGeom prst="rect">
            <a:avLst/>
          </a:prstGeom>
          <a:noFill/>
          <a:ln/>
        </p:spPr>
        <p:txBody>
          <a:bodyPr wrap="square" lIns="0" tIns="0" rIns="0" bIns="0" rtlCol="0" anchor="t"/>
          <a:lstStyle/>
          <a:p>
            <a:pPr indent="0" marL="0">
              <a:buNone/>
            </a:pPr>
            <a:r>
              <a:rPr lang="en-US" sz="1300" dirty="0">
                <a:solidFill>
                  <a:srgbClr val="B3B8BD"/>
                </a:solidFill>
                <a:latin typeface="Calibri" pitchFamily="34" charset="0"/>
                <a:ea typeface="Calibri" pitchFamily="34" charset="-122"/>
                <a:cs typeface="Calibri" pitchFamily="34" charset="-120"/>
              </a:rPr>
              <a:t>Frontiers in Pharmacology, 2026; 17: 1775430. Publicado el 2 de abril de 2026.</a:t>
            </a:r>
            <a:endParaRPr lang="en-US" sz="1300" dirty="0"/>
          </a:p>
        </p:txBody>
      </p:sp>
      <p:sp>
        <p:nvSpPr>
          <p:cNvPr id="7" name="Shape 5"/>
          <p:cNvSpPr/>
          <p:nvPr/>
        </p:nvSpPr>
        <p:spPr>
          <a:xfrm>
            <a:off x="822960" y="5257800"/>
            <a:ext cx="10545775" cy="0"/>
          </a:xfrm>
          <a:prstGeom prst="line">
            <a:avLst/>
          </a:prstGeom>
          <a:noFill/>
          <a:ln w="9525">
            <a:solidFill>
              <a:srgbClr val="3A3F44"/>
            </a:solidFill>
            <a:prstDash val="solid"/>
          </a:ln>
        </p:spPr>
      </p:sp>
      <p:sp>
        <p:nvSpPr>
          <p:cNvPr id="8" name="Text 6"/>
          <p:cNvSpPr txBox="1"/>
          <p:nvPr/>
        </p:nvSpPr>
        <p:spPr>
          <a:xfrm>
            <a:off x="822960" y="5376672"/>
            <a:ext cx="3657600" cy="228600"/>
          </a:xfrm>
          <a:prstGeom prst="rect">
            <a:avLst/>
          </a:prstGeom>
          <a:noFill/>
          <a:ln/>
        </p:spPr>
        <p:txBody>
          <a:bodyPr wrap="square" lIns="0" tIns="0" rIns="0" bIns="0" rtlCol="0" anchor="t"/>
          <a:lstStyle/>
          <a:p>
            <a:pPr indent="0" marL="0">
              <a:buNone/>
            </a:pPr>
            <a:r>
              <a:rPr lang="en-US" sz="1100" dirty="0">
                <a:solidFill>
                  <a:srgbClr val="B3B8BD"/>
                </a:solidFill>
                <a:latin typeface="Courier New" pitchFamily="34" charset="0"/>
                <a:ea typeface="Courier New" pitchFamily="34" charset="-122"/>
                <a:cs typeface="Courier New" pitchFamily="34" charset="-120"/>
              </a:rPr>
              <a:t>Referencia</a:t>
            </a:r>
            <a:endParaRPr lang="en-US" sz="1100" dirty="0"/>
          </a:p>
        </p:txBody>
      </p:sp>
      <p:sp>
        <p:nvSpPr>
          <p:cNvPr id="9" name="Text 7"/>
          <p:cNvSpPr txBox="1"/>
          <p:nvPr/>
        </p:nvSpPr>
        <p:spPr>
          <a:xfrm>
            <a:off x="822960" y="5623560"/>
            <a:ext cx="10545775" cy="548640"/>
          </a:xfrm>
          <a:prstGeom prst="rect">
            <a:avLst/>
          </a:prstGeom>
          <a:noFill/>
          <a:ln/>
        </p:spPr>
        <p:txBody>
          <a:bodyPr wrap="square" lIns="0" tIns="0" rIns="0" bIns="0" rtlCol="0" anchor="t"/>
          <a:lstStyle/>
          <a:p>
            <a:pPr indent="0" marL="0">
              <a:lnSpc>
                <a:spcPct val="120000"/>
              </a:lnSpc>
              <a:buNone/>
            </a:pPr>
            <a:r>
              <a:rPr lang="en-US" sz="1200" dirty="0">
                <a:solidFill>
                  <a:srgbClr val="F4F4F1"/>
                </a:solidFill>
                <a:latin typeface="Calibri" pitchFamily="34" charset="0"/>
                <a:ea typeface="Calibri" pitchFamily="34" charset="-122"/>
                <a:cs typeface="Calibri" pitchFamily="34" charset="-120"/>
              </a:rPr>
              <a:t>Zhu Q, Wu Z, Jiao X, Han L, Yuan Y. Drug-induced gingival overgrowth: FAERS based real-world pharmacovigilance study and network pharmacology analysis. Front Pharmacol. 2026;17:1775430. doi:10.3389/fphar.2026.1775430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Resumen</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Zhu et al. 2026, Frontiers in Pharmacology</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Veintiún años de reportes reales jerarquizan el riesgo por clase</a:t>
            </a:r>
            <a:endParaRPr lang="en-US" sz="3600" dirty="0"/>
          </a:p>
        </p:txBody>
      </p:sp>
      <p:sp>
        <p:nvSpPr>
          <p:cNvPr id="6" name="Text 4"/>
          <p:cNvSpPr txBox="1"/>
          <p:nvPr/>
        </p:nvSpPr>
        <p:spPr>
          <a:xfrm>
            <a:off x="822960" y="2514600"/>
            <a:ext cx="4114800" cy="1463040"/>
          </a:xfrm>
          <a:prstGeom prst="rect">
            <a:avLst/>
          </a:prstGeom>
          <a:noFill/>
          <a:ln/>
        </p:spPr>
        <p:txBody>
          <a:bodyPr wrap="square" lIns="0" tIns="0" rIns="0" bIns="0" rtlCol="0" anchor="t"/>
          <a:lstStyle/>
          <a:p>
            <a:pPr indent="0" marL="0">
              <a:lnSpc>
                <a:spcPct val="110000"/>
              </a:lnSpc>
              <a:buNone/>
            </a:pPr>
            <a:r>
              <a:rPr lang="en-US" sz="1900" i="1" dirty="0">
                <a:solidFill>
                  <a:srgbClr val="1A1D1F"/>
                </a:solidFill>
                <a:latin typeface="Cambria" pitchFamily="34" charset="0"/>
                <a:ea typeface="Cambria" pitchFamily="34" charset="-122"/>
                <a:cs typeface="Cambria" pitchFamily="34" charset="-120"/>
              </a:rPr>
              <a:t>Drug-induced gingival overgrowth: FAERS based real-world pharmacovigilance study and network pharmacology analysis</a:t>
            </a:r>
            <a:endParaRPr lang="en-US" sz="1900" dirty="0"/>
          </a:p>
        </p:txBody>
      </p:sp>
      <p:sp>
        <p:nvSpPr>
          <p:cNvPr id="7" name="Text 5"/>
          <p:cNvSpPr txBox="1"/>
          <p:nvPr/>
        </p:nvSpPr>
        <p:spPr>
          <a:xfrm>
            <a:off x="822960" y="4069080"/>
            <a:ext cx="4114800" cy="914400"/>
          </a:xfrm>
          <a:prstGeom prst="rect">
            <a:avLst/>
          </a:prstGeom>
          <a:noFill/>
          <a:ln/>
        </p:spPr>
        <p:txBody>
          <a:bodyPr wrap="square" lIns="0" tIns="0" rIns="0" bIns="0" rtlCol="0" anchor="t"/>
          <a:lstStyle/>
          <a:p>
            <a:pPr indent="0" marL="0">
              <a:lnSpc>
                <a:spcPct val="120000"/>
              </a:lnSpc>
              <a:buNone/>
            </a:pPr>
            <a:r>
              <a:rPr lang="en-US" sz="1200" dirty="0">
                <a:solidFill>
                  <a:srgbClr val="3B4045"/>
                </a:solidFill>
                <a:latin typeface="Calibri" pitchFamily="34" charset="0"/>
                <a:ea typeface="Calibri" pitchFamily="34" charset="-122"/>
                <a:cs typeface="Calibri" pitchFamily="34" charset="-120"/>
              </a:rPr>
              <a:t>Qingxia Zhu, Zebing Wu, Xianting Jiao, Lu Han, Yongfang Yuan. Shanghai Ninth People's Hospital y Xinhua Hospital, Shanghai Jiao Tong University.</a:t>
            </a:r>
            <a:endParaRPr lang="en-US" sz="1200" dirty="0"/>
          </a:p>
        </p:txBody>
      </p:sp>
      <p:sp>
        <p:nvSpPr>
          <p:cNvPr id="8" name="Text 6"/>
          <p:cNvSpPr txBox="1"/>
          <p:nvPr/>
        </p:nvSpPr>
        <p:spPr>
          <a:xfrm>
            <a:off x="822960" y="5029200"/>
            <a:ext cx="4114800"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Frontiers in Pharmacology, 17:1775430, abril de 2026</a:t>
            </a:r>
            <a:endParaRPr lang="en-US" sz="1050" dirty="0"/>
          </a:p>
        </p:txBody>
      </p:sp>
      <p:sp>
        <p:nvSpPr>
          <p:cNvPr id="9" name="Text 7"/>
          <p:cNvSpPr txBox="1"/>
          <p:nvPr/>
        </p:nvSpPr>
        <p:spPr>
          <a:xfrm>
            <a:off x="822960" y="5257800"/>
            <a:ext cx="4114800"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doi 10.3389/fphar.2026.1775430</a:t>
            </a:r>
            <a:endParaRPr lang="en-US" sz="1050" dirty="0"/>
          </a:p>
        </p:txBody>
      </p:sp>
      <p:sp>
        <p:nvSpPr>
          <p:cNvPr id="10" name="Text 8"/>
          <p:cNvSpPr txBox="1"/>
          <p:nvPr/>
        </p:nvSpPr>
        <p:spPr>
          <a:xfrm>
            <a:off x="5486400" y="2514600"/>
            <a:ext cx="1280160" cy="70180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Objetivo</a:t>
            </a:r>
            <a:endParaRPr lang="en-US" sz="1200" dirty="0"/>
          </a:p>
        </p:txBody>
      </p:sp>
      <p:sp>
        <p:nvSpPr>
          <p:cNvPr id="11" name="Text 9"/>
          <p:cNvSpPr txBox="1"/>
          <p:nvPr/>
        </p:nvSpPr>
        <p:spPr>
          <a:xfrm>
            <a:off x="6858000" y="2514600"/>
            <a:ext cx="4510735" cy="70180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Ante una patogenia poco clara y alta recurrencia, identificar los fármacos asociados en la base FAERS y validar las señales con regresión logística multivariada.</a:t>
            </a:r>
            <a:endParaRPr lang="en-US" sz="1250" dirty="0"/>
          </a:p>
        </p:txBody>
      </p:sp>
      <p:sp>
        <p:nvSpPr>
          <p:cNvPr id="12" name="Shape 10"/>
          <p:cNvSpPr/>
          <p:nvPr/>
        </p:nvSpPr>
        <p:spPr>
          <a:xfrm>
            <a:off x="5486400" y="3326130"/>
            <a:ext cx="5882335" cy="0"/>
          </a:xfrm>
          <a:prstGeom prst="line">
            <a:avLst/>
          </a:prstGeom>
          <a:noFill/>
          <a:ln w="9525">
            <a:solidFill>
              <a:srgbClr val="D9D9D4"/>
            </a:solidFill>
            <a:prstDash val="solid"/>
          </a:ln>
        </p:spPr>
      </p:sp>
      <p:sp>
        <p:nvSpPr>
          <p:cNvPr id="13" name="Text 11"/>
          <p:cNvSpPr txBox="1"/>
          <p:nvPr/>
        </p:nvSpPr>
        <p:spPr>
          <a:xfrm>
            <a:off x="5486400" y="3454146"/>
            <a:ext cx="1280160" cy="70180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Métodos</a:t>
            </a:r>
            <a:endParaRPr lang="en-US" sz="1200" dirty="0"/>
          </a:p>
        </p:txBody>
      </p:sp>
      <p:sp>
        <p:nvSpPr>
          <p:cNvPr id="14" name="Text 12"/>
          <p:cNvSpPr txBox="1"/>
          <p:nvPr/>
        </p:nvSpPr>
        <p:spPr>
          <a:xfrm>
            <a:off x="6858000" y="3454146"/>
            <a:ext cx="4510735" cy="70180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Desproporcionalidad con ROR, PRR, BCPNN y MGPS; Fisher con corrección FDR; regresión logística; tiempo hasta el inicio; farmacología de redes con GO y KEGG.</a:t>
            </a:r>
            <a:endParaRPr lang="en-US" sz="1250" dirty="0"/>
          </a:p>
        </p:txBody>
      </p:sp>
      <p:sp>
        <p:nvSpPr>
          <p:cNvPr id="15" name="Shape 13"/>
          <p:cNvSpPr/>
          <p:nvPr/>
        </p:nvSpPr>
        <p:spPr>
          <a:xfrm>
            <a:off x="5486400" y="4265676"/>
            <a:ext cx="5882335" cy="0"/>
          </a:xfrm>
          <a:prstGeom prst="line">
            <a:avLst/>
          </a:prstGeom>
          <a:noFill/>
          <a:ln w="9525">
            <a:solidFill>
              <a:srgbClr val="D9D9D4"/>
            </a:solidFill>
            <a:prstDash val="solid"/>
          </a:ln>
        </p:spPr>
      </p:sp>
      <p:sp>
        <p:nvSpPr>
          <p:cNvPr id="16" name="Text 14"/>
          <p:cNvSpPr txBox="1"/>
          <p:nvPr/>
        </p:nvSpPr>
        <p:spPr>
          <a:xfrm>
            <a:off x="5486400" y="4393692"/>
            <a:ext cx="1280160" cy="91135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Resultados</a:t>
            </a:r>
            <a:endParaRPr lang="en-US" sz="1200" dirty="0"/>
          </a:p>
        </p:txBody>
      </p:sp>
      <p:sp>
        <p:nvSpPr>
          <p:cNvPr id="17" name="Text 15"/>
          <p:cNvSpPr txBox="1"/>
          <p:nvPr/>
        </p:nvSpPr>
        <p:spPr>
          <a:xfrm>
            <a:off x="6858000" y="4393692"/>
            <a:ext cx="4510735" cy="91135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22.375.298 reportes; 1.835 casos. Asociación significativa de bifosfonatos, bloqueantes de calcio, inmunosupresores y antiepilépticos. Ácido zoledrónico ROR 3,23; pamidronato ROR 5,33.</a:t>
            </a:r>
            <a:endParaRPr lang="en-US" sz="1250" dirty="0"/>
          </a:p>
        </p:txBody>
      </p:sp>
      <p:sp>
        <p:nvSpPr>
          <p:cNvPr id="18" name="Shape 16"/>
          <p:cNvSpPr/>
          <p:nvPr/>
        </p:nvSpPr>
        <p:spPr>
          <a:xfrm>
            <a:off x="5486400" y="5414772"/>
            <a:ext cx="5882335" cy="0"/>
          </a:xfrm>
          <a:prstGeom prst="line">
            <a:avLst/>
          </a:prstGeom>
          <a:noFill/>
          <a:ln w="9525">
            <a:solidFill>
              <a:srgbClr val="D9D9D4"/>
            </a:solidFill>
            <a:prstDash val="solid"/>
          </a:ln>
        </p:spPr>
      </p:sp>
      <p:sp>
        <p:nvSpPr>
          <p:cNvPr id="19" name="Text 17"/>
          <p:cNvSpPr txBox="1"/>
          <p:nvPr/>
        </p:nvSpPr>
        <p:spPr>
          <a:xfrm>
            <a:off x="5486400" y="5542788"/>
            <a:ext cx="1280160" cy="91135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Conclusión</a:t>
            </a:r>
            <a:endParaRPr lang="en-US" sz="1200" dirty="0"/>
          </a:p>
        </p:txBody>
      </p:sp>
      <p:sp>
        <p:nvSpPr>
          <p:cNvPr id="20" name="Text 18"/>
          <p:cNvSpPr txBox="1"/>
          <p:nvPr/>
        </p:nvSpPr>
        <p:spPr>
          <a:xfrm>
            <a:off x="6858000" y="5542788"/>
            <a:ext cx="4510735" cy="91135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Los bloqueantes de calcio tienen el mayor riesgo, seguidos de inmunosupresores y antiepilépticos. Los bifosfonatos se asocian al problema, quizá por las vías PI3K-AKT y MAPK.</a:t>
            </a:r>
            <a:endParaRPr lang="en-US" sz="1250" dirty="0"/>
          </a:p>
        </p:txBody>
      </p:sp>
      <p:sp>
        <p:nvSpPr>
          <p:cNvPr id="21" name="Text 19"/>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12 / 28</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Materiales y métodos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Zhu et al. 2026, Frontiers in Pharmacology</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Cuatro métodos de desproporcionalidad y un modelo ajustado sobre la base FAERS</a:t>
            </a:r>
            <a:endParaRPr lang="en-US" sz="3600" dirty="0"/>
          </a:p>
        </p:txBody>
      </p:sp>
      <p:pic>
        <p:nvPicPr>
          <p:cNvPr id="6" name="Image 0" descr="/tmp/claude-0/-home-user-sondeo-caiena/ef64ae7b-88f9-53ed-bf0b-68d0a9f6b61e/scratchpad/img/zhu_fig1_flujo.png">    </p:cNvPr>
          <p:cNvPicPr>
            <a:picLocks noChangeAspect="1"/>
          </p:cNvPicPr>
          <p:nvPr/>
        </p:nvPicPr>
        <p:blipFill>
          <a:blip r:embed="rId1"/>
          <a:srcRect l="0" r="0" t="0" b="0"/>
          <a:stretch/>
        </p:blipFill>
        <p:spPr>
          <a:xfrm>
            <a:off x="822960" y="2514600"/>
            <a:ext cx="4937760" cy="2743200"/>
          </a:xfrm>
          <a:prstGeom prst="rect">
            <a:avLst/>
          </a:prstGeom>
        </p:spPr>
      </p:pic>
      <p:sp>
        <p:nvSpPr>
          <p:cNvPr id="7" name="Text 4"/>
          <p:cNvSpPr txBox="1"/>
          <p:nvPr/>
        </p:nvSpPr>
        <p:spPr>
          <a:xfrm>
            <a:off x="822960" y="5303520"/>
            <a:ext cx="4937760"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Flujo del estudio. Zhu et al. 2026, figura 1</a:t>
            </a:r>
            <a:endParaRPr lang="en-US" sz="1050" dirty="0"/>
          </a:p>
        </p:txBody>
      </p:sp>
      <p:sp>
        <p:nvSpPr>
          <p:cNvPr id="8" name="Text 5"/>
          <p:cNvSpPr txBox="1"/>
          <p:nvPr/>
        </p:nvSpPr>
        <p:spPr>
          <a:xfrm>
            <a:off x="6126480" y="2514600"/>
            <a:ext cx="1097280" cy="84429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Fuente</a:t>
            </a:r>
            <a:endParaRPr lang="en-US" sz="1200" dirty="0"/>
          </a:p>
        </p:txBody>
      </p:sp>
      <p:sp>
        <p:nvSpPr>
          <p:cNvPr id="9" name="Text 6"/>
          <p:cNvSpPr txBox="1"/>
          <p:nvPr/>
        </p:nvSpPr>
        <p:spPr>
          <a:xfrm>
            <a:off x="7315200" y="2514600"/>
            <a:ext cx="4053535" cy="844296"/>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FAERS, sistema de notificación espontánea de la FDA. 84 trimestres, 2004 a 2024. Deduplicación según la FDA, términos MedDRA 27.1, sólo fármacos con «sospecha primaria».</a:t>
            </a:r>
            <a:endParaRPr lang="en-US" sz="1150" dirty="0"/>
          </a:p>
        </p:txBody>
      </p:sp>
      <p:sp>
        <p:nvSpPr>
          <p:cNvPr id="10" name="Shape 7"/>
          <p:cNvSpPr/>
          <p:nvPr/>
        </p:nvSpPr>
        <p:spPr>
          <a:xfrm>
            <a:off x="6126480" y="3468624"/>
            <a:ext cx="5242255" cy="0"/>
          </a:xfrm>
          <a:prstGeom prst="line">
            <a:avLst/>
          </a:prstGeom>
          <a:noFill/>
          <a:ln w="9525">
            <a:solidFill>
              <a:srgbClr val="D9D9D4"/>
            </a:solidFill>
            <a:prstDash val="solid"/>
          </a:ln>
        </p:spPr>
      </p:sp>
      <p:sp>
        <p:nvSpPr>
          <p:cNvPr id="11" name="Text 8"/>
          <p:cNvSpPr txBox="1"/>
          <p:nvPr/>
        </p:nvSpPr>
        <p:spPr>
          <a:xfrm>
            <a:off x="6126480" y="3596640"/>
            <a:ext cx="1097280" cy="84429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Señal</a:t>
            </a:r>
            <a:endParaRPr lang="en-US" sz="1200" dirty="0"/>
          </a:p>
        </p:txBody>
      </p:sp>
      <p:sp>
        <p:nvSpPr>
          <p:cNvPr id="12" name="Text 9"/>
          <p:cNvSpPr txBox="1"/>
          <p:nvPr/>
        </p:nvSpPr>
        <p:spPr>
          <a:xfrm>
            <a:off x="7315200" y="3596640"/>
            <a:ext cx="4053535" cy="844296"/>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ROR positivo: 3 o más casos e IC 95 % inferior mayor que 1. PRR positivo: 3 o más casos, PRR de 2 o más y χ² de 4 o más. Además BCPNN y MGPS, Fisher exacto y corrección FDR.</a:t>
            </a:r>
            <a:endParaRPr lang="en-US" sz="1150" dirty="0"/>
          </a:p>
        </p:txBody>
      </p:sp>
      <p:sp>
        <p:nvSpPr>
          <p:cNvPr id="13" name="Shape 10"/>
          <p:cNvSpPr/>
          <p:nvPr/>
        </p:nvSpPr>
        <p:spPr>
          <a:xfrm>
            <a:off x="6126480" y="4550664"/>
            <a:ext cx="5242255" cy="0"/>
          </a:xfrm>
          <a:prstGeom prst="line">
            <a:avLst/>
          </a:prstGeom>
          <a:noFill/>
          <a:ln w="9525">
            <a:solidFill>
              <a:srgbClr val="D9D9D4"/>
            </a:solidFill>
            <a:prstDash val="solid"/>
          </a:ln>
        </p:spPr>
      </p:sp>
      <p:sp>
        <p:nvSpPr>
          <p:cNvPr id="14" name="Text 11"/>
          <p:cNvSpPr txBox="1"/>
          <p:nvPr/>
        </p:nvSpPr>
        <p:spPr>
          <a:xfrm>
            <a:off x="6126480" y="4678680"/>
            <a:ext cx="1097280" cy="84429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Validación</a:t>
            </a:r>
            <a:endParaRPr lang="en-US" sz="1200" dirty="0"/>
          </a:p>
        </p:txBody>
      </p:sp>
      <p:sp>
        <p:nvSpPr>
          <p:cNvPr id="15" name="Text 12"/>
          <p:cNvSpPr txBox="1"/>
          <p:nvPr/>
        </p:nvSpPr>
        <p:spPr>
          <a:xfrm>
            <a:off x="7315200" y="4678680"/>
            <a:ext cx="4053535" cy="844296"/>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Regresión logística uni y multivariada en 11.145 casos de lesión gingival: edad, sexo, peso, región y clase del fármaco. C-index, ROC, calibración y curva de decisión.</a:t>
            </a:r>
            <a:endParaRPr lang="en-US" sz="1150" dirty="0"/>
          </a:p>
        </p:txBody>
      </p:sp>
      <p:sp>
        <p:nvSpPr>
          <p:cNvPr id="16" name="Shape 13"/>
          <p:cNvSpPr/>
          <p:nvPr/>
        </p:nvSpPr>
        <p:spPr>
          <a:xfrm>
            <a:off x="6126480" y="5632704"/>
            <a:ext cx="5242255" cy="0"/>
          </a:xfrm>
          <a:prstGeom prst="line">
            <a:avLst/>
          </a:prstGeom>
          <a:noFill/>
          <a:ln w="9525">
            <a:solidFill>
              <a:srgbClr val="D9D9D4"/>
            </a:solidFill>
            <a:prstDash val="solid"/>
          </a:ln>
        </p:spPr>
      </p:sp>
      <p:sp>
        <p:nvSpPr>
          <p:cNvPr id="17" name="Text 14"/>
          <p:cNvSpPr txBox="1"/>
          <p:nvPr/>
        </p:nvSpPr>
        <p:spPr>
          <a:xfrm>
            <a:off x="6126480" y="5760720"/>
            <a:ext cx="1097280" cy="84429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Redes</a:t>
            </a:r>
            <a:endParaRPr lang="en-US" sz="1200" dirty="0"/>
          </a:p>
        </p:txBody>
      </p:sp>
      <p:sp>
        <p:nvSpPr>
          <p:cNvPr id="18" name="Text 15"/>
          <p:cNvSpPr txBox="1"/>
          <p:nvPr/>
        </p:nvSpPr>
        <p:spPr>
          <a:xfrm>
            <a:off x="7315200" y="5760720"/>
            <a:ext cx="4053535" cy="844296"/>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Ácido zoledrónico como ejemplo: blancos de ChEMBL y STITCH; genes de la enfermedad en GeneCards y OMIM; red PPI en STRING y Cytoscape; enriquecimiento GO y KEGG, p &lt; 0,05.</a:t>
            </a:r>
            <a:endParaRPr lang="en-US" sz="1150" dirty="0"/>
          </a:p>
        </p:txBody>
      </p:sp>
      <p:sp>
        <p:nvSpPr>
          <p:cNvPr id="19" name="Shape 16"/>
          <p:cNvSpPr/>
          <p:nvPr/>
        </p:nvSpPr>
        <p:spPr>
          <a:xfrm>
            <a:off x="822960" y="5504688"/>
            <a:ext cx="4937760" cy="0"/>
          </a:xfrm>
          <a:prstGeom prst="line">
            <a:avLst/>
          </a:prstGeom>
          <a:noFill/>
          <a:ln w="9525">
            <a:solidFill>
              <a:srgbClr val="D9D9D4"/>
            </a:solidFill>
            <a:prstDash val="solid"/>
          </a:ln>
        </p:spPr>
      </p:sp>
      <p:sp>
        <p:nvSpPr>
          <p:cNvPr id="20" name="Text 17"/>
          <p:cNvSpPr txBox="1"/>
          <p:nvPr/>
        </p:nvSpPr>
        <p:spPr>
          <a:xfrm>
            <a:off x="822960" y="5577840"/>
            <a:ext cx="4937760" cy="548640"/>
          </a:xfrm>
          <a:prstGeom prst="rect">
            <a:avLst/>
          </a:prstGeom>
          <a:noFill/>
          <a:ln/>
        </p:spPr>
        <p:txBody>
          <a:bodyPr wrap="square" lIns="0" tIns="0" rIns="0" bIns="0" rtlCol="0" anchor="t"/>
          <a:lstStyle/>
          <a:p>
            <a:pPr indent="0" marL="0">
              <a:lnSpc>
                <a:spcPct val="115000"/>
              </a:lnSpc>
              <a:buNone/>
            </a:pPr>
            <a:r>
              <a:rPr lang="en-US" sz="1100" dirty="0">
                <a:solidFill>
                  <a:srgbClr val="3B4045"/>
                </a:solidFill>
                <a:latin typeface="Calibri" pitchFamily="34" charset="0"/>
                <a:ea typeface="Calibri" pitchFamily="34" charset="-122"/>
                <a:cs typeface="Calibri" pitchFamily="34" charset="-120"/>
              </a:rPr>
              <a:t>Muestra: 22.375.298 reportes iniciales, 1.835 casos tras deduplicación; 83 % graves y 18 % con hospitalización; mediana de edad 50 años.</a:t>
            </a:r>
            <a:endParaRPr lang="en-US" sz="1100" dirty="0"/>
          </a:p>
        </p:txBody>
      </p:sp>
      <p:sp>
        <p:nvSpPr>
          <p:cNvPr id="21" name="Text 18"/>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13 / 28</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Resultados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Zhu et al. 2026, Frontiers in Pharmacology</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Señales de desproporcionalidad: diez fármacos ordenados por ROR</a:t>
            </a:r>
            <a:endParaRPr lang="en-US" sz="3600" dirty="0"/>
          </a:p>
        </p:txBody>
      </p:sp>
      <p:sp>
        <p:nvSpPr>
          <p:cNvPr id="6" name="Shape 4"/>
          <p:cNvSpPr/>
          <p:nvPr/>
        </p:nvSpPr>
        <p:spPr>
          <a:xfrm>
            <a:off x="3383280" y="2788920"/>
            <a:ext cx="0" cy="3154680"/>
          </a:xfrm>
          <a:prstGeom prst="line">
            <a:avLst/>
          </a:prstGeom>
          <a:noFill/>
          <a:ln w="9525">
            <a:solidFill>
              <a:srgbClr val="D9D9D4"/>
            </a:solidFill>
            <a:prstDash val="solid"/>
          </a:ln>
        </p:spPr>
      </p:sp>
      <p:sp>
        <p:nvSpPr>
          <p:cNvPr id="7" name="Text 5"/>
          <p:cNvSpPr txBox="1"/>
          <p:nvPr/>
        </p:nvSpPr>
        <p:spPr>
          <a:xfrm>
            <a:off x="3017520"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1</a:t>
            </a:r>
            <a:endParaRPr lang="en-US" sz="1050" dirty="0"/>
          </a:p>
        </p:txBody>
      </p:sp>
      <p:sp>
        <p:nvSpPr>
          <p:cNvPr id="8" name="Shape 6"/>
          <p:cNvSpPr/>
          <p:nvPr/>
        </p:nvSpPr>
        <p:spPr>
          <a:xfrm>
            <a:off x="4633758" y="2788920"/>
            <a:ext cx="0" cy="3154680"/>
          </a:xfrm>
          <a:prstGeom prst="line">
            <a:avLst/>
          </a:prstGeom>
          <a:noFill/>
          <a:ln w="9525">
            <a:solidFill>
              <a:srgbClr val="D9D9D4"/>
            </a:solidFill>
            <a:prstDash val="solid"/>
          </a:ln>
        </p:spPr>
      </p:sp>
      <p:sp>
        <p:nvSpPr>
          <p:cNvPr id="9" name="Text 7"/>
          <p:cNvSpPr txBox="1"/>
          <p:nvPr/>
        </p:nvSpPr>
        <p:spPr>
          <a:xfrm>
            <a:off x="4267998"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3</a:t>
            </a:r>
            <a:endParaRPr lang="en-US" sz="1050" dirty="0"/>
          </a:p>
        </p:txBody>
      </p:sp>
      <p:sp>
        <p:nvSpPr>
          <p:cNvPr id="10" name="Shape 8"/>
          <p:cNvSpPr/>
          <p:nvPr/>
        </p:nvSpPr>
        <p:spPr>
          <a:xfrm>
            <a:off x="6004161" y="2788920"/>
            <a:ext cx="0" cy="3154680"/>
          </a:xfrm>
          <a:prstGeom prst="line">
            <a:avLst/>
          </a:prstGeom>
          <a:noFill/>
          <a:ln w="9525">
            <a:solidFill>
              <a:srgbClr val="D9D9D4"/>
            </a:solidFill>
            <a:prstDash val="solid"/>
          </a:ln>
        </p:spPr>
      </p:sp>
      <p:sp>
        <p:nvSpPr>
          <p:cNvPr id="11" name="Text 9"/>
          <p:cNvSpPr txBox="1"/>
          <p:nvPr/>
        </p:nvSpPr>
        <p:spPr>
          <a:xfrm>
            <a:off x="5638401"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10</a:t>
            </a:r>
            <a:endParaRPr lang="en-US" sz="1050" dirty="0"/>
          </a:p>
        </p:txBody>
      </p:sp>
      <p:sp>
        <p:nvSpPr>
          <p:cNvPr id="12" name="Shape 10"/>
          <p:cNvSpPr/>
          <p:nvPr/>
        </p:nvSpPr>
        <p:spPr>
          <a:xfrm>
            <a:off x="7254639" y="2788920"/>
            <a:ext cx="0" cy="3154680"/>
          </a:xfrm>
          <a:prstGeom prst="line">
            <a:avLst/>
          </a:prstGeom>
          <a:noFill/>
          <a:ln w="9525">
            <a:solidFill>
              <a:srgbClr val="D9D9D4"/>
            </a:solidFill>
            <a:prstDash val="solid"/>
          </a:ln>
        </p:spPr>
      </p:sp>
      <p:sp>
        <p:nvSpPr>
          <p:cNvPr id="13" name="Text 11"/>
          <p:cNvSpPr txBox="1"/>
          <p:nvPr/>
        </p:nvSpPr>
        <p:spPr>
          <a:xfrm>
            <a:off x="6888879"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30</a:t>
            </a:r>
            <a:endParaRPr lang="en-US" sz="1050" dirty="0"/>
          </a:p>
        </p:txBody>
      </p:sp>
      <p:sp>
        <p:nvSpPr>
          <p:cNvPr id="14" name="Shape 12"/>
          <p:cNvSpPr/>
          <p:nvPr/>
        </p:nvSpPr>
        <p:spPr>
          <a:xfrm>
            <a:off x="8625042" y="2788920"/>
            <a:ext cx="0" cy="3154680"/>
          </a:xfrm>
          <a:prstGeom prst="line">
            <a:avLst/>
          </a:prstGeom>
          <a:noFill/>
          <a:ln w="9525">
            <a:solidFill>
              <a:srgbClr val="D9D9D4"/>
            </a:solidFill>
            <a:prstDash val="solid"/>
          </a:ln>
        </p:spPr>
      </p:sp>
      <p:sp>
        <p:nvSpPr>
          <p:cNvPr id="15" name="Text 13"/>
          <p:cNvSpPr txBox="1"/>
          <p:nvPr/>
        </p:nvSpPr>
        <p:spPr>
          <a:xfrm>
            <a:off x="8259282"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100</a:t>
            </a:r>
            <a:endParaRPr lang="en-US" sz="1050" dirty="0"/>
          </a:p>
        </p:txBody>
      </p:sp>
      <p:sp>
        <p:nvSpPr>
          <p:cNvPr id="16" name="Shape 14"/>
          <p:cNvSpPr/>
          <p:nvPr/>
        </p:nvSpPr>
        <p:spPr>
          <a:xfrm>
            <a:off x="9875520" y="2788920"/>
            <a:ext cx="0" cy="3154680"/>
          </a:xfrm>
          <a:prstGeom prst="line">
            <a:avLst/>
          </a:prstGeom>
          <a:noFill/>
          <a:ln w="9525">
            <a:solidFill>
              <a:srgbClr val="D9D9D4"/>
            </a:solidFill>
            <a:prstDash val="solid"/>
          </a:ln>
        </p:spPr>
      </p:sp>
      <p:sp>
        <p:nvSpPr>
          <p:cNvPr id="17" name="Text 15"/>
          <p:cNvSpPr txBox="1"/>
          <p:nvPr/>
        </p:nvSpPr>
        <p:spPr>
          <a:xfrm>
            <a:off x="9509760"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300</a:t>
            </a:r>
            <a:endParaRPr lang="en-US" sz="1050" dirty="0"/>
          </a:p>
        </p:txBody>
      </p:sp>
      <p:sp>
        <p:nvSpPr>
          <p:cNvPr id="18" name="Text 16"/>
          <p:cNvSpPr txBox="1"/>
          <p:nvPr/>
        </p:nvSpPr>
        <p:spPr>
          <a:xfrm>
            <a:off x="10241280" y="2514600"/>
            <a:ext cx="1124712" cy="22860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ROR</a:t>
            </a:r>
            <a:endParaRPr lang="en-US" sz="1050" dirty="0"/>
          </a:p>
        </p:txBody>
      </p:sp>
      <p:sp>
        <p:nvSpPr>
          <p:cNvPr id="19" name="Text 17"/>
          <p:cNvSpPr txBox="1"/>
          <p:nvPr/>
        </p:nvSpPr>
        <p:spPr>
          <a:xfrm>
            <a:off x="822960" y="2852928"/>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Amlodipina </a:t>
            </a:r>
            <a:pPr indent="0" marL="0">
              <a:buNone/>
            </a:pPr>
            <a:r>
              <a:rPr lang="en-US" sz="1250" dirty="0">
                <a:solidFill>
                  <a:srgbClr val="666B70"/>
                </a:solidFill>
                <a:latin typeface="Calibri" pitchFamily="34" charset="0"/>
                <a:ea typeface="Calibri" pitchFamily="34" charset="-122"/>
                <a:cs typeface="Calibri" pitchFamily="34" charset="-120"/>
              </a:rPr>
              <a:t>BCC</a:t>
            </a:r>
            <a:endParaRPr lang="en-US" sz="1250" dirty="0"/>
          </a:p>
        </p:txBody>
      </p:sp>
      <p:sp>
        <p:nvSpPr>
          <p:cNvPr id="20" name="Shape 18"/>
          <p:cNvSpPr/>
          <p:nvPr/>
        </p:nvSpPr>
        <p:spPr>
          <a:xfrm>
            <a:off x="9077414" y="2990088"/>
            <a:ext cx="217805" cy="0"/>
          </a:xfrm>
          <a:prstGeom prst="line">
            <a:avLst/>
          </a:prstGeom>
          <a:noFill/>
          <a:ln w="28575">
            <a:solidFill>
              <a:srgbClr val="1F4E9C"/>
            </a:solidFill>
            <a:prstDash val="solid"/>
          </a:ln>
        </p:spPr>
      </p:sp>
      <p:sp>
        <p:nvSpPr>
          <p:cNvPr id="21" name="Shape 19"/>
          <p:cNvSpPr/>
          <p:nvPr/>
        </p:nvSpPr>
        <p:spPr>
          <a:xfrm>
            <a:off x="9122308" y="2926080"/>
            <a:ext cx="128016" cy="128016"/>
          </a:xfrm>
          <a:prstGeom prst="ellipse">
            <a:avLst/>
          </a:prstGeom>
          <a:solidFill>
            <a:srgbClr val="1F4E9C"/>
          </a:solidFill>
          <a:ln w="22225">
            <a:solidFill>
              <a:srgbClr val="1F4E9C"/>
            </a:solidFill>
            <a:prstDash val="solid"/>
          </a:ln>
        </p:spPr>
      </p:sp>
      <p:sp>
        <p:nvSpPr>
          <p:cNvPr id="22" name="Text 20"/>
          <p:cNvSpPr txBox="1"/>
          <p:nvPr/>
        </p:nvSpPr>
        <p:spPr>
          <a:xfrm>
            <a:off x="10241280" y="2852928"/>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163,7</a:t>
            </a:r>
            <a:endParaRPr lang="en-US" sz="1100" dirty="0"/>
          </a:p>
        </p:txBody>
      </p:sp>
      <p:sp>
        <p:nvSpPr>
          <p:cNvPr id="23" name="Text 21"/>
          <p:cNvSpPr txBox="1"/>
          <p:nvPr/>
        </p:nvSpPr>
        <p:spPr>
          <a:xfrm>
            <a:off x="822960" y="3163824"/>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Nifedipina </a:t>
            </a:r>
            <a:pPr indent="0" marL="0">
              <a:buNone/>
            </a:pPr>
            <a:r>
              <a:rPr lang="en-US" sz="1250" dirty="0">
                <a:solidFill>
                  <a:srgbClr val="666B70"/>
                </a:solidFill>
                <a:latin typeface="Calibri" pitchFamily="34" charset="0"/>
                <a:ea typeface="Calibri" pitchFamily="34" charset="-122"/>
                <a:cs typeface="Calibri" pitchFamily="34" charset="-120"/>
              </a:rPr>
              <a:t>BCC</a:t>
            </a:r>
            <a:endParaRPr lang="en-US" sz="1250" dirty="0"/>
          </a:p>
        </p:txBody>
      </p:sp>
      <p:sp>
        <p:nvSpPr>
          <p:cNvPr id="24" name="Shape 22"/>
          <p:cNvSpPr/>
          <p:nvPr/>
        </p:nvSpPr>
        <p:spPr>
          <a:xfrm>
            <a:off x="8308918" y="3300984"/>
            <a:ext cx="628679" cy="0"/>
          </a:xfrm>
          <a:prstGeom prst="line">
            <a:avLst/>
          </a:prstGeom>
          <a:noFill/>
          <a:ln w="28575">
            <a:solidFill>
              <a:srgbClr val="1F4E9C"/>
            </a:solidFill>
            <a:prstDash val="solid"/>
          </a:ln>
        </p:spPr>
      </p:sp>
      <p:sp>
        <p:nvSpPr>
          <p:cNvPr id="25" name="Shape 23"/>
          <p:cNvSpPr/>
          <p:nvPr/>
        </p:nvSpPr>
        <p:spPr>
          <a:xfrm>
            <a:off x="8559211" y="3236976"/>
            <a:ext cx="128016" cy="128016"/>
          </a:xfrm>
          <a:prstGeom prst="ellipse">
            <a:avLst/>
          </a:prstGeom>
          <a:solidFill>
            <a:srgbClr val="1F4E9C"/>
          </a:solidFill>
          <a:ln w="22225">
            <a:solidFill>
              <a:srgbClr val="1F4E9C"/>
            </a:solidFill>
            <a:prstDash val="solid"/>
          </a:ln>
        </p:spPr>
      </p:sp>
      <p:sp>
        <p:nvSpPr>
          <p:cNvPr id="26" name="Text 24"/>
          <p:cNvSpPr txBox="1"/>
          <p:nvPr/>
        </p:nvSpPr>
        <p:spPr>
          <a:xfrm>
            <a:off x="10241280" y="3163824"/>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99,8</a:t>
            </a:r>
            <a:endParaRPr lang="en-US" sz="1100" dirty="0"/>
          </a:p>
        </p:txBody>
      </p:sp>
      <p:sp>
        <p:nvSpPr>
          <p:cNvPr id="27" name="Text 25"/>
          <p:cNvSpPr txBox="1"/>
          <p:nvPr/>
        </p:nvSpPr>
        <p:spPr>
          <a:xfrm>
            <a:off x="822960" y="3474720"/>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Fenitoína </a:t>
            </a:r>
            <a:pPr indent="0" marL="0">
              <a:buNone/>
            </a:pPr>
            <a:r>
              <a:rPr lang="en-US" sz="1250" dirty="0">
                <a:solidFill>
                  <a:srgbClr val="666B70"/>
                </a:solidFill>
                <a:latin typeface="Calibri" pitchFamily="34" charset="0"/>
                <a:ea typeface="Calibri" pitchFamily="34" charset="-122"/>
                <a:cs typeface="Calibri" pitchFamily="34" charset="-120"/>
              </a:rPr>
              <a:t>AEP</a:t>
            </a:r>
            <a:endParaRPr lang="en-US" sz="1250" dirty="0"/>
          </a:p>
        </p:txBody>
      </p:sp>
      <p:sp>
        <p:nvSpPr>
          <p:cNvPr id="28" name="Shape 26"/>
          <p:cNvSpPr/>
          <p:nvPr/>
        </p:nvSpPr>
        <p:spPr>
          <a:xfrm>
            <a:off x="8219225" y="3611880"/>
            <a:ext cx="395412" cy="0"/>
          </a:xfrm>
          <a:prstGeom prst="line">
            <a:avLst/>
          </a:prstGeom>
          <a:noFill/>
          <a:ln w="28575">
            <a:solidFill>
              <a:srgbClr val="6B7075"/>
            </a:solidFill>
            <a:prstDash val="solid"/>
          </a:ln>
        </p:spPr>
      </p:sp>
      <p:sp>
        <p:nvSpPr>
          <p:cNvPr id="29" name="Shape 27"/>
          <p:cNvSpPr/>
          <p:nvPr/>
        </p:nvSpPr>
        <p:spPr>
          <a:xfrm>
            <a:off x="8352917" y="3547872"/>
            <a:ext cx="128016" cy="128016"/>
          </a:xfrm>
          <a:prstGeom prst="ellipse">
            <a:avLst/>
          </a:prstGeom>
          <a:solidFill>
            <a:srgbClr val="6B7075"/>
          </a:solidFill>
          <a:ln w="22225">
            <a:solidFill>
              <a:srgbClr val="6B7075"/>
            </a:solidFill>
            <a:prstDash val="solid"/>
          </a:ln>
        </p:spPr>
      </p:sp>
      <p:sp>
        <p:nvSpPr>
          <p:cNvPr id="30" name="Text 28"/>
          <p:cNvSpPr txBox="1"/>
          <p:nvPr/>
        </p:nvSpPr>
        <p:spPr>
          <a:xfrm>
            <a:off x="10241280" y="3474720"/>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83,3</a:t>
            </a:r>
            <a:endParaRPr lang="en-US" sz="1100" dirty="0"/>
          </a:p>
        </p:txBody>
      </p:sp>
      <p:sp>
        <p:nvSpPr>
          <p:cNvPr id="31" name="Text 29"/>
          <p:cNvSpPr txBox="1"/>
          <p:nvPr/>
        </p:nvSpPr>
        <p:spPr>
          <a:xfrm>
            <a:off x="822960" y="3785616"/>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Ciclosporina </a:t>
            </a:r>
            <a:pPr indent="0" marL="0">
              <a:buNone/>
            </a:pPr>
            <a:r>
              <a:rPr lang="en-US" sz="1250" dirty="0">
                <a:solidFill>
                  <a:srgbClr val="666B70"/>
                </a:solidFill>
                <a:latin typeface="Calibri" pitchFamily="34" charset="0"/>
                <a:ea typeface="Calibri" pitchFamily="34" charset="-122"/>
                <a:cs typeface="Calibri" pitchFamily="34" charset="-120"/>
              </a:rPr>
              <a:t>IMS</a:t>
            </a:r>
            <a:endParaRPr lang="en-US" sz="1250" dirty="0"/>
          </a:p>
        </p:txBody>
      </p:sp>
      <p:sp>
        <p:nvSpPr>
          <p:cNvPr id="32" name="Shape 30"/>
          <p:cNvSpPr/>
          <p:nvPr/>
        </p:nvSpPr>
        <p:spPr>
          <a:xfrm>
            <a:off x="7090881" y="3922776"/>
            <a:ext cx="361120" cy="0"/>
          </a:xfrm>
          <a:prstGeom prst="line">
            <a:avLst/>
          </a:prstGeom>
          <a:noFill/>
          <a:ln w="28575">
            <a:solidFill>
              <a:srgbClr val="1A1D1F"/>
            </a:solidFill>
            <a:prstDash val="solid"/>
          </a:ln>
        </p:spPr>
      </p:sp>
      <p:sp>
        <p:nvSpPr>
          <p:cNvPr id="33" name="Shape 31"/>
          <p:cNvSpPr/>
          <p:nvPr/>
        </p:nvSpPr>
        <p:spPr>
          <a:xfrm>
            <a:off x="7207578" y="3858768"/>
            <a:ext cx="128016" cy="128016"/>
          </a:xfrm>
          <a:prstGeom prst="ellipse">
            <a:avLst/>
          </a:prstGeom>
          <a:solidFill>
            <a:srgbClr val="1A1D1F"/>
          </a:solidFill>
          <a:ln w="22225">
            <a:solidFill>
              <a:srgbClr val="1A1D1F"/>
            </a:solidFill>
            <a:prstDash val="solid"/>
          </a:ln>
        </p:spPr>
      </p:sp>
      <p:sp>
        <p:nvSpPr>
          <p:cNvPr id="34" name="Text 32"/>
          <p:cNvSpPr txBox="1"/>
          <p:nvPr/>
        </p:nvSpPr>
        <p:spPr>
          <a:xfrm>
            <a:off x="10241280" y="3785616"/>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30,4</a:t>
            </a:r>
            <a:endParaRPr lang="en-US" sz="1100" dirty="0"/>
          </a:p>
        </p:txBody>
      </p:sp>
      <p:sp>
        <p:nvSpPr>
          <p:cNvPr id="35" name="Text 33"/>
          <p:cNvSpPr txBox="1"/>
          <p:nvPr/>
        </p:nvSpPr>
        <p:spPr>
          <a:xfrm>
            <a:off x="822960" y="4096512"/>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Diltiazem </a:t>
            </a:r>
            <a:pPr indent="0" marL="0">
              <a:buNone/>
            </a:pPr>
            <a:r>
              <a:rPr lang="en-US" sz="1250" dirty="0">
                <a:solidFill>
                  <a:srgbClr val="666B70"/>
                </a:solidFill>
                <a:latin typeface="Calibri" pitchFamily="34" charset="0"/>
                <a:ea typeface="Calibri" pitchFamily="34" charset="-122"/>
                <a:cs typeface="Calibri" pitchFamily="34" charset="-120"/>
              </a:rPr>
              <a:t>BCC</a:t>
            </a:r>
            <a:endParaRPr lang="en-US" sz="1250" dirty="0"/>
          </a:p>
        </p:txBody>
      </p:sp>
      <p:sp>
        <p:nvSpPr>
          <p:cNvPr id="36" name="Shape 34"/>
          <p:cNvSpPr/>
          <p:nvPr/>
        </p:nvSpPr>
        <p:spPr>
          <a:xfrm>
            <a:off x="6267220" y="4233672"/>
            <a:ext cx="936201" cy="0"/>
          </a:xfrm>
          <a:prstGeom prst="line">
            <a:avLst/>
          </a:prstGeom>
          <a:noFill/>
          <a:ln w="28575">
            <a:solidFill>
              <a:srgbClr val="1F4E9C"/>
            </a:solidFill>
            <a:prstDash val="solid"/>
          </a:ln>
        </p:spPr>
      </p:sp>
      <p:sp>
        <p:nvSpPr>
          <p:cNvPr id="37" name="Shape 35"/>
          <p:cNvSpPr/>
          <p:nvPr/>
        </p:nvSpPr>
        <p:spPr>
          <a:xfrm>
            <a:off x="6671332" y="4169664"/>
            <a:ext cx="128016" cy="128016"/>
          </a:xfrm>
          <a:prstGeom prst="ellipse">
            <a:avLst/>
          </a:prstGeom>
          <a:solidFill>
            <a:srgbClr val="1F4E9C"/>
          </a:solidFill>
          <a:ln w="22225">
            <a:solidFill>
              <a:srgbClr val="1F4E9C"/>
            </a:solidFill>
            <a:prstDash val="solid"/>
          </a:ln>
        </p:spPr>
      </p:sp>
      <p:sp>
        <p:nvSpPr>
          <p:cNvPr id="38" name="Text 36"/>
          <p:cNvSpPr txBox="1"/>
          <p:nvPr/>
        </p:nvSpPr>
        <p:spPr>
          <a:xfrm>
            <a:off x="10241280" y="4096512"/>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19,0</a:t>
            </a:r>
            <a:endParaRPr lang="en-US" sz="1100" dirty="0"/>
          </a:p>
        </p:txBody>
      </p:sp>
      <p:sp>
        <p:nvSpPr>
          <p:cNvPr id="39" name="Text 37"/>
          <p:cNvSpPr txBox="1"/>
          <p:nvPr/>
        </p:nvSpPr>
        <p:spPr>
          <a:xfrm>
            <a:off x="822960" y="4407408"/>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Ácido valproico </a:t>
            </a:r>
            <a:pPr indent="0" marL="0">
              <a:buNone/>
            </a:pPr>
            <a:r>
              <a:rPr lang="en-US" sz="1250" dirty="0">
                <a:solidFill>
                  <a:srgbClr val="666B70"/>
                </a:solidFill>
                <a:latin typeface="Calibri" pitchFamily="34" charset="0"/>
                <a:ea typeface="Calibri" pitchFamily="34" charset="-122"/>
                <a:cs typeface="Calibri" pitchFamily="34" charset="-120"/>
              </a:rPr>
              <a:t>AEP</a:t>
            </a:r>
            <a:endParaRPr lang="en-US" sz="1250" dirty="0"/>
          </a:p>
        </p:txBody>
      </p:sp>
      <p:sp>
        <p:nvSpPr>
          <p:cNvPr id="40" name="Shape 38"/>
          <p:cNvSpPr/>
          <p:nvPr/>
        </p:nvSpPr>
        <p:spPr>
          <a:xfrm>
            <a:off x="5722812" y="4544568"/>
            <a:ext cx="647130" cy="0"/>
          </a:xfrm>
          <a:prstGeom prst="line">
            <a:avLst/>
          </a:prstGeom>
          <a:noFill/>
          <a:ln w="28575">
            <a:solidFill>
              <a:srgbClr val="6B7075"/>
            </a:solidFill>
            <a:prstDash val="solid"/>
          </a:ln>
        </p:spPr>
      </p:sp>
      <p:sp>
        <p:nvSpPr>
          <p:cNvPr id="41" name="Shape 39"/>
          <p:cNvSpPr/>
          <p:nvPr/>
        </p:nvSpPr>
        <p:spPr>
          <a:xfrm>
            <a:off x="5982604" y="4480560"/>
            <a:ext cx="128016" cy="128016"/>
          </a:xfrm>
          <a:prstGeom prst="ellipse">
            <a:avLst/>
          </a:prstGeom>
          <a:solidFill>
            <a:srgbClr val="FAFAF7"/>
          </a:solidFill>
          <a:ln w="22225">
            <a:solidFill>
              <a:srgbClr val="6B7075"/>
            </a:solidFill>
            <a:prstDash val="solid"/>
          </a:ln>
        </p:spPr>
      </p:sp>
      <p:sp>
        <p:nvSpPr>
          <p:cNvPr id="42" name="Text 40"/>
          <p:cNvSpPr txBox="1"/>
          <p:nvPr/>
        </p:nvSpPr>
        <p:spPr>
          <a:xfrm>
            <a:off x="10241280" y="4407408"/>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10,4</a:t>
            </a:r>
            <a:endParaRPr lang="en-US" sz="1100" dirty="0"/>
          </a:p>
        </p:txBody>
      </p:sp>
      <p:sp>
        <p:nvSpPr>
          <p:cNvPr id="43" name="Text 41"/>
          <p:cNvSpPr txBox="1"/>
          <p:nvPr/>
        </p:nvSpPr>
        <p:spPr>
          <a:xfrm>
            <a:off x="822960" y="4718304"/>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Ácido micofenólico </a:t>
            </a:r>
            <a:pPr indent="0" marL="0">
              <a:buNone/>
            </a:pPr>
            <a:r>
              <a:rPr lang="en-US" sz="1250" dirty="0">
                <a:solidFill>
                  <a:srgbClr val="666B70"/>
                </a:solidFill>
                <a:latin typeface="Calibri" pitchFamily="34" charset="0"/>
                <a:ea typeface="Calibri" pitchFamily="34" charset="-122"/>
                <a:cs typeface="Calibri" pitchFamily="34" charset="-120"/>
              </a:rPr>
              <a:t>IMS</a:t>
            </a:r>
            <a:endParaRPr lang="en-US" sz="1250" dirty="0"/>
          </a:p>
        </p:txBody>
      </p:sp>
      <p:sp>
        <p:nvSpPr>
          <p:cNvPr id="44" name="Shape 42"/>
          <p:cNvSpPr/>
          <p:nvPr/>
        </p:nvSpPr>
        <p:spPr>
          <a:xfrm>
            <a:off x="5708144" y="4855464"/>
            <a:ext cx="568074" cy="0"/>
          </a:xfrm>
          <a:prstGeom prst="line">
            <a:avLst/>
          </a:prstGeom>
          <a:noFill/>
          <a:ln w="28575">
            <a:solidFill>
              <a:srgbClr val="1A1D1F"/>
            </a:solidFill>
            <a:prstDash val="solid"/>
          </a:ln>
        </p:spPr>
      </p:sp>
      <p:sp>
        <p:nvSpPr>
          <p:cNvPr id="45" name="Shape 43"/>
          <p:cNvSpPr/>
          <p:nvPr/>
        </p:nvSpPr>
        <p:spPr>
          <a:xfrm>
            <a:off x="5928713" y="4791456"/>
            <a:ext cx="128016" cy="128016"/>
          </a:xfrm>
          <a:prstGeom prst="ellipse">
            <a:avLst/>
          </a:prstGeom>
          <a:solidFill>
            <a:srgbClr val="1A1D1F"/>
          </a:solidFill>
          <a:ln w="22225">
            <a:solidFill>
              <a:srgbClr val="1A1D1F"/>
            </a:solidFill>
            <a:prstDash val="solid"/>
          </a:ln>
        </p:spPr>
      </p:sp>
      <p:sp>
        <p:nvSpPr>
          <p:cNvPr id="46" name="Text 44"/>
          <p:cNvSpPr txBox="1"/>
          <p:nvPr/>
        </p:nvSpPr>
        <p:spPr>
          <a:xfrm>
            <a:off x="10241280" y="4718304"/>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9,9</a:t>
            </a:r>
            <a:endParaRPr lang="en-US" sz="1100" dirty="0"/>
          </a:p>
        </p:txBody>
      </p:sp>
      <p:sp>
        <p:nvSpPr>
          <p:cNvPr id="47" name="Text 45"/>
          <p:cNvSpPr txBox="1"/>
          <p:nvPr/>
        </p:nvSpPr>
        <p:spPr>
          <a:xfrm>
            <a:off x="822960" y="5029200"/>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Tacrolimus </a:t>
            </a:r>
            <a:pPr indent="0" marL="0">
              <a:buNone/>
            </a:pPr>
            <a:r>
              <a:rPr lang="en-US" sz="1250" dirty="0">
                <a:solidFill>
                  <a:srgbClr val="666B70"/>
                </a:solidFill>
                <a:latin typeface="Calibri" pitchFamily="34" charset="0"/>
                <a:ea typeface="Calibri" pitchFamily="34" charset="-122"/>
                <a:cs typeface="Calibri" pitchFamily="34" charset="-120"/>
              </a:rPr>
              <a:t>IMS</a:t>
            </a:r>
            <a:endParaRPr lang="en-US" sz="1250" dirty="0"/>
          </a:p>
        </p:txBody>
      </p:sp>
      <p:sp>
        <p:nvSpPr>
          <p:cNvPr id="48" name="Shape 46"/>
          <p:cNvSpPr/>
          <p:nvPr/>
        </p:nvSpPr>
        <p:spPr>
          <a:xfrm>
            <a:off x="5631826" y="5166360"/>
            <a:ext cx="590246" cy="0"/>
          </a:xfrm>
          <a:prstGeom prst="line">
            <a:avLst/>
          </a:prstGeom>
          <a:noFill/>
          <a:ln w="28575">
            <a:solidFill>
              <a:srgbClr val="1A1D1F"/>
            </a:solidFill>
            <a:prstDash val="solid"/>
          </a:ln>
        </p:spPr>
      </p:sp>
      <p:sp>
        <p:nvSpPr>
          <p:cNvPr id="49" name="Shape 47"/>
          <p:cNvSpPr/>
          <p:nvPr/>
        </p:nvSpPr>
        <p:spPr>
          <a:xfrm>
            <a:off x="5862436" y="5102352"/>
            <a:ext cx="128016" cy="128016"/>
          </a:xfrm>
          <a:prstGeom prst="ellipse">
            <a:avLst/>
          </a:prstGeom>
          <a:solidFill>
            <a:srgbClr val="1A1D1F"/>
          </a:solidFill>
          <a:ln w="22225">
            <a:solidFill>
              <a:srgbClr val="1A1D1F"/>
            </a:solidFill>
            <a:prstDash val="solid"/>
          </a:ln>
        </p:spPr>
      </p:sp>
      <p:sp>
        <p:nvSpPr>
          <p:cNvPr id="50" name="Text 48"/>
          <p:cNvSpPr txBox="1"/>
          <p:nvPr/>
        </p:nvSpPr>
        <p:spPr>
          <a:xfrm>
            <a:off x="10241280" y="5029200"/>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9,3</a:t>
            </a:r>
            <a:endParaRPr lang="en-US" sz="1100" dirty="0"/>
          </a:p>
        </p:txBody>
      </p:sp>
      <p:sp>
        <p:nvSpPr>
          <p:cNvPr id="51" name="Text 49"/>
          <p:cNvSpPr txBox="1"/>
          <p:nvPr/>
        </p:nvSpPr>
        <p:spPr>
          <a:xfrm>
            <a:off x="822960" y="5340096"/>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Levetiracetam </a:t>
            </a:r>
            <a:pPr indent="0" marL="0">
              <a:buNone/>
            </a:pPr>
            <a:r>
              <a:rPr lang="en-US" sz="1250" dirty="0">
                <a:solidFill>
                  <a:srgbClr val="666B70"/>
                </a:solidFill>
                <a:latin typeface="Calibri" pitchFamily="34" charset="0"/>
                <a:ea typeface="Calibri" pitchFamily="34" charset="-122"/>
                <a:cs typeface="Calibri" pitchFamily="34" charset="-120"/>
              </a:rPr>
              <a:t>AEP</a:t>
            </a:r>
            <a:endParaRPr lang="en-US" sz="1250" dirty="0"/>
          </a:p>
        </p:txBody>
      </p:sp>
      <p:sp>
        <p:nvSpPr>
          <p:cNvPr id="52" name="Shape 50"/>
          <p:cNvSpPr/>
          <p:nvPr/>
        </p:nvSpPr>
        <p:spPr>
          <a:xfrm>
            <a:off x="4626144" y="5477256"/>
            <a:ext cx="937367" cy="0"/>
          </a:xfrm>
          <a:prstGeom prst="line">
            <a:avLst/>
          </a:prstGeom>
          <a:noFill/>
          <a:ln w="28575">
            <a:solidFill>
              <a:srgbClr val="6B7075"/>
            </a:solidFill>
            <a:prstDash val="solid"/>
          </a:ln>
        </p:spPr>
      </p:sp>
      <p:sp>
        <p:nvSpPr>
          <p:cNvPr id="53" name="Shape 51"/>
          <p:cNvSpPr/>
          <p:nvPr/>
        </p:nvSpPr>
        <p:spPr>
          <a:xfrm>
            <a:off x="5031264" y="5413248"/>
            <a:ext cx="128016" cy="128016"/>
          </a:xfrm>
          <a:prstGeom prst="ellipse">
            <a:avLst/>
          </a:prstGeom>
          <a:solidFill>
            <a:srgbClr val="FAFAF7"/>
          </a:solidFill>
          <a:ln w="22225">
            <a:solidFill>
              <a:srgbClr val="6B7075"/>
            </a:solidFill>
            <a:prstDash val="solid"/>
          </a:ln>
        </p:spPr>
      </p:sp>
      <p:sp>
        <p:nvSpPr>
          <p:cNvPr id="54" name="Text 52"/>
          <p:cNvSpPr txBox="1"/>
          <p:nvPr/>
        </p:nvSpPr>
        <p:spPr>
          <a:xfrm>
            <a:off x="10241280" y="5340096"/>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4,5</a:t>
            </a:r>
            <a:endParaRPr lang="en-US" sz="1100" dirty="0"/>
          </a:p>
        </p:txBody>
      </p:sp>
      <p:sp>
        <p:nvSpPr>
          <p:cNvPr id="55" name="Text 53"/>
          <p:cNvSpPr txBox="1"/>
          <p:nvPr/>
        </p:nvSpPr>
        <p:spPr>
          <a:xfrm>
            <a:off x="822960" y="5650992"/>
            <a:ext cx="2468880" cy="274320"/>
          </a:xfrm>
          <a:prstGeom prst="rect">
            <a:avLst/>
          </a:prstGeom>
          <a:noFill/>
          <a:ln/>
        </p:spPr>
        <p:txBody>
          <a:bodyPr wrap="square" lIns="0" tIns="0" rIns="0" bIns="0" rtlCol="0" anchor="ctr"/>
          <a:lstStyle/>
          <a:p>
            <a:pPr indent="0" marL="0">
              <a:buNone/>
            </a:pPr>
            <a:r>
              <a:rPr lang="en-US" sz="1250" dirty="0">
                <a:solidFill>
                  <a:srgbClr val="1A1D1F"/>
                </a:solidFill>
                <a:latin typeface="Calibri" pitchFamily="34" charset="0"/>
                <a:ea typeface="Calibri" pitchFamily="34" charset="-122"/>
                <a:cs typeface="Calibri" pitchFamily="34" charset="-120"/>
              </a:rPr>
              <a:t>Ácido zoledrónico </a:t>
            </a:r>
            <a:pPr indent="0" marL="0">
              <a:buNone/>
            </a:pPr>
            <a:r>
              <a:rPr lang="en-US" sz="1250" dirty="0">
                <a:solidFill>
                  <a:srgbClr val="666B70"/>
                </a:solidFill>
                <a:latin typeface="Calibri" pitchFamily="34" charset="0"/>
                <a:ea typeface="Calibri" pitchFamily="34" charset="-122"/>
                <a:cs typeface="Calibri" pitchFamily="34" charset="-120"/>
              </a:rPr>
              <a:t>BIS</a:t>
            </a:r>
            <a:endParaRPr lang="en-US" sz="1250" dirty="0"/>
          </a:p>
        </p:txBody>
      </p:sp>
      <p:sp>
        <p:nvSpPr>
          <p:cNvPr id="56" name="Shape 54"/>
          <p:cNvSpPr/>
          <p:nvPr/>
        </p:nvSpPr>
        <p:spPr>
          <a:xfrm>
            <a:off x="4301238" y="5788152"/>
            <a:ext cx="836242" cy="0"/>
          </a:xfrm>
          <a:prstGeom prst="line">
            <a:avLst/>
          </a:prstGeom>
          <a:noFill/>
          <a:ln w="28575">
            <a:solidFill>
              <a:srgbClr val="A3A8AD"/>
            </a:solidFill>
            <a:prstDash val="solid"/>
          </a:ln>
        </p:spPr>
      </p:sp>
      <p:sp>
        <p:nvSpPr>
          <p:cNvPr id="57" name="Shape 55"/>
          <p:cNvSpPr/>
          <p:nvPr/>
        </p:nvSpPr>
        <p:spPr>
          <a:xfrm>
            <a:off x="4653831" y="5724144"/>
            <a:ext cx="128016" cy="128016"/>
          </a:xfrm>
          <a:prstGeom prst="ellipse">
            <a:avLst/>
          </a:prstGeom>
          <a:solidFill>
            <a:srgbClr val="FAFAF7"/>
          </a:solidFill>
          <a:ln w="22225">
            <a:solidFill>
              <a:srgbClr val="A3A8AD"/>
            </a:solidFill>
            <a:prstDash val="solid"/>
          </a:ln>
        </p:spPr>
      </p:sp>
      <p:sp>
        <p:nvSpPr>
          <p:cNvPr id="58" name="Text 56"/>
          <p:cNvSpPr txBox="1"/>
          <p:nvPr/>
        </p:nvSpPr>
        <p:spPr>
          <a:xfrm>
            <a:off x="10241280" y="5650992"/>
            <a:ext cx="11247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3,2</a:t>
            </a:r>
            <a:endParaRPr lang="en-US" sz="1100" dirty="0"/>
          </a:p>
        </p:txBody>
      </p:sp>
      <p:sp>
        <p:nvSpPr>
          <p:cNvPr id="59" name="Text 57"/>
          <p:cNvSpPr txBox="1"/>
          <p:nvPr/>
        </p:nvSpPr>
        <p:spPr>
          <a:xfrm>
            <a:off x="822960" y="5897880"/>
            <a:ext cx="10545775" cy="411480"/>
          </a:xfrm>
          <a:prstGeom prst="rect">
            <a:avLst/>
          </a:prstGeom>
          <a:noFill/>
          <a:ln/>
        </p:spPr>
        <p:txBody>
          <a:bodyPr wrap="square" lIns="0" tIns="0" rIns="0" bIns="0" rtlCol="0" anchor="t"/>
          <a:lstStyle/>
          <a:p>
            <a:pPr indent="0" marL="0">
              <a:lnSpc>
                <a:spcPct val="110000"/>
              </a:lnSpc>
              <a:buNone/>
            </a:pPr>
            <a:r>
              <a:rPr lang="en-US" sz="1100" dirty="0">
                <a:solidFill>
                  <a:srgbClr val="666B70"/>
                </a:solidFill>
                <a:latin typeface="Calibri" pitchFamily="34" charset="0"/>
                <a:ea typeface="Calibri" pitchFamily="34" charset="-122"/>
                <a:cs typeface="Calibri" pitchFamily="34" charset="-120"/>
              </a:rPr>
              <a:t>BCC bloqueante de calcio (azul); IMS inmunosupresor; AEP antiepiléptico; BIS bifosfonato. Punto vacío: el prospecto no menciona el efecto. Escala logarítmica; barras: IC 95 %.</a:t>
            </a:r>
            <a:endParaRPr lang="en-US" sz="1100" dirty="0"/>
          </a:p>
        </p:txBody>
      </p:sp>
      <p:sp>
        <p:nvSpPr>
          <p:cNvPr id="60" name="Text 58"/>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14 / 28</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Resultados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Zhu et al. 2026, Frontiers in Pharmacology</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Modelo ajustado y señal de los bifosfonatos</a:t>
            </a:r>
            <a:endParaRPr lang="en-US" sz="3600" dirty="0"/>
          </a:p>
        </p:txBody>
      </p:sp>
      <p:pic>
        <p:nvPicPr>
          <p:cNvPr id="6" name="Image 0" descr="/tmp/claude-0/-home-user-sondeo-caiena/ef64ae7b-88f9-53ed-bf0b-68d0a9f6b61e/scratchpad/img/zhu_fig3_nomograma.png">    </p:cNvPr>
          <p:cNvPicPr>
            <a:picLocks noChangeAspect="1"/>
          </p:cNvPicPr>
          <p:nvPr/>
        </p:nvPicPr>
        <p:blipFill>
          <a:blip r:embed="rId1"/>
          <a:srcRect l="0" r="0" t="0" b="0"/>
          <a:stretch/>
        </p:blipFill>
        <p:spPr>
          <a:xfrm>
            <a:off x="822960" y="2514600"/>
            <a:ext cx="4937760" cy="2697480"/>
          </a:xfrm>
          <a:prstGeom prst="rect">
            <a:avLst/>
          </a:prstGeom>
        </p:spPr>
      </p:pic>
      <p:sp>
        <p:nvSpPr>
          <p:cNvPr id="7" name="Text 4"/>
          <p:cNvSpPr txBox="1"/>
          <p:nvPr/>
        </p:nvSpPr>
        <p:spPr>
          <a:xfrm>
            <a:off x="822960" y="5257800"/>
            <a:ext cx="4937760"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Nomograma de riesgo, figura 3</a:t>
            </a:r>
            <a:endParaRPr lang="en-US" sz="1050" dirty="0"/>
          </a:p>
        </p:txBody>
      </p:sp>
      <p:sp>
        <p:nvSpPr>
          <p:cNvPr id="8" name="Text 5"/>
          <p:cNvSpPr txBox="1"/>
          <p:nvPr/>
        </p:nvSpPr>
        <p:spPr>
          <a:xfrm>
            <a:off x="6126480" y="2514600"/>
            <a:ext cx="1097280" cy="651510"/>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Modelo</a:t>
            </a:r>
            <a:endParaRPr lang="en-US" sz="1200" dirty="0"/>
          </a:p>
        </p:txBody>
      </p:sp>
      <p:sp>
        <p:nvSpPr>
          <p:cNvPr id="9" name="Text 6"/>
          <p:cNvSpPr txBox="1"/>
          <p:nvPr/>
        </p:nvSpPr>
        <p:spPr>
          <a:xfrm>
            <a:off x="7315200" y="2514600"/>
            <a:ext cx="4053535" cy="651510"/>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Área bajo la curva 0,89 (IC 0,87 a 0,92); C-index 0,892; sensibilidad 0,81; especificidad 0,89; bien calibrado (p = 0,092).</a:t>
            </a:r>
            <a:endParaRPr lang="en-US" sz="1150" dirty="0"/>
          </a:p>
        </p:txBody>
      </p:sp>
      <p:sp>
        <p:nvSpPr>
          <p:cNvPr id="10" name="Shape 7"/>
          <p:cNvSpPr/>
          <p:nvPr/>
        </p:nvSpPr>
        <p:spPr>
          <a:xfrm>
            <a:off x="6126480" y="3275838"/>
            <a:ext cx="5242255" cy="0"/>
          </a:xfrm>
          <a:prstGeom prst="line">
            <a:avLst/>
          </a:prstGeom>
          <a:noFill/>
          <a:ln w="9525">
            <a:solidFill>
              <a:srgbClr val="D9D9D4"/>
            </a:solidFill>
            <a:prstDash val="solid"/>
          </a:ln>
        </p:spPr>
      </p:sp>
      <p:sp>
        <p:nvSpPr>
          <p:cNvPr id="11" name="Text 8"/>
          <p:cNvSpPr txBox="1"/>
          <p:nvPr/>
        </p:nvSpPr>
        <p:spPr>
          <a:xfrm>
            <a:off x="6126480" y="3403854"/>
            <a:ext cx="1097280" cy="84429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Clase</a:t>
            </a:r>
            <a:endParaRPr lang="en-US" sz="1200" dirty="0"/>
          </a:p>
        </p:txBody>
      </p:sp>
      <p:sp>
        <p:nvSpPr>
          <p:cNvPr id="12" name="Text 9"/>
          <p:cNvSpPr txBox="1"/>
          <p:nvPr/>
        </p:nvSpPr>
        <p:spPr>
          <a:xfrm>
            <a:off x="7315200" y="3403854"/>
            <a:ext cx="4053535" cy="844296"/>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Riesgo decreciente: bloqueantes de calcio, inmunosupresores, antiepilépticos. Bifosfonatos por encima de los IECA, que no mostraron riesgo significativo (p = 0,78).</a:t>
            </a:r>
            <a:endParaRPr lang="en-US" sz="1150" dirty="0"/>
          </a:p>
        </p:txBody>
      </p:sp>
      <p:sp>
        <p:nvSpPr>
          <p:cNvPr id="13" name="Shape 10"/>
          <p:cNvSpPr/>
          <p:nvPr/>
        </p:nvSpPr>
        <p:spPr>
          <a:xfrm>
            <a:off x="6126480" y="4357878"/>
            <a:ext cx="5242255" cy="0"/>
          </a:xfrm>
          <a:prstGeom prst="line">
            <a:avLst/>
          </a:prstGeom>
          <a:noFill/>
          <a:ln w="9525">
            <a:solidFill>
              <a:srgbClr val="D9D9D4"/>
            </a:solidFill>
            <a:prstDash val="solid"/>
          </a:ln>
        </p:spPr>
      </p:sp>
      <p:sp>
        <p:nvSpPr>
          <p:cNvPr id="14" name="Text 11"/>
          <p:cNvSpPr txBox="1"/>
          <p:nvPr/>
        </p:nvSpPr>
        <p:spPr>
          <a:xfrm>
            <a:off x="6126480" y="4485894"/>
            <a:ext cx="1097280" cy="651510"/>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Sexo y edad</a:t>
            </a:r>
            <a:endParaRPr lang="en-US" sz="1200" dirty="0"/>
          </a:p>
        </p:txBody>
      </p:sp>
      <p:sp>
        <p:nvSpPr>
          <p:cNvPr id="15" name="Text 12"/>
          <p:cNvSpPr txBox="1"/>
          <p:nvPr/>
        </p:nvSpPr>
        <p:spPr>
          <a:xfrm>
            <a:off x="7315200" y="4485894"/>
            <a:ext cx="4053535" cy="651510"/>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Puntaje mayor en hombres, que los autores vinculan con el tabaquismo. El riesgo ajustado disminuye con la edad; el peso no fue significativo.</a:t>
            </a:r>
            <a:endParaRPr lang="en-US" sz="1150" dirty="0"/>
          </a:p>
        </p:txBody>
      </p:sp>
      <p:sp>
        <p:nvSpPr>
          <p:cNvPr id="16" name="Shape 13"/>
          <p:cNvSpPr/>
          <p:nvPr/>
        </p:nvSpPr>
        <p:spPr>
          <a:xfrm>
            <a:off x="6126480" y="5247132"/>
            <a:ext cx="5242255" cy="0"/>
          </a:xfrm>
          <a:prstGeom prst="line">
            <a:avLst/>
          </a:prstGeom>
          <a:noFill/>
          <a:ln w="9525">
            <a:solidFill>
              <a:srgbClr val="D9D9D4"/>
            </a:solidFill>
            <a:prstDash val="solid"/>
          </a:ln>
        </p:spPr>
      </p:sp>
      <p:sp>
        <p:nvSpPr>
          <p:cNvPr id="17" name="Text 14"/>
          <p:cNvSpPr txBox="1"/>
          <p:nvPr/>
        </p:nvSpPr>
        <p:spPr>
          <a:xfrm>
            <a:off x="6126480" y="5375148"/>
            <a:ext cx="1097280" cy="84429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Bifosfonatos</a:t>
            </a:r>
            <a:endParaRPr lang="en-US" sz="1200" dirty="0"/>
          </a:p>
        </p:txBody>
      </p:sp>
      <p:sp>
        <p:nvSpPr>
          <p:cNvPr id="18" name="Text 15"/>
          <p:cNvSpPr txBox="1"/>
          <p:nvPr/>
        </p:nvSpPr>
        <p:spPr>
          <a:xfrm>
            <a:off x="7315200" y="5375148"/>
            <a:ext cx="4053535" cy="844296"/>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Señal nueva: ácido zoledrónico ROR 3,23 (29 casos) y pamidronato ROR 5,33 (10 casos), sin advertencia en el prospecto. La red de 57 genes compartidos sitúa a AKT1 en el centro y sugiere las vías PI3K-AKT y MAPK.</a:t>
            </a:r>
            <a:endParaRPr lang="en-US" sz="1150" dirty="0"/>
          </a:p>
        </p:txBody>
      </p:sp>
      <p:sp>
        <p:nvSpPr>
          <p:cNvPr id="19" name="Text 16"/>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15 / 28</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0EB"/>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Conclusión</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Zhu et al. 2026, Frontiers in Pharmacology</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Los bloqueantes de calcio encabezan el riesgo; los bifosfonatos, una señal por validar</a:t>
            </a:r>
            <a:endParaRPr lang="en-US" sz="3600" dirty="0"/>
          </a:p>
        </p:txBody>
      </p:sp>
      <p:sp>
        <p:nvSpPr>
          <p:cNvPr id="6" name="Text 4"/>
          <p:cNvSpPr txBox="1"/>
          <p:nvPr/>
        </p:nvSpPr>
        <p:spPr>
          <a:xfrm>
            <a:off x="822960" y="2514600"/>
            <a:ext cx="10058400" cy="1645920"/>
          </a:xfrm>
          <a:prstGeom prst="rect">
            <a:avLst/>
          </a:prstGeom>
          <a:noFill/>
          <a:ln/>
        </p:spPr>
        <p:txBody>
          <a:bodyPr wrap="square" lIns="0" tIns="0" rIns="0" bIns="0" rtlCol="0" anchor="t"/>
          <a:lstStyle/>
          <a:p>
            <a:pPr indent="0" marL="0">
              <a:lnSpc>
                <a:spcPct val="120000"/>
              </a:lnSpc>
              <a:buNone/>
            </a:pPr>
            <a:r>
              <a:rPr lang="en-US" sz="2100" i="1" dirty="0">
                <a:solidFill>
                  <a:srgbClr val="1A1D1F"/>
                </a:solidFill>
                <a:latin typeface="Cambria" pitchFamily="34" charset="0"/>
                <a:ea typeface="Cambria" pitchFamily="34" charset="-122"/>
                <a:cs typeface="Cambria" pitchFamily="34" charset="-120"/>
              </a:rPr>
              <a:t>Por primera vez se jerarquizó el riesgo de las tres clases clásicas: bloqueantes de calcio, luego inmunosupresores, luego antiepilépticos. Los bifosfonatos se asocian al agrandamiento gingival, quizá por PI3K-AKT y MAPK, y esto pide validación experimental.</a:t>
            </a:r>
            <a:endParaRPr lang="en-US" sz="2100" dirty="0"/>
          </a:p>
        </p:txBody>
      </p:sp>
      <p:sp>
        <p:nvSpPr>
          <p:cNvPr id="7" name="Text 5"/>
          <p:cNvSpPr txBox="1"/>
          <p:nvPr/>
        </p:nvSpPr>
        <p:spPr>
          <a:xfrm>
            <a:off x="822960" y="4343400"/>
            <a:ext cx="3657600"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Puntos clave</a:t>
            </a:r>
            <a:endParaRPr lang="en-US" sz="1100" dirty="0"/>
          </a:p>
        </p:txBody>
      </p:sp>
      <p:sp>
        <p:nvSpPr>
          <p:cNvPr id="8" name="Shape 6"/>
          <p:cNvSpPr/>
          <p:nvPr/>
        </p:nvSpPr>
        <p:spPr>
          <a:xfrm>
            <a:off x="822960" y="4544568"/>
            <a:ext cx="10545775" cy="0"/>
          </a:xfrm>
          <a:prstGeom prst="line">
            <a:avLst/>
          </a:prstGeom>
          <a:noFill/>
          <a:ln w="9525">
            <a:solidFill>
              <a:srgbClr val="D9D9D4"/>
            </a:solidFill>
            <a:prstDash val="solid"/>
          </a:ln>
        </p:spPr>
      </p:sp>
      <p:sp>
        <p:nvSpPr>
          <p:cNvPr id="9" name="Text 7"/>
          <p:cNvSpPr txBox="1"/>
          <p:nvPr/>
        </p:nvSpPr>
        <p:spPr>
          <a:xfrm>
            <a:off x="822960" y="461772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01</a:t>
            </a:r>
            <a:endParaRPr lang="en-US" sz="1200" dirty="0"/>
          </a:p>
        </p:txBody>
      </p:sp>
      <p:sp>
        <p:nvSpPr>
          <p:cNvPr id="10" name="Text 8"/>
          <p:cNvSpPr txBox="1"/>
          <p:nvPr/>
        </p:nvSpPr>
        <p:spPr>
          <a:xfrm>
            <a:off x="1371600" y="461772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Amlodipina domina los reportes actuales: es el antihipertensivo de primera línea en muchas guías.</a:t>
            </a:r>
            <a:endParaRPr lang="en-US" sz="1250" dirty="0"/>
          </a:p>
        </p:txBody>
      </p:sp>
      <p:sp>
        <p:nvSpPr>
          <p:cNvPr id="11" name="Shape 9"/>
          <p:cNvSpPr/>
          <p:nvPr/>
        </p:nvSpPr>
        <p:spPr>
          <a:xfrm>
            <a:off x="822960" y="5047488"/>
            <a:ext cx="10545775" cy="0"/>
          </a:xfrm>
          <a:prstGeom prst="line">
            <a:avLst/>
          </a:prstGeom>
          <a:noFill/>
          <a:ln w="9525">
            <a:solidFill>
              <a:srgbClr val="D9D9D4"/>
            </a:solidFill>
            <a:prstDash val="solid"/>
          </a:ln>
        </p:spPr>
      </p:sp>
      <p:sp>
        <p:nvSpPr>
          <p:cNvPr id="12" name="Text 10"/>
          <p:cNvSpPr txBox="1"/>
          <p:nvPr/>
        </p:nvSpPr>
        <p:spPr>
          <a:xfrm>
            <a:off x="822960" y="512064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02</a:t>
            </a:r>
            <a:endParaRPr lang="en-US" sz="1200" dirty="0"/>
          </a:p>
        </p:txBody>
      </p:sp>
      <p:sp>
        <p:nvSpPr>
          <p:cNvPr id="13" name="Text 11"/>
          <p:cNvSpPr txBox="1"/>
          <p:nvPr/>
        </p:nvSpPr>
        <p:spPr>
          <a:xfrm>
            <a:off x="1371600" y="512064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Valproato, levetiracetam y ácido zoledrónico tienen señal sin advertencia en el prospecto: los prospectos deben actualizarse con datos de poscomercialización.</a:t>
            </a:r>
            <a:endParaRPr lang="en-US" sz="1250" dirty="0"/>
          </a:p>
        </p:txBody>
      </p:sp>
      <p:sp>
        <p:nvSpPr>
          <p:cNvPr id="14" name="Shape 12"/>
          <p:cNvSpPr/>
          <p:nvPr/>
        </p:nvSpPr>
        <p:spPr>
          <a:xfrm>
            <a:off x="822960" y="5550408"/>
            <a:ext cx="10545775" cy="0"/>
          </a:xfrm>
          <a:prstGeom prst="line">
            <a:avLst/>
          </a:prstGeom>
          <a:noFill/>
          <a:ln w="9525">
            <a:solidFill>
              <a:srgbClr val="D9D9D4"/>
            </a:solidFill>
            <a:prstDash val="solid"/>
          </a:ln>
        </p:spPr>
      </p:sp>
      <p:sp>
        <p:nvSpPr>
          <p:cNvPr id="15" name="Text 13"/>
          <p:cNvSpPr txBox="1"/>
          <p:nvPr/>
        </p:nvSpPr>
        <p:spPr>
          <a:xfrm>
            <a:off x="822960" y="562356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03</a:t>
            </a:r>
            <a:endParaRPr lang="en-US" sz="1200" dirty="0"/>
          </a:p>
        </p:txBody>
      </p:sp>
      <p:sp>
        <p:nvSpPr>
          <p:cNvPr id="16" name="Text 14"/>
          <p:cNvSpPr txBox="1"/>
          <p:nvPr/>
        </p:nvSpPr>
        <p:spPr>
          <a:xfrm>
            <a:off x="1371600" y="562356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Límite del diseño: reportes espontáneos, sin denominador; no mide incidencia ni causalidad.</a:t>
            </a:r>
            <a:endParaRPr lang="en-US" sz="1250" dirty="0"/>
          </a:p>
        </p:txBody>
      </p:sp>
      <p:sp>
        <p:nvSpPr>
          <p:cNvPr id="17" name="Text 15"/>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16 / 28</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D1F"/>
        </a:solidFill>
      </p:bgPr>
    </p:bg>
    <p:spTree>
      <p:nvGrpSpPr>
        <p:cNvPr id="1" name=""/>
        <p:cNvGrpSpPr/>
        <p:nvPr/>
      </p:nvGrpSpPr>
      <p:grpSpPr>
        <a:xfrm>
          <a:off x="0" y="0"/>
          <a:ext cx="0" cy="0"/>
          <a:chOff x="0" y="0"/>
          <a:chExt cx="0" cy="0"/>
        </a:xfrm>
      </p:grpSpPr>
      <p:sp>
        <p:nvSpPr>
          <p:cNvPr id="2" name="Text 0"/>
          <p:cNvSpPr txBox="1"/>
          <p:nvPr/>
        </p:nvSpPr>
        <p:spPr>
          <a:xfrm>
            <a:off x="822960" y="822960"/>
            <a:ext cx="4572000" cy="274320"/>
          </a:xfrm>
          <a:prstGeom prst="rect">
            <a:avLst/>
          </a:prstGeom>
          <a:noFill/>
          <a:ln/>
        </p:spPr>
        <p:txBody>
          <a:bodyPr wrap="square" lIns="0" tIns="0" rIns="0" bIns="0" rtlCol="0" anchor="t"/>
          <a:lstStyle/>
          <a:p>
            <a:pPr indent="0" marL="0">
              <a:buNone/>
            </a:pPr>
            <a:r>
              <a:rPr lang="en-US" sz="1200" dirty="0">
                <a:solidFill>
                  <a:srgbClr val="9DBBF3"/>
                </a:solidFill>
                <a:latin typeface="Courier New" pitchFamily="34" charset="0"/>
                <a:ea typeface="Courier New" pitchFamily="34" charset="-122"/>
                <a:cs typeface="Courier New" pitchFamily="34" charset="-120"/>
              </a:rPr>
              <a:t>Artículo 3 de 3</a:t>
            </a:r>
            <a:endParaRPr lang="en-US" sz="1200" dirty="0"/>
          </a:p>
        </p:txBody>
      </p:sp>
      <p:sp>
        <p:nvSpPr>
          <p:cNvPr id="3" name="Text 1"/>
          <p:cNvSpPr txBox="1"/>
          <p:nvPr/>
        </p:nvSpPr>
        <p:spPr>
          <a:xfrm>
            <a:off x="5882335" y="822960"/>
            <a:ext cx="5486400" cy="274320"/>
          </a:xfrm>
          <a:prstGeom prst="rect">
            <a:avLst/>
          </a:prstGeom>
          <a:noFill/>
          <a:ln/>
        </p:spPr>
        <p:txBody>
          <a:bodyPr wrap="square" lIns="0" tIns="0" rIns="0" bIns="0" rtlCol="0" anchor="t"/>
          <a:lstStyle/>
          <a:p>
            <a:pPr algn="r" indent="0" marL="0">
              <a:buNone/>
            </a:pPr>
            <a:r>
              <a:rPr lang="en-US" sz="1200" dirty="0">
                <a:solidFill>
                  <a:srgbClr val="B3B8BD"/>
                </a:solidFill>
                <a:latin typeface="Courier New" pitchFamily="34" charset="0"/>
                <a:ea typeface="Courier New" pitchFamily="34" charset="-122"/>
                <a:cs typeface="Courier New" pitchFamily="34" charset="-120"/>
              </a:rPr>
              <a:t>Revisión sistemática y metaanálisis</a:t>
            </a:r>
            <a:endParaRPr lang="en-US" sz="1200" dirty="0"/>
          </a:p>
        </p:txBody>
      </p:sp>
      <p:sp>
        <p:nvSpPr>
          <p:cNvPr id="4" name="Text 2"/>
          <p:cNvSpPr txBox="1"/>
          <p:nvPr/>
        </p:nvSpPr>
        <p:spPr>
          <a:xfrm>
            <a:off x="822960" y="1920240"/>
            <a:ext cx="10241280" cy="1554480"/>
          </a:xfrm>
          <a:prstGeom prst="rect">
            <a:avLst/>
          </a:prstGeom>
          <a:noFill/>
          <a:ln/>
        </p:spPr>
        <p:txBody>
          <a:bodyPr wrap="square" lIns="0" tIns="0" rIns="0" bIns="0" rtlCol="0" anchor="t"/>
          <a:lstStyle/>
          <a:p>
            <a:pPr indent="0" marL="0">
              <a:lnSpc>
                <a:spcPct val="105000"/>
              </a:lnSpc>
              <a:buNone/>
            </a:pPr>
            <a:r>
              <a:rPr lang="en-US" sz="3200" i="1" dirty="0">
                <a:solidFill>
                  <a:srgbClr val="F4F4F1"/>
                </a:solidFill>
                <a:latin typeface="Cambria" pitchFamily="34" charset="0"/>
                <a:ea typeface="Cambria" pitchFamily="34" charset="-122"/>
                <a:cs typeface="Cambria" pitchFamily="34" charset="-120"/>
              </a:rPr>
              <a:t>Risk Factors and Management of Gingival Enlargement: A Systematic Review and Meta-Analysis</a:t>
            </a:r>
            <a:endParaRPr lang="en-US" sz="3200" dirty="0"/>
          </a:p>
        </p:txBody>
      </p:sp>
      <p:sp>
        <p:nvSpPr>
          <p:cNvPr id="5" name="Text 3"/>
          <p:cNvSpPr txBox="1"/>
          <p:nvPr/>
        </p:nvSpPr>
        <p:spPr>
          <a:xfrm>
            <a:off x="822960" y="3611880"/>
            <a:ext cx="9601200" cy="457200"/>
          </a:xfrm>
          <a:prstGeom prst="rect">
            <a:avLst/>
          </a:prstGeom>
          <a:noFill/>
          <a:ln/>
        </p:spPr>
        <p:txBody>
          <a:bodyPr wrap="square" lIns="0" tIns="0" rIns="0" bIns="0" rtlCol="0" anchor="t"/>
          <a:lstStyle/>
          <a:p>
            <a:pPr indent="0" marL="0">
              <a:lnSpc>
                <a:spcPct val="120000"/>
              </a:lnSpc>
              <a:buNone/>
            </a:pPr>
            <a:r>
              <a:rPr lang="en-US" sz="1400" dirty="0">
                <a:solidFill>
                  <a:srgbClr val="F4F4F1"/>
                </a:solidFill>
                <a:latin typeface="Calibri" pitchFamily="34" charset="0"/>
                <a:ea typeface="Calibri" pitchFamily="34" charset="-122"/>
                <a:cs typeface="Calibri" pitchFamily="34" charset="-120"/>
              </a:rPr>
              <a:t>Luigi Nibali, Emily Ming-Chieh Lu, Jing Kang, Nagihan Bostanci, Georgios N. Belibasakis, Helvis E. S. Paz</a:t>
            </a:r>
            <a:endParaRPr lang="en-US" sz="1400" dirty="0"/>
          </a:p>
        </p:txBody>
      </p:sp>
      <p:sp>
        <p:nvSpPr>
          <p:cNvPr id="6" name="Text 4"/>
          <p:cNvSpPr txBox="1"/>
          <p:nvPr/>
        </p:nvSpPr>
        <p:spPr>
          <a:xfrm>
            <a:off x="822960" y="4114800"/>
            <a:ext cx="9601200" cy="274320"/>
          </a:xfrm>
          <a:prstGeom prst="rect">
            <a:avLst/>
          </a:prstGeom>
          <a:noFill/>
          <a:ln/>
        </p:spPr>
        <p:txBody>
          <a:bodyPr wrap="square" lIns="0" tIns="0" rIns="0" bIns="0" rtlCol="0" anchor="t"/>
          <a:lstStyle/>
          <a:p>
            <a:pPr indent="0" marL="0">
              <a:buNone/>
            </a:pPr>
            <a:r>
              <a:rPr lang="en-US" sz="1300" dirty="0">
                <a:solidFill>
                  <a:srgbClr val="B3B8BD"/>
                </a:solidFill>
                <a:latin typeface="Calibri" pitchFamily="34" charset="0"/>
                <a:ea typeface="Calibri" pitchFamily="34" charset="-122"/>
                <a:cs typeface="Calibri" pitchFamily="34" charset="-120"/>
              </a:rPr>
              <a:t>Journal of Clinical Periodontology, 2026. Aceptado el 13 de marzo de 2026.</a:t>
            </a:r>
            <a:endParaRPr lang="en-US" sz="1300" dirty="0"/>
          </a:p>
        </p:txBody>
      </p:sp>
      <p:sp>
        <p:nvSpPr>
          <p:cNvPr id="7" name="Shape 5"/>
          <p:cNvSpPr/>
          <p:nvPr/>
        </p:nvSpPr>
        <p:spPr>
          <a:xfrm>
            <a:off x="822960" y="5257800"/>
            <a:ext cx="10545775" cy="0"/>
          </a:xfrm>
          <a:prstGeom prst="line">
            <a:avLst/>
          </a:prstGeom>
          <a:noFill/>
          <a:ln w="9525">
            <a:solidFill>
              <a:srgbClr val="3A3F44"/>
            </a:solidFill>
            <a:prstDash val="solid"/>
          </a:ln>
        </p:spPr>
      </p:sp>
      <p:sp>
        <p:nvSpPr>
          <p:cNvPr id="8" name="Text 6"/>
          <p:cNvSpPr txBox="1"/>
          <p:nvPr/>
        </p:nvSpPr>
        <p:spPr>
          <a:xfrm>
            <a:off x="822960" y="5376672"/>
            <a:ext cx="3657600" cy="228600"/>
          </a:xfrm>
          <a:prstGeom prst="rect">
            <a:avLst/>
          </a:prstGeom>
          <a:noFill/>
          <a:ln/>
        </p:spPr>
        <p:txBody>
          <a:bodyPr wrap="square" lIns="0" tIns="0" rIns="0" bIns="0" rtlCol="0" anchor="t"/>
          <a:lstStyle/>
          <a:p>
            <a:pPr indent="0" marL="0">
              <a:buNone/>
            </a:pPr>
            <a:r>
              <a:rPr lang="en-US" sz="1100" dirty="0">
                <a:solidFill>
                  <a:srgbClr val="B3B8BD"/>
                </a:solidFill>
                <a:latin typeface="Courier New" pitchFamily="34" charset="0"/>
                <a:ea typeface="Courier New" pitchFamily="34" charset="-122"/>
                <a:cs typeface="Courier New" pitchFamily="34" charset="-120"/>
              </a:rPr>
              <a:t>Referencia</a:t>
            </a:r>
            <a:endParaRPr lang="en-US" sz="1100" dirty="0"/>
          </a:p>
        </p:txBody>
      </p:sp>
      <p:sp>
        <p:nvSpPr>
          <p:cNvPr id="9" name="Text 7"/>
          <p:cNvSpPr txBox="1"/>
          <p:nvPr/>
        </p:nvSpPr>
        <p:spPr>
          <a:xfrm>
            <a:off x="822960" y="5623560"/>
            <a:ext cx="10545775" cy="548640"/>
          </a:xfrm>
          <a:prstGeom prst="rect">
            <a:avLst/>
          </a:prstGeom>
          <a:noFill/>
          <a:ln/>
        </p:spPr>
        <p:txBody>
          <a:bodyPr wrap="square" lIns="0" tIns="0" rIns="0" bIns="0" rtlCol="0" anchor="t"/>
          <a:lstStyle/>
          <a:p>
            <a:pPr indent="0" marL="0">
              <a:lnSpc>
                <a:spcPct val="120000"/>
              </a:lnSpc>
              <a:buNone/>
            </a:pPr>
            <a:r>
              <a:rPr lang="en-US" sz="1200" dirty="0">
                <a:solidFill>
                  <a:srgbClr val="F4F4F1"/>
                </a:solidFill>
                <a:latin typeface="Calibri" pitchFamily="34" charset="0"/>
                <a:ea typeface="Calibri" pitchFamily="34" charset="-122"/>
                <a:cs typeface="Calibri" pitchFamily="34" charset="-120"/>
              </a:rPr>
              <a:t>Nibali L, Lu EM, Kang J, Bostanci N, Belibasakis GN, Paz HES. Risk Factors and Management of Gingival Enlargement: A Systematic Review and Meta-Analysis. J Clin Periodontol. 2026. doi:10.1111/jcpe.70125</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Resumen</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Nibali et al. 2026, J Clin Periodontol</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Una revisión sistemática de 349 estudios sobre riesgo y tratamiento</a:t>
            </a:r>
            <a:endParaRPr lang="en-US" sz="3600" dirty="0"/>
          </a:p>
        </p:txBody>
      </p:sp>
      <p:sp>
        <p:nvSpPr>
          <p:cNvPr id="6" name="Text 4"/>
          <p:cNvSpPr txBox="1"/>
          <p:nvPr/>
        </p:nvSpPr>
        <p:spPr>
          <a:xfrm>
            <a:off x="822960" y="2514600"/>
            <a:ext cx="4114800" cy="1463040"/>
          </a:xfrm>
          <a:prstGeom prst="rect">
            <a:avLst/>
          </a:prstGeom>
          <a:noFill/>
          <a:ln/>
        </p:spPr>
        <p:txBody>
          <a:bodyPr wrap="square" lIns="0" tIns="0" rIns="0" bIns="0" rtlCol="0" anchor="t"/>
          <a:lstStyle/>
          <a:p>
            <a:pPr indent="0" marL="0">
              <a:lnSpc>
                <a:spcPct val="110000"/>
              </a:lnSpc>
              <a:buNone/>
            </a:pPr>
            <a:r>
              <a:rPr lang="en-US" sz="1900" i="1" dirty="0">
                <a:solidFill>
                  <a:srgbClr val="1A1D1F"/>
                </a:solidFill>
                <a:latin typeface="Cambria" pitchFamily="34" charset="0"/>
                <a:ea typeface="Cambria" pitchFamily="34" charset="-122"/>
                <a:cs typeface="Cambria" pitchFamily="34" charset="-120"/>
              </a:rPr>
              <a:t>Risk Factors and Management of Gingival Enlargement: A Systematic Review and Meta-Analysis</a:t>
            </a:r>
            <a:endParaRPr lang="en-US" sz="1900" dirty="0"/>
          </a:p>
        </p:txBody>
      </p:sp>
      <p:sp>
        <p:nvSpPr>
          <p:cNvPr id="7" name="Text 5"/>
          <p:cNvSpPr txBox="1"/>
          <p:nvPr/>
        </p:nvSpPr>
        <p:spPr>
          <a:xfrm>
            <a:off x="822960" y="4069080"/>
            <a:ext cx="4114800" cy="914400"/>
          </a:xfrm>
          <a:prstGeom prst="rect">
            <a:avLst/>
          </a:prstGeom>
          <a:noFill/>
          <a:ln/>
        </p:spPr>
        <p:txBody>
          <a:bodyPr wrap="square" lIns="0" tIns="0" rIns="0" bIns="0" rtlCol="0" anchor="t"/>
          <a:lstStyle/>
          <a:p>
            <a:pPr indent="0" marL="0">
              <a:lnSpc>
                <a:spcPct val="120000"/>
              </a:lnSpc>
              <a:buNone/>
            </a:pPr>
            <a:r>
              <a:rPr lang="en-US" sz="1200" dirty="0">
                <a:solidFill>
                  <a:srgbClr val="3B4045"/>
                </a:solidFill>
                <a:latin typeface="Calibri" pitchFamily="34" charset="0"/>
                <a:ea typeface="Calibri" pitchFamily="34" charset="-122"/>
                <a:cs typeface="Calibri" pitchFamily="34" charset="-120"/>
              </a:rPr>
              <a:t>Luigi Nibali, Emily Ming-Chieh Lu, Jing Kang, Nagihan Bostanci, Georgios N. Belibasakis, Helvis E. S. Paz. King's College London, Karolinska Institutet, Universidade Estadual de Campinas.</a:t>
            </a:r>
            <a:endParaRPr lang="en-US" sz="1200" dirty="0"/>
          </a:p>
        </p:txBody>
      </p:sp>
      <p:sp>
        <p:nvSpPr>
          <p:cNvPr id="8" name="Text 6"/>
          <p:cNvSpPr txBox="1"/>
          <p:nvPr/>
        </p:nvSpPr>
        <p:spPr>
          <a:xfrm>
            <a:off x="822960" y="5029200"/>
            <a:ext cx="4114800"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Journal of Clinical Periodontology, 2026</a:t>
            </a:r>
            <a:endParaRPr lang="en-US" sz="1050" dirty="0"/>
          </a:p>
        </p:txBody>
      </p:sp>
      <p:sp>
        <p:nvSpPr>
          <p:cNvPr id="9" name="Text 7"/>
          <p:cNvSpPr txBox="1"/>
          <p:nvPr/>
        </p:nvSpPr>
        <p:spPr>
          <a:xfrm>
            <a:off x="822960" y="5257800"/>
            <a:ext cx="4114800" cy="274320"/>
          </a:xfrm>
          <a:prstGeom prst="rect">
            <a:avLst/>
          </a:prstGeom>
          <a:noFill/>
          <a:ln/>
        </p:spPr>
        <p:txBody>
          <a:bodyPr wrap="square" lIns="0" tIns="0" rIns="0" bIns="0" rtlCol="0" anchor="t"/>
          <a:lstStyle/>
          <a:p>
            <a:pPr indent="0" marL="0">
              <a:buNone/>
            </a:pPr>
            <a:r>
              <a:rPr lang="en-US" sz="1050" dirty="0">
                <a:solidFill>
                  <a:srgbClr val="666B70"/>
                </a:solidFill>
                <a:latin typeface="Courier New" pitchFamily="34" charset="0"/>
                <a:ea typeface="Courier New" pitchFamily="34" charset="-122"/>
                <a:cs typeface="Courier New" pitchFamily="34" charset="-120"/>
              </a:rPr>
              <a:t>doi 10.1111/jcpe.70125</a:t>
            </a:r>
            <a:endParaRPr lang="en-US" sz="1050" dirty="0"/>
          </a:p>
        </p:txBody>
      </p:sp>
      <p:sp>
        <p:nvSpPr>
          <p:cNvPr id="10" name="Text 8"/>
          <p:cNvSpPr txBox="1"/>
          <p:nvPr/>
        </p:nvSpPr>
        <p:spPr>
          <a:xfrm>
            <a:off x="5486400" y="2514600"/>
            <a:ext cx="1280160" cy="49225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Objetivo</a:t>
            </a:r>
            <a:endParaRPr lang="en-US" sz="1200" dirty="0"/>
          </a:p>
        </p:txBody>
      </p:sp>
      <p:sp>
        <p:nvSpPr>
          <p:cNvPr id="11" name="Text 9"/>
          <p:cNvSpPr txBox="1"/>
          <p:nvPr/>
        </p:nvSpPr>
        <p:spPr>
          <a:xfrm>
            <a:off x="6858000" y="2514600"/>
            <a:ext cx="4510735" cy="49225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Identificar factores e indicadores de riesgo de agrandamiento gingival y resumir la evidencia sobre su manejo.</a:t>
            </a:r>
            <a:endParaRPr lang="en-US" sz="1250" dirty="0"/>
          </a:p>
        </p:txBody>
      </p:sp>
      <p:sp>
        <p:nvSpPr>
          <p:cNvPr id="12" name="Shape 10"/>
          <p:cNvSpPr/>
          <p:nvPr/>
        </p:nvSpPr>
        <p:spPr>
          <a:xfrm>
            <a:off x="5486400" y="3116580"/>
            <a:ext cx="5882335" cy="0"/>
          </a:xfrm>
          <a:prstGeom prst="line">
            <a:avLst/>
          </a:prstGeom>
          <a:noFill/>
          <a:ln w="9525">
            <a:solidFill>
              <a:srgbClr val="D9D9D4"/>
            </a:solidFill>
            <a:prstDash val="solid"/>
          </a:ln>
        </p:spPr>
      </p:sp>
      <p:sp>
        <p:nvSpPr>
          <p:cNvPr id="13" name="Text 11"/>
          <p:cNvSpPr txBox="1"/>
          <p:nvPr/>
        </p:nvSpPr>
        <p:spPr>
          <a:xfrm>
            <a:off x="5486400" y="3244596"/>
            <a:ext cx="1280160" cy="70180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Métodos</a:t>
            </a:r>
            <a:endParaRPr lang="en-US" sz="1200" dirty="0"/>
          </a:p>
        </p:txBody>
      </p:sp>
      <p:sp>
        <p:nvSpPr>
          <p:cNvPr id="14" name="Text 12"/>
          <p:cNvSpPr txBox="1"/>
          <p:nvPr/>
        </p:nvSpPr>
        <p:spPr>
          <a:xfrm>
            <a:off x="6858000" y="3244596"/>
            <a:ext cx="4510735" cy="70180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Revisión sistemática PRISMA con dos preguntas: PECOTS para riesgo y PICOTS para tratamiento. Búsqueda en Medline, Embase y Web of Science.</a:t>
            </a:r>
            <a:endParaRPr lang="en-US" sz="1250" dirty="0"/>
          </a:p>
        </p:txBody>
      </p:sp>
      <p:sp>
        <p:nvSpPr>
          <p:cNvPr id="15" name="Shape 13"/>
          <p:cNvSpPr/>
          <p:nvPr/>
        </p:nvSpPr>
        <p:spPr>
          <a:xfrm>
            <a:off x="5486400" y="4056126"/>
            <a:ext cx="5882335" cy="0"/>
          </a:xfrm>
          <a:prstGeom prst="line">
            <a:avLst/>
          </a:prstGeom>
          <a:noFill/>
          <a:ln w="9525">
            <a:solidFill>
              <a:srgbClr val="D9D9D4"/>
            </a:solidFill>
            <a:prstDash val="solid"/>
          </a:ln>
        </p:spPr>
      </p:sp>
      <p:sp>
        <p:nvSpPr>
          <p:cNvPr id="16" name="Text 14"/>
          <p:cNvSpPr txBox="1"/>
          <p:nvPr/>
        </p:nvSpPr>
        <p:spPr>
          <a:xfrm>
            <a:off x="5486400" y="4184142"/>
            <a:ext cx="1280160" cy="91135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Resultados</a:t>
            </a:r>
            <a:endParaRPr lang="en-US" sz="1200" dirty="0"/>
          </a:p>
        </p:txBody>
      </p:sp>
      <p:sp>
        <p:nvSpPr>
          <p:cNvPr id="17" name="Text 15"/>
          <p:cNvSpPr txBox="1"/>
          <p:nvPr/>
        </p:nvSpPr>
        <p:spPr>
          <a:xfrm>
            <a:off x="6858000" y="4184142"/>
            <a:ext cx="4510735" cy="91135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3.609 registros, 349 estudios incluidos: 299 sobre riesgo y 50 sobre tratamiento. Prevalencia alta con fenitoína, bloqueantes de calcio y ciclosporina A. La higiene deficiente es el factor más consistente.</a:t>
            </a:r>
            <a:endParaRPr lang="en-US" sz="1250" dirty="0"/>
          </a:p>
        </p:txBody>
      </p:sp>
      <p:sp>
        <p:nvSpPr>
          <p:cNvPr id="18" name="Shape 16"/>
          <p:cNvSpPr/>
          <p:nvPr/>
        </p:nvSpPr>
        <p:spPr>
          <a:xfrm>
            <a:off x="5486400" y="5205222"/>
            <a:ext cx="5882335" cy="0"/>
          </a:xfrm>
          <a:prstGeom prst="line">
            <a:avLst/>
          </a:prstGeom>
          <a:noFill/>
          <a:ln w="9525">
            <a:solidFill>
              <a:srgbClr val="D9D9D4"/>
            </a:solidFill>
            <a:prstDash val="solid"/>
          </a:ln>
        </p:spPr>
      </p:sp>
      <p:sp>
        <p:nvSpPr>
          <p:cNvPr id="19" name="Text 17"/>
          <p:cNvSpPr txBox="1"/>
          <p:nvPr/>
        </p:nvSpPr>
        <p:spPr>
          <a:xfrm>
            <a:off x="5486400" y="5333238"/>
            <a:ext cx="1280160" cy="911352"/>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Conclusión</a:t>
            </a:r>
            <a:endParaRPr lang="en-US" sz="1200" dirty="0"/>
          </a:p>
        </p:txBody>
      </p:sp>
      <p:sp>
        <p:nvSpPr>
          <p:cNvPr id="20" name="Text 18"/>
          <p:cNvSpPr txBox="1"/>
          <p:nvPr/>
        </p:nvSpPr>
        <p:spPr>
          <a:xfrm>
            <a:off x="6858000" y="5333238"/>
            <a:ext cx="4510735" cy="911352"/>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Instrucción de higiene y remoción profesional de placa son necesarias en quienes inician o reciben esos fármacos u ortodoncia; los coadyuvantes sirven en casos graves o recurrentes.</a:t>
            </a:r>
            <a:endParaRPr lang="en-US" sz="1250" dirty="0"/>
          </a:p>
        </p:txBody>
      </p:sp>
      <p:sp>
        <p:nvSpPr>
          <p:cNvPr id="21" name="Text 19"/>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18 / 28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Materiales y métodos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Nibali et al. 2026, J Clin Periodontol</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Protocolo registrado, tres bases de datos y dos preguntas: riesgo y tratamiento</a:t>
            </a:r>
            <a:endParaRPr lang="en-US" sz="3600" dirty="0"/>
          </a:p>
        </p:txBody>
      </p:sp>
      <p:sp>
        <p:nvSpPr>
          <p:cNvPr id="6" name="Shape 4"/>
          <p:cNvSpPr/>
          <p:nvPr/>
        </p:nvSpPr>
        <p:spPr>
          <a:xfrm>
            <a:off x="822960" y="2514600"/>
            <a:ext cx="1920240" cy="640080"/>
          </a:xfrm>
          <a:prstGeom prst="rect">
            <a:avLst/>
          </a:prstGeom>
          <a:solidFill>
            <a:srgbClr val="FAFAF7"/>
          </a:solidFill>
          <a:ln w="15875">
            <a:solidFill>
              <a:srgbClr val="1A1D1F"/>
            </a:solidFill>
            <a:prstDash val="solid"/>
          </a:ln>
        </p:spPr>
      </p:sp>
      <p:sp>
        <p:nvSpPr>
          <p:cNvPr id="7" name="Text 5"/>
          <p:cNvSpPr txBox="1"/>
          <p:nvPr/>
        </p:nvSpPr>
        <p:spPr>
          <a:xfrm>
            <a:off x="932688" y="2514600"/>
            <a:ext cx="1737360" cy="640080"/>
          </a:xfrm>
          <a:prstGeom prst="rect">
            <a:avLst/>
          </a:prstGeom>
          <a:noFill/>
          <a:ln/>
        </p:spPr>
        <p:txBody>
          <a:bodyPr wrap="square" lIns="0" tIns="0" rIns="0" bIns="0" rtlCol="0" anchor="ctr"/>
          <a:lstStyle/>
          <a:p>
            <a:pPr indent="0" marL="0">
              <a:lnSpc>
                <a:spcPct val="100000"/>
              </a:lnSpc>
              <a:buNone/>
            </a:pPr>
            <a:r>
              <a:rPr lang="en-US" sz="1800" dirty="0">
                <a:solidFill>
                  <a:srgbClr val="1A1D1F"/>
                </a:solidFill>
                <a:latin typeface="Cambria" pitchFamily="34" charset="0"/>
                <a:ea typeface="Cambria" pitchFamily="34" charset="-122"/>
                <a:cs typeface="Cambria" pitchFamily="34" charset="-120"/>
              </a:rPr>
              <a:t>3.609
</a:t>
            </a:r>
            <a:pPr indent="0" marL="0">
              <a:lnSpc>
                <a:spcPct val="100000"/>
              </a:lnSpc>
              <a:buNone/>
            </a:pPr>
            <a:r>
              <a:rPr lang="en-US" sz="1050" dirty="0">
                <a:solidFill>
                  <a:srgbClr val="3B4045"/>
                </a:solidFill>
              </a:rPr>
              <a:t>registros identificados</a:t>
            </a:r>
            <a:endParaRPr lang="en-US" sz="1800" dirty="0"/>
          </a:p>
        </p:txBody>
      </p:sp>
      <p:sp>
        <p:nvSpPr>
          <p:cNvPr id="8" name="Shape 6"/>
          <p:cNvSpPr/>
          <p:nvPr/>
        </p:nvSpPr>
        <p:spPr>
          <a:xfrm>
            <a:off x="822960" y="3520440"/>
            <a:ext cx="1920240" cy="640080"/>
          </a:xfrm>
          <a:prstGeom prst="rect">
            <a:avLst/>
          </a:prstGeom>
          <a:solidFill>
            <a:srgbClr val="FAFAF7"/>
          </a:solidFill>
          <a:ln w="15875">
            <a:solidFill>
              <a:srgbClr val="1A1D1F"/>
            </a:solidFill>
            <a:prstDash val="solid"/>
          </a:ln>
        </p:spPr>
      </p:sp>
      <p:sp>
        <p:nvSpPr>
          <p:cNvPr id="9" name="Text 7"/>
          <p:cNvSpPr txBox="1"/>
          <p:nvPr/>
        </p:nvSpPr>
        <p:spPr>
          <a:xfrm>
            <a:off x="932688" y="3520440"/>
            <a:ext cx="1737360" cy="640080"/>
          </a:xfrm>
          <a:prstGeom prst="rect">
            <a:avLst/>
          </a:prstGeom>
          <a:noFill/>
          <a:ln/>
        </p:spPr>
        <p:txBody>
          <a:bodyPr wrap="square" lIns="0" tIns="0" rIns="0" bIns="0" rtlCol="0" anchor="ctr"/>
          <a:lstStyle/>
          <a:p>
            <a:pPr indent="0" marL="0">
              <a:lnSpc>
                <a:spcPct val="100000"/>
              </a:lnSpc>
              <a:buNone/>
            </a:pPr>
            <a:r>
              <a:rPr lang="en-US" sz="1800" dirty="0">
                <a:solidFill>
                  <a:srgbClr val="1A1D1F"/>
                </a:solidFill>
                <a:latin typeface="Cambria" pitchFamily="34" charset="0"/>
                <a:ea typeface="Cambria" pitchFamily="34" charset="-122"/>
                <a:cs typeface="Cambria" pitchFamily="34" charset="-120"/>
              </a:rPr>
              <a:t>629
</a:t>
            </a:r>
            <a:pPr indent="0" marL="0">
              <a:lnSpc>
                <a:spcPct val="100000"/>
              </a:lnSpc>
              <a:buNone/>
            </a:pPr>
            <a:r>
              <a:rPr lang="en-US" sz="1050" dirty="0">
                <a:solidFill>
                  <a:srgbClr val="3B4045"/>
                </a:solidFill>
              </a:rPr>
              <a:t>pasan título y resumen</a:t>
            </a:r>
            <a:endParaRPr lang="en-US" sz="1800" dirty="0"/>
          </a:p>
        </p:txBody>
      </p:sp>
      <p:sp>
        <p:nvSpPr>
          <p:cNvPr id="10" name="Shape 8"/>
          <p:cNvSpPr/>
          <p:nvPr/>
        </p:nvSpPr>
        <p:spPr>
          <a:xfrm>
            <a:off x="822960" y="4526280"/>
            <a:ext cx="1920240" cy="640080"/>
          </a:xfrm>
          <a:prstGeom prst="rect">
            <a:avLst/>
          </a:prstGeom>
          <a:solidFill>
            <a:srgbClr val="1F4E9C"/>
          </a:solidFill>
          <a:ln w="15875">
            <a:solidFill>
              <a:srgbClr val="1F4E9C"/>
            </a:solidFill>
            <a:prstDash val="solid"/>
          </a:ln>
        </p:spPr>
      </p:sp>
      <p:sp>
        <p:nvSpPr>
          <p:cNvPr id="11" name="Text 9"/>
          <p:cNvSpPr txBox="1"/>
          <p:nvPr/>
        </p:nvSpPr>
        <p:spPr>
          <a:xfrm>
            <a:off x="932688" y="4526280"/>
            <a:ext cx="1737360" cy="640080"/>
          </a:xfrm>
          <a:prstGeom prst="rect">
            <a:avLst/>
          </a:prstGeom>
          <a:noFill/>
          <a:ln/>
        </p:spPr>
        <p:txBody>
          <a:bodyPr wrap="square" lIns="0" tIns="0" rIns="0" bIns="0" rtlCol="0" anchor="ctr"/>
          <a:lstStyle/>
          <a:p>
            <a:pPr indent="0" marL="0">
              <a:lnSpc>
                <a:spcPct val="100000"/>
              </a:lnSpc>
              <a:buNone/>
            </a:pPr>
            <a:r>
              <a:rPr lang="en-US" sz="1800" dirty="0">
                <a:solidFill>
                  <a:srgbClr val="F4F4F1"/>
                </a:solidFill>
                <a:latin typeface="Cambria" pitchFamily="34" charset="0"/>
                <a:ea typeface="Cambria" pitchFamily="34" charset="-122"/>
                <a:cs typeface="Cambria" pitchFamily="34" charset="-120"/>
              </a:rPr>
              <a:t>349
</a:t>
            </a:r>
            <a:pPr indent="0" marL="0">
              <a:lnSpc>
                <a:spcPct val="100000"/>
              </a:lnSpc>
              <a:buNone/>
            </a:pPr>
            <a:r>
              <a:rPr lang="en-US" sz="1050" dirty="0">
                <a:solidFill>
                  <a:srgbClr val="F4F4F1"/>
                </a:solidFill>
              </a:rPr>
              <a:t>incluidos a texto completo</a:t>
            </a:r>
            <a:endParaRPr lang="en-US" sz="1800" dirty="0"/>
          </a:p>
        </p:txBody>
      </p:sp>
      <p:sp>
        <p:nvSpPr>
          <p:cNvPr id="12" name="Shape 10"/>
          <p:cNvSpPr/>
          <p:nvPr/>
        </p:nvSpPr>
        <p:spPr>
          <a:xfrm>
            <a:off x="3154680" y="4526280"/>
            <a:ext cx="1920240" cy="640080"/>
          </a:xfrm>
          <a:prstGeom prst="rect">
            <a:avLst/>
          </a:prstGeom>
          <a:solidFill>
            <a:srgbClr val="FAFAF7"/>
          </a:solidFill>
          <a:ln w="15875">
            <a:solidFill>
              <a:srgbClr val="1A1D1F"/>
            </a:solidFill>
            <a:prstDash val="solid"/>
          </a:ln>
        </p:spPr>
      </p:sp>
      <p:sp>
        <p:nvSpPr>
          <p:cNvPr id="13" name="Text 11"/>
          <p:cNvSpPr txBox="1"/>
          <p:nvPr/>
        </p:nvSpPr>
        <p:spPr>
          <a:xfrm>
            <a:off x="3264408" y="4526280"/>
            <a:ext cx="1737360" cy="640080"/>
          </a:xfrm>
          <a:prstGeom prst="rect">
            <a:avLst/>
          </a:prstGeom>
          <a:noFill/>
          <a:ln/>
        </p:spPr>
        <p:txBody>
          <a:bodyPr wrap="square" lIns="0" tIns="0" rIns="0" bIns="0" rtlCol="0" anchor="ctr"/>
          <a:lstStyle/>
          <a:p>
            <a:pPr indent="0" marL="0">
              <a:lnSpc>
                <a:spcPct val="100000"/>
              </a:lnSpc>
              <a:buNone/>
            </a:pPr>
            <a:r>
              <a:rPr lang="en-US" sz="1800" dirty="0">
                <a:solidFill>
                  <a:srgbClr val="1A1D1F"/>
                </a:solidFill>
                <a:latin typeface="Cambria" pitchFamily="34" charset="0"/>
                <a:ea typeface="Cambria" pitchFamily="34" charset="-122"/>
                <a:cs typeface="Cambria" pitchFamily="34" charset="-120"/>
              </a:rPr>
              <a:t>299
</a:t>
            </a:r>
            <a:pPr indent="0" marL="0">
              <a:lnSpc>
                <a:spcPct val="100000"/>
              </a:lnSpc>
              <a:buNone/>
            </a:pPr>
            <a:r>
              <a:rPr lang="en-US" sz="1050" dirty="0">
                <a:solidFill>
                  <a:srgbClr val="3B4045"/>
                </a:solidFill>
              </a:rPr>
              <a:t>riesgo, PECOTS</a:t>
            </a:r>
            <a:endParaRPr lang="en-US" sz="1800" dirty="0"/>
          </a:p>
        </p:txBody>
      </p:sp>
      <p:sp>
        <p:nvSpPr>
          <p:cNvPr id="14" name="Shape 12"/>
          <p:cNvSpPr/>
          <p:nvPr/>
        </p:nvSpPr>
        <p:spPr>
          <a:xfrm>
            <a:off x="3154680" y="5349240"/>
            <a:ext cx="1920240" cy="640080"/>
          </a:xfrm>
          <a:prstGeom prst="rect">
            <a:avLst/>
          </a:prstGeom>
          <a:solidFill>
            <a:srgbClr val="FAFAF7"/>
          </a:solidFill>
          <a:ln w="15875">
            <a:solidFill>
              <a:srgbClr val="1A1D1F"/>
            </a:solidFill>
            <a:prstDash val="solid"/>
          </a:ln>
        </p:spPr>
      </p:sp>
      <p:sp>
        <p:nvSpPr>
          <p:cNvPr id="15" name="Text 13"/>
          <p:cNvSpPr txBox="1"/>
          <p:nvPr/>
        </p:nvSpPr>
        <p:spPr>
          <a:xfrm>
            <a:off x="3264408" y="5349240"/>
            <a:ext cx="1737360" cy="640080"/>
          </a:xfrm>
          <a:prstGeom prst="rect">
            <a:avLst/>
          </a:prstGeom>
          <a:noFill/>
          <a:ln/>
        </p:spPr>
        <p:txBody>
          <a:bodyPr wrap="square" lIns="0" tIns="0" rIns="0" bIns="0" rtlCol="0" anchor="ctr"/>
          <a:lstStyle/>
          <a:p>
            <a:pPr indent="0" marL="0">
              <a:lnSpc>
                <a:spcPct val="100000"/>
              </a:lnSpc>
              <a:buNone/>
            </a:pPr>
            <a:r>
              <a:rPr lang="en-US" sz="1800" dirty="0">
                <a:solidFill>
                  <a:srgbClr val="1A1D1F"/>
                </a:solidFill>
                <a:latin typeface="Cambria" pitchFamily="34" charset="0"/>
                <a:ea typeface="Cambria" pitchFamily="34" charset="-122"/>
                <a:cs typeface="Cambria" pitchFamily="34" charset="-120"/>
              </a:rPr>
              <a:t>50
</a:t>
            </a:r>
            <a:pPr indent="0" marL="0">
              <a:lnSpc>
                <a:spcPct val="100000"/>
              </a:lnSpc>
              <a:buNone/>
            </a:pPr>
            <a:r>
              <a:rPr lang="en-US" sz="1050" dirty="0">
                <a:solidFill>
                  <a:srgbClr val="3B4045"/>
                </a:solidFill>
              </a:rPr>
              <a:t>tratamiento, PICOTS, 18 ECA</a:t>
            </a:r>
            <a:endParaRPr lang="en-US" sz="1800" dirty="0"/>
          </a:p>
        </p:txBody>
      </p:sp>
      <p:sp>
        <p:nvSpPr>
          <p:cNvPr id="16" name="Shape 14"/>
          <p:cNvSpPr/>
          <p:nvPr/>
        </p:nvSpPr>
        <p:spPr>
          <a:xfrm>
            <a:off x="1783080" y="3154680"/>
            <a:ext cx="0" cy="365760"/>
          </a:xfrm>
          <a:prstGeom prst="line">
            <a:avLst/>
          </a:prstGeom>
          <a:noFill/>
          <a:ln w="19050">
            <a:solidFill>
              <a:srgbClr val="1A1D1F"/>
            </a:solidFill>
            <a:prstDash val="solid"/>
            <a:tailEnd type="triangle"/>
          </a:ln>
        </p:spPr>
      </p:sp>
      <p:sp>
        <p:nvSpPr>
          <p:cNvPr id="17" name="Shape 15"/>
          <p:cNvSpPr/>
          <p:nvPr/>
        </p:nvSpPr>
        <p:spPr>
          <a:xfrm>
            <a:off x="1783080" y="4160520"/>
            <a:ext cx="0" cy="365760"/>
          </a:xfrm>
          <a:prstGeom prst="line">
            <a:avLst/>
          </a:prstGeom>
          <a:noFill/>
          <a:ln w="19050">
            <a:solidFill>
              <a:srgbClr val="1A1D1F"/>
            </a:solidFill>
            <a:prstDash val="solid"/>
            <a:tailEnd type="triangle"/>
          </a:ln>
        </p:spPr>
      </p:sp>
      <p:sp>
        <p:nvSpPr>
          <p:cNvPr id="18" name="Shape 16"/>
          <p:cNvSpPr/>
          <p:nvPr/>
        </p:nvSpPr>
        <p:spPr>
          <a:xfrm>
            <a:off x="2743200" y="4800600"/>
            <a:ext cx="411480" cy="0"/>
          </a:xfrm>
          <a:prstGeom prst="line">
            <a:avLst/>
          </a:prstGeom>
          <a:noFill/>
          <a:ln w="19050">
            <a:solidFill>
              <a:srgbClr val="1A1D1F"/>
            </a:solidFill>
            <a:prstDash val="solid"/>
            <a:tailEnd type="triangle"/>
          </a:ln>
        </p:spPr>
      </p:sp>
      <p:sp>
        <p:nvSpPr>
          <p:cNvPr id="19" name="Shape 17"/>
          <p:cNvSpPr/>
          <p:nvPr/>
        </p:nvSpPr>
        <p:spPr>
          <a:xfrm>
            <a:off x="2743200" y="4983480"/>
            <a:ext cx="182880" cy="0"/>
          </a:xfrm>
          <a:prstGeom prst="line">
            <a:avLst/>
          </a:prstGeom>
          <a:noFill/>
          <a:ln w="19050">
            <a:solidFill>
              <a:srgbClr val="1A1D1F"/>
            </a:solidFill>
            <a:prstDash val="solid"/>
          </a:ln>
        </p:spPr>
      </p:sp>
      <p:sp>
        <p:nvSpPr>
          <p:cNvPr id="20" name="Shape 18"/>
          <p:cNvSpPr/>
          <p:nvPr/>
        </p:nvSpPr>
        <p:spPr>
          <a:xfrm>
            <a:off x="2926080" y="4983480"/>
            <a:ext cx="0" cy="685800"/>
          </a:xfrm>
          <a:prstGeom prst="line">
            <a:avLst/>
          </a:prstGeom>
          <a:noFill/>
          <a:ln w="19050">
            <a:solidFill>
              <a:srgbClr val="1A1D1F"/>
            </a:solidFill>
            <a:prstDash val="solid"/>
          </a:ln>
        </p:spPr>
      </p:sp>
      <p:sp>
        <p:nvSpPr>
          <p:cNvPr id="21" name="Shape 19"/>
          <p:cNvSpPr/>
          <p:nvPr/>
        </p:nvSpPr>
        <p:spPr>
          <a:xfrm>
            <a:off x="2926080" y="5669280"/>
            <a:ext cx="228600" cy="0"/>
          </a:xfrm>
          <a:prstGeom prst="line">
            <a:avLst/>
          </a:prstGeom>
          <a:noFill/>
          <a:ln w="19050">
            <a:solidFill>
              <a:srgbClr val="1A1D1F"/>
            </a:solidFill>
            <a:prstDash val="solid"/>
            <a:tailEnd type="triangle"/>
          </a:ln>
        </p:spPr>
      </p:sp>
      <p:sp>
        <p:nvSpPr>
          <p:cNvPr id="22" name="Text 20"/>
          <p:cNvSpPr txBox="1"/>
          <p:nvPr/>
        </p:nvSpPr>
        <p:spPr>
          <a:xfrm>
            <a:off x="5669280" y="2514600"/>
            <a:ext cx="1097280" cy="458724"/>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Protocolo</a:t>
            </a:r>
            <a:endParaRPr lang="en-US" sz="1200" dirty="0"/>
          </a:p>
        </p:txBody>
      </p:sp>
      <p:sp>
        <p:nvSpPr>
          <p:cNvPr id="23" name="Text 21"/>
          <p:cNvSpPr txBox="1"/>
          <p:nvPr/>
        </p:nvSpPr>
        <p:spPr>
          <a:xfrm>
            <a:off x="6858000" y="2514600"/>
            <a:ext cx="4510735" cy="458724"/>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PROSPERO CRD420251162214, registrado el 15 de octubre de 2025, sin enmiendas. Reporte según PRISMA 2020.</a:t>
            </a:r>
            <a:endParaRPr lang="en-US" sz="1150" dirty="0"/>
          </a:p>
        </p:txBody>
      </p:sp>
      <p:sp>
        <p:nvSpPr>
          <p:cNvPr id="24" name="Shape 22"/>
          <p:cNvSpPr/>
          <p:nvPr/>
        </p:nvSpPr>
        <p:spPr>
          <a:xfrm>
            <a:off x="5669280" y="3083052"/>
            <a:ext cx="5699455" cy="0"/>
          </a:xfrm>
          <a:prstGeom prst="line">
            <a:avLst/>
          </a:prstGeom>
          <a:noFill/>
          <a:ln w="9525">
            <a:solidFill>
              <a:srgbClr val="D9D9D4"/>
            </a:solidFill>
            <a:prstDash val="solid"/>
          </a:ln>
        </p:spPr>
      </p:sp>
      <p:sp>
        <p:nvSpPr>
          <p:cNvPr id="25" name="Text 23"/>
          <p:cNvSpPr txBox="1"/>
          <p:nvPr/>
        </p:nvSpPr>
        <p:spPr>
          <a:xfrm>
            <a:off x="5669280" y="3211068"/>
            <a:ext cx="1097280" cy="651510"/>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Búsqueda</a:t>
            </a:r>
            <a:endParaRPr lang="en-US" sz="1200" dirty="0"/>
          </a:p>
        </p:txBody>
      </p:sp>
      <p:sp>
        <p:nvSpPr>
          <p:cNvPr id="26" name="Text 24"/>
          <p:cNvSpPr txBox="1"/>
          <p:nvPr/>
        </p:nvSpPr>
        <p:spPr>
          <a:xfrm>
            <a:off x="6858000" y="3211068"/>
            <a:ext cx="4510735" cy="651510"/>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Medline (Ovid), Embase y Web of Science, con MeSH y texto libre. Búsqueda manual en cuatro revistas de periodoncia, 2000 a mayo de 2025, y en listas de referencias.</a:t>
            </a:r>
            <a:endParaRPr lang="en-US" sz="1150" dirty="0"/>
          </a:p>
        </p:txBody>
      </p:sp>
      <p:sp>
        <p:nvSpPr>
          <p:cNvPr id="27" name="Shape 25"/>
          <p:cNvSpPr/>
          <p:nvPr/>
        </p:nvSpPr>
        <p:spPr>
          <a:xfrm>
            <a:off x="5669280" y="3972306"/>
            <a:ext cx="5699455" cy="0"/>
          </a:xfrm>
          <a:prstGeom prst="line">
            <a:avLst/>
          </a:prstGeom>
          <a:noFill/>
          <a:ln w="9525">
            <a:solidFill>
              <a:srgbClr val="D9D9D4"/>
            </a:solidFill>
            <a:prstDash val="solid"/>
          </a:ln>
        </p:spPr>
      </p:sp>
      <p:sp>
        <p:nvSpPr>
          <p:cNvPr id="28" name="Text 26"/>
          <p:cNvSpPr txBox="1"/>
          <p:nvPr/>
        </p:nvSpPr>
        <p:spPr>
          <a:xfrm>
            <a:off x="5669280" y="4100322"/>
            <a:ext cx="1097280" cy="844296"/>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Inclusión</a:t>
            </a:r>
            <a:endParaRPr lang="en-US" sz="1200" dirty="0"/>
          </a:p>
        </p:txBody>
      </p:sp>
      <p:sp>
        <p:nvSpPr>
          <p:cNvPr id="29" name="Text 27"/>
          <p:cNvSpPr txBox="1"/>
          <p:nvPr/>
        </p:nvSpPr>
        <p:spPr>
          <a:xfrm>
            <a:off x="6858000" y="4100322"/>
            <a:ext cx="4510735" cy="844296"/>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Diagnóstico de agrandamiento gingival; asociaciones con factores de riesgo; o resultados de tratamiento con al menos 3 meses de seguimiento. Mínimo 10 casos; se excluyen estudios en animales, reportes y series de casos.</a:t>
            </a:r>
            <a:endParaRPr lang="en-US" sz="1150" dirty="0"/>
          </a:p>
        </p:txBody>
      </p:sp>
      <p:sp>
        <p:nvSpPr>
          <p:cNvPr id="30" name="Shape 28"/>
          <p:cNvSpPr/>
          <p:nvPr/>
        </p:nvSpPr>
        <p:spPr>
          <a:xfrm>
            <a:off x="5669280" y="5054346"/>
            <a:ext cx="5699455" cy="0"/>
          </a:xfrm>
          <a:prstGeom prst="line">
            <a:avLst/>
          </a:prstGeom>
          <a:noFill/>
          <a:ln w="9525">
            <a:solidFill>
              <a:srgbClr val="D9D9D4"/>
            </a:solidFill>
            <a:prstDash val="solid"/>
          </a:ln>
        </p:spPr>
      </p:sp>
      <p:sp>
        <p:nvSpPr>
          <p:cNvPr id="31" name="Text 29"/>
          <p:cNvSpPr txBox="1"/>
          <p:nvPr/>
        </p:nvSpPr>
        <p:spPr>
          <a:xfrm>
            <a:off x="5669280" y="5182362"/>
            <a:ext cx="1097280" cy="651510"/>
          </a:xfrm>
          <a:prstGeom prst="rect">
            <a:avLst/>
          </a:prstGeom>
          <a:noFill/>
          <a:ln/>
        </p:spPr>
        <p:txBody>
          <a:bodyPr wrap="square" lIns="0" tIns="0" rIns="0" bIns="0" rtlCol="0" anchor="t"/>
          <a:lstStyle/>
          <a:p>
            <a:pPr indent="0" marL="0">
              <a:buNone/>
            </a:pPr>
            <a:r>
              <a:rPr lang="en-US" sz="1200" b="1" dirty="0">
                <a:solidFill>
                  <a:srgbClr val="1A1D1F"/>
                </a:solidFill>
                <a:latin typeface="Calibri" pitchFamily="34" charset="0"/>
                <a:ea typeface="Calibri" pitchFamily="34" charset="-122"/>
                <a:cs typeface="Calibri" pitchFamily="34" charset="-120"/>
              </a:rPr>
              <a:t>Calidad</a:t>
            </a:r>
            <a:endParaRPr lang="en-US" sz="1200" dirty="0"/>
          </a:p>
        </p:txBody>
      </p:sp>
      <p:sp>
        <p:nvSpPr>
          <p:cNvPr id="32" name="Text 30"/>
          <p:cNvSpPr txBox="1"/>
          <p:nvPr/>
        </p:nvSpPr>
        <p:spPr>
          <a:xfrm>
            <a:off x="6858000" y="5182362"/>
            <a:ext cx="4510735" cy="651510"/>
          </a:xfrm>
          <a:prstGeom prst="rect">
            <a:avLst/>
          </a:prstGeom>
          <a:noFill/>
          <a:ln/>
        </p:spPr>
        <p:txBody>
          <a:bodyPr wrap="square" lIns="0" tIns="0" rIns="0" bIns="0" rtlCol="0" anchor="t"/>
          <a:lstStyle/>
          <a:p>
            <a:pPr indent="0" marL="0">
              <a:lnSpc>
                <a:spcPct val="115000"/>
              </a:lnSpc>
              <a:buNone/>
            </a:pPr>
            <a:r>
              <a:rPr lang="en-US" sz="1150" dirty="0">
                <a:solidFill>
                  <a:srgbClr val="3B4045"/>
                </a:solidFill>
                <a:latin typeface="Calibri" pitchFamily="34" charset="0"/>
                <a:ea typeface="Calibri" pitchFamily="34" charset="-122"/>
                <a:cs typeface="Calibri" pitchFamily="34" charset="-120"/>
              </a:rPr>
              <a:t>Cuatro revisores calibrados (κ &gt; 0,81). RoB 2.0 para ensayos y Newcastle–Ottawa para observacionales. Metaanálisis si había 3 o más estudios comparables. Certeza con GRADE.</a:t>
            </a:r>
            <a:endParaRPr lang="en-US" sz="1150" dirty="0"/>
          </a:p>
        </p:txBody>
      </p:sp>
      <p:sp>
        <p:nvSpPr>
          <p:cNvPr id="33" name="Text 31"/>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19 / 28</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Resultados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Nibali et al. 2026, J Clin Periodontol</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Prevalencia combinada por fármaco y por ortodoncia</a:t>
            </a:r>
            <a:endParaRPr lang="en-US" sz="3600" dirty="0"/>
          </a:p>
        </p:txBody>
      </p:sp>
      <p:sp>
        <p:nvSpPr>
          <p:cNvPr id="6" name="Shape 4"/>
          <p:cNvSpPr/>
          <p:nvPr/>
        </p:nvSpPr>
        <p:spPr>
          <a:xfrm>
            <a:off x="5185954" y="2788920"/>
            <a:ext cx="0" cy="2240280"/>
          </a:xfrm>
          <a:prstGeom prst="line">
            <a:avLst/>
          </a:prstGeom>
          <a:noFill/>
          <a:ln w="9525">
            <a:solidFill>
              <a:srgbClr val="D9D9D4"/>
            </a:solidFill>
            <a:prstDash val="solid"/>
          </a:ln>
        </p:spPr>
      </p:sp>
      <p:sp>
        <p:nvSpPr>
          <p:cNvPr id="7" name="Text 5"/>
          <p:cNvSpPr txBox="1"/>
          <p:nvPr/>
        </p:nvSpPr>
        <p:spPr>
          <a:xfrm>
            <a:off x="4820194"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20 %</a:t>
            </a:r>
            <a:endParaRPr lang="en-US" sz="1050" dirty="0"/>
          </a:p>
        </p:txBody>
      </p:sp>
      <p:sp>
        <p:nvSpPr>
          <p:cNvPr id="8" name="Shape 6"/>
          <p:cNvSpPr/>
          <p:nvPr/>
        </p:nvSpPr>
        <p:spPr>
          <a:xfrm>
            <a:off x="6988629" y="2788920"/>
            <a:ext cx="0" cy="2240280"/>
          </a:xfrm>
          <a:prstGeom prst="line">
            <a:avLst/>
          </a:prstGeom>
          <a:noFill/>
          <a:ln w="9525">
            <a:solidFill>
              <a:srgbClr val="D9D9D4"/>
            </a:solidFill>
            <a:prstDash val="solid"/>
          </a:ln>
        </p:spPr>
      </p:sp>
      <p:sp>
        <p:nvSpPr>
          <p:cNvPr id="9" name="Text 7"/>
          <p:cNvSpPr txBox="1"/>
          <p:nvPr/>
        </p:nvSpPr>
        <p:spPr>
          <a:xfrm>
            <a:off x="6622869"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40 %</a:t>
            </a:r>
            <a:endParaRPr lang="en-US" sz="1050" dirty="0"/>
          </a:p>
        </p:txBody>
      </p:sp>
      <p:sp>
        <p:nvSpPr>
          <p:cNvPr id="10" name="Shape 8"/>
          <p:cNvSpPr/>
          <p:nvPr/>
        </p:nvSpPr>
        <p:spPr>
          <a:xfrm>
            <a:off x="8791303" y="2788920"/>
            <a:ext cx="0" cy="2240280"/>
          </a:xfrm>
          <a:prstGeom prst="line">
            <a:avLst/>
          </a:prstGeom>
          <a:noFill/>
          <a:ln w="9525">
            <a:solidFill>
              <a:srgbClr val="D9D9D4"/>
            </a:solidFill>
            <a:prstDash val="solid"/>
          </a:ln>
        </p:spPr>
      </p:sp>
      <p:sp>
        <p:nvSpPr>
          <p:cNvPr id="11" name="Text 9"/>
          <p:cNvSpPr txBox="1"/>
          <p:nvPr/>
        </p:nvSpPr>
        <p:spPr>
          <a:xfrm>
            <a:off x="8425543" y="2514600"/>
            <a:ext cx="731520" cy="228600"/>
          </a:xfrm>
          <a:prstGeom prst="rect">
            <a:avLst/>
          </a:prstGeom>
          <a:noFill/>
          <a:ln/>
        </p:spPr>
        <p:txBody>
          <a:bodyPr wrap="square" lIns="0" tIns="0" rIns="0" bIns="0" rtlCol="0" anchor="t"/>
          <a:lstStyle/>
          <a:p>
            <a:pPr algn="ctr" indent="0" marL="0">
              <a:buNone/>
            </a:pPr>
            <a:r>
              <a:rPr lang="en-US" sz="1050" dirty="0">
                <a:solidFill>
                  <a:srgbClr val="666B70"/>
                </a:solidFill>
                <a:latin typeface="Courier New" pitchFamily="34" charset="0"/>
                <a:ea typeface="Courier New" pitchFamily="34" charset="-122"/>
                <a:cs typeface="Courier New" pitchFamily="34" charset="-120"/>
              </a:rPr>
              <a:t>60 %</a:t>
            </a:r>
            <a:endParaRPr lang="en-US" sz="1050" dirty="0"/>
          </a:p>
        </p:txBody>
      </p:sp>
      <p:sp>
        <p:nvSpPr>
          <p:cNvPr id="12" name="Text 10"/>
          <p:cNvSpPr txBox="1"/>
          <p:nvPr/>
        </p:nvSpPr>
        <p:spPr>
          <a:xfrm>
            <a:off x="9784080" y="2514600"/>
            <a:ext cx="1581912" cy="22860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IC 95 %</a:t>
            </a:r>
            <a:endParaRPr lang="en-US" sz="1050" dirty="0"/>
          </a:p>
        </p:txBody>
      </p:sp>
      <p:sp>
        <p:nvSpPr>
          <p:cNvPr id="13" name="Text 11"/>
          <p:cNvSpPr txBox="1"/>
          <p:nvPr/>
        </p:nvSpPr>
        <p:spPr>
          <a:xfrm>
            <a:off x="822960" y="2971800"/>
            <a:ext cx="2468880" cy="274320"/>
          </a:xfrm>
          <a:prstGeom prst="rect">
            <a:avLst/>
          </a:prstGeom>
          <a:noFill/>
          <a:ln/>
        </p:spPr>
        <p:txBody>
          <a:bodyPr wrap="square" lIns="0" tIns="0" rIns="0" bIns="0" rtlCol="0" anchor="ctr"/>
          <a:lstStyle/>
          <a:p>
            <a:pPr indent="0" marL="0">
              <a:buNone/>
            </a:pPr>
            <a:r>
              <a:rPr lang="en-US" sz="1300" dirty="0">
                <a:solidFill>
                  <a:srgbClr val="1A1D1F"/>
                </a:solidFill>
                <a:latin typeface="Calibri" pitchFamily="34" charset="0"/>
                <a:ea typeface="Calibri" pitchFamily="34" charset="-122"/>
                <a:cs typeface="Calibri" pitchFamily="34" charset="-120"/>
              </a:rPr>
              <a:t>Fenitoína</a:t>
            </a:r>
            <a:endParaRPr lang="en-US" sz="1300" dirty="0"/>
          </a:p>
        </p:txBody>
      </p:sp>
      <p:sp>
        <p:nvSpPr>
          <p:cNvPr id="14" name="Shape 12"/>
          <p:cNvSpPr/>
          <p:nvPr/>
        </p:nvSpPr>
        <p:spPr>
          <a:xfrm>
            <a:off x="3383280" y="2971800"/>
            <a:ext cx="4686953" cy="274320"/>
          </a:xfrm>
          <a:prstGeom prst="rect">
            <a:avLst/>
          </a:prstGeom>
          <a:solidFill>
            <a:srgbClr val="1F4E9C"/>
          </a:solidFill>
          <a:ln w="12700">
            <a:solidFill>
              <a:srgbClr val="1F4E9C"/>
            </a:solidFill>
            <a:prstDash val="solid"/>
          </a:ln>
        </p:spPr>
      </p:sp>
      <p:sp>
        <p:nvSpPr>
          <p:cNvPr id="15" name="Shape 13"/>
          <p:cNvSpPr/>
          <p:nvPr/>
        </p:nvSpPr>
        <p:spPr>
          <a:xfrm>
            <a:off x="6898495" y="3108960"/>
            <a:ext cx="2253343" cy="0"/>
          </a:xfrm>
          <a:prstGeom prst="line">
            <a:avLst/>
          </a:prstGeom>
          <a:noFill/>
          <a:ln w="25400">
            <a:solidFill>
              <a:srgbClr val="FAFAF7"/>
            </a:solidFill>
            <a:prstDash val="solid"/>
          </a:ln>
        </p:spPr>
      </p:sp>
      <p:sp>
        <p:nvSpPr>
          <p:cNvPr id="16" name="Shape 14"/>
          <p:cNvSpPr/>
          <p:nvPr/>
        </p:nvSpPr>
        <p:spPr>
          <a:xfrm>
            <a:off x="6898495" y="3026664"/>
            <a:ext cx="0" cy="164592"/>
          </a:xfrm>
          <a:prstGeom prst="line">
            <a:avLst/>
          </a:prstGeom>
          <a:noFill/>
          <a:ln w="25400">
            <a:solidFill>
              <a:srgbClr val="1A1D1F"/>
            </a:solidFill>
            <a:prstDash val="solid"/>
          </a:ln>
        </p:spPr>
      </p:sp>
      <p:sp>
        <p:nvSpPr>
          <p:cNvPr id="17" name="Shape 15"/>
          <p:cNvSpPr/>
          <p:nvPr/>
        </p:nvSpPr>
        <p:spPr>
          <a:xfrm>
            <a:off x="9151838" y="3026664"/>
            <a:ext cx="0" cy="164592"/>
          </a:xfrm>
          <a:prstGeom prst="line">
            <a:avLst/>
          </a:prstGeom>
          <a:noFill/>
          <a:ln w="25400">
            <a:solidFill>
              <a:srgbClr val="1A1D1F"/>
            </a:solidFill>
            <a:prstDash val="solid"/>
          </a:ln>
        </p:spPr>
      </p:sp>
      <p:sp>
        <p:nvSpPr>
          <p:cNvPr id="18" name="Text 16"/>
          <p:cNvSpPr txBox="1"/>
          <p:nvPr/>
        </p:nvSpPr>
        <p:spPr>
          <a:xfrm>
            <a:off x="9784080" y="2971800"/>
            <a:ext cx="15819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52 % </a:t>
            </a:r>
            <a:pPr algn="r" indent="0" marL="0">
              <a:buNone/>
            </a:pPr>
            <a:r>
              <a:rPr lang="en-US" sz="1100" dirty="0">
                <a:solidFill>
                  <a:srgbClr val="666B70"/>
                </a:solidFill>
                <a:latin typeface="Courier New" pitchFamily="34" charset="0"/>
                <a:ea typeface="Courier New" pitchFamily="34" charset="-122"/>
                <a:cs typeface="Courier New" pitchFamily="34" charset="-120"/>
              </a:rPr>
              <a:t>(39 a 64)</a:t>
            </a:r>
            <a:endParaRPr lang="en-US" sz="1100" dirty="0"/>
          </a:p>
        </p:txBody>
      </p:sp>
      <p:sp>
        <p:nvSpPr>
          <p:cNvPr id="19" name="Text 17"/>
          <p:cNvSpPr txBox="1"/>
          <p:nvPr/>
        </p:nvSpPr>
        <p:spPr>
          <a:xfrm>
            <a:off x="822960" y="3520440"/>
            <a:ext cx="2468880" cy="274320"/>
          </a:xfrm>
          <a:prstGeom prst="rect">
            <a:avLst/>
          </a:prstGeom>
          <a:noFill/>
          <a:ln/>
        </p:spPr>
        <p:txBody>
          <a:bodyPr wrap="square" lIns="0" tIns="0" rIns="0" bIns="0" rtlCol="0" anchor="ctr"/>
          <a:lstStyle/>
          <a:p>
            <a:pPr indent="0" marL="0">
              <a:buNone/>
            </a:pPr>
            <a:r>
              <a:rPr lang="en-US" sz="1300" dirty="0">
                <a:solidFill>
                  <a:srgbClr val="1A1D1F"/>
                </a:solidFill>
                <a:latin typeface="Calibri" pitchFamily="34" charset="0"/>
                <a:ea typeface="Calibri" pitchFamily="34" charset="-122"/>
                <a:cs typeface="Calibri" pitchFamily="34" charset="-120"/>
              </a:rPr>
              <a:t>Ortodoncia fija</a:t>
            </a:r>
            <a:endParaRPr lang="en-US" sz="1300" dirty="0"/>
          </a:p>
        </p:txBody>
      </p:sp>
      <p:sp>
        <p:nvSpPr>
          <p:cNvPr id="20" name="Shape 18"/>
          <p:cNvSpPr/>
          <p:nvPr/>
        </p:nvSpPr>
        <p:spPr>
          <a:xfrm>
            <a:off x="3383280" y="3520440"/>
            <a:ext cx="4326418" cy="274320"/>
          </a:xfrm>
          <a:prstGeom prst="rect">
            <a:avLst/>
          </a:prstGeom>
          <a:solidFill>
            <a:srgbClr val="1A1D1F"/>
          </a:solidFill>
          <a:ln w="12700">
            <a:solidFill>
              <a:srgbClr val="1A1D1F"/>
            </a:solidFill>
            <a:prstDash val="solid"/>
          </a:ln>
        </p:spPr>
      </p:sp>
      <p:sp>
        <p:nvSpPr>
          <p:cNvPr id="21" name="Shape 19"/>
          <p:cNvSpPr/>
          <p:nvPr/>
        </p:nvSpPr>
        <p:spPr>
          <a:xfrm>
            <a:off x="6628094" y="3657600"/>
            <a:ext cx="2253343" cy="0"/>
          </a:xfrm>
          <a:prstGeom prst="line">
            <a:avLst/>
          </a:prstGeom>
          <a:noFill/>
          <a:ln w="25400">
            <a:solidFill>
              <a:srgbClr val="FAFAF7"/>
            </a:solidFill>
            <a:prstDash val="solid"/>
          </a:ln>
        </p:spPr>
      </p:sp>
      <p:sp>
        <p:nvSpPr>
          <p:cNvPr id="22" name="Shape 20"/>
          <p:cNvSpPr/>
          <p:nvPr/>
        </p:nvSpPr>
        <p:spPr>
          <a:xfrm>
            <a:off x="6628094" y="3575304"/>
            <a:ext cx="0" cy="164592"/>
          </a:xfrm>
          <a:prstGeom prst="line">
            <a:avLst/>
          </a:prstGeom>
          <a:noFill/>
          <a:ln w="25400">
            <a:solidFill>
              <a:srgbClr val="1A1D1F"/>
            </a:solidFill>
            <a:prstDash val="solid"/>
          </a:ln>
        </p:spPr>
      </p:sp>
      <p:sp>
        <p:nvSpPr>
          <p:cNvPr id="23" name="Shape 21"/>
          <p:cNvSpPr/>
          <p:nvPr/>
        </p:nvSpPr>
        <p:spPr>
          <a:xfrm>
            <a:off x="8881437" y="3575304"/>
            <a:ext cx="0" cy="164592"/>
          </a:xfrm>
          <a:prstGeom prst="line">
            <a:avLst/>
          </a:prstGeom>
          <a:noFill/>
          <a:ln w="25400">
            <a:solidFill>
              <a:srgbClr val="1A1D1F"/>
            </a:solidFill>
            <a:prstDash val="solid"/>
          </a:ln>
        </p:spPr>
      </p:sp>
      <p:sp>
        <p:nvSpPr>
          <p:cNvPr id="24" name="Text 22"/>
          <p:cNvSpPr txBox="1"/>
          <p:nvPr/>
        </p:nvSpPr>
        <p:spPr>
          <a:xfrm>
            <a:off x="9784080" y="3520440"/>
            <a:ext cx="15819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48 % </a:t>
            </a:r>
            <a:pPr algn="r" indent="0" marL="0">
              <a:buNone/>
            </a:pPr>
            <a:r>
              <a:rPr lang="en-US" sz="1100" dirty="0">
                <a:solidFill>
                  <a:srgbClr val="666B70"/>
                </a:solidFill>
                <a:latin typeface="Courier New" pitchFamily="34" charset="0"/>
                <a:ea typeface="Courier New" pitchFamily="34" charset="-122"/>
                <a:cs typeface="Courier New" pitchFamily="34" charset="-120"/>
              </a:rPr>
              <a:t>(36 a 61)</a:t>
            </a:r>
            <a:endParaRPr lang="en-US" sz="1100" dirty="0"/>
          </a:p>
        </p:txBody>
      </p:sp>
      <p:sp>
        <p:nvSpPr>
          <p:cNvPr id="25" name="Text 23"/>
          <p:cNvSpPr txBox="1"/>
          <p:nvPr/>
        </p:nvSpPr>
        <p:spPr>
          <a:xfrm>
            <a:off x="822960" y="4069080"/>
            <a:ext cx="2468880" cy="274320"/>
          </a:xfrm>
          <a:prstGeom prst="rect">
            <a:avLst/>
          </a:prstGeom>
          <a:noFill/>
          <a:ln/>
        </p:spPr>
        <p:txBody>
          <a:bodyPr wrap="square" lIns="0" tIns="0" rIns="0" bIns="0" rtlCol="0" anchor="ctr"/>
          <a:lstStyle/>
          <a:p>
            <a:pPr indent="0" marL="0">
              <a:buNone/>
            </a:pPr>
            <a:r>
              <a:rPr lang="en-US" sz="1300" dirty="0">
                <a:solidFill>
                  <a:srgbClr val="1A1D1F"/>
                </a:solidFill>
                <a:latin typeface="Calibri" pitchFamily="34" charset="0"/>
                <a:ea typeface="Calibri" pitchFamily="34" charset="-122"/>
                <a:cs typeface="Calibri" pitchFamily="34" charset="-120"/>
              </a:rPr>
              <a:t>Bloqueantes de calcio</a:t>
            </a:r>
            <a:endParaRPr lang="en-US" sz="1300" dirty="0"/>
          </a:p>
        </p:txBody>
      </p:sp>
      <p:sp>
        <p:nvSpPr>
          <p:cNvPr id="26" name="Shape 24"/>
          <p:cNvSpPr/>
          <p:nvPr/>
        </p:nvSpPr>
        <p:spPr>
          <a:xfrm>
            <a:off x="3383280" y="4069080"/>
            <a:ext cx="4146151" cy="274320"/>
          </a:xfrm>
          <a:prstGeom prst="rect">
            <a:avLst/>
          </a:prstGeom>
          <a:solidFill>
            <a:srgbClr val="1A1D1F"/>
          </a:solidFill>
          <a:ln w="12700">
            <a:solidFill>
              <a:srgbClr val="1A1D1F"/>
            </a:solidFill>
            <a:prstDash val="solid"/>
          </a:ln>
        </p:spPr>
      </p:sp>
      <p:sp>
        <p:nvSpPr>
          <p:cNvPr id="27" name="Shape 25"/>
          <p:cNvSpPr/>
          <p:nvPr/>
        </p:nvSpPr>
        <p:spPr>
          <a:xfrm>
            <a:off x="6177425" y="4206240"/>
            <a:ext cx="2794145" cy="0"/>
          </a:xfrm>
          <a:prstGeom prst="line">
            <a:avLst/>
          </a:prstGeom>
          <a:noFill/>
          <a:ln w="25400">
            <a:solidFill>
              <a:srgbClr val="FAFAF7"/>
            </a:solidFill>
            <a:prstDash val="solid"/>
          </a:ln>
        </p:spPr>
      </p:sp>
      <p:sp>
        <p:nvSpPr>
          <p:cNvPr id="28" name="Shape 26"/>
          <p:cNvSpPr/>
          <p:nvPr/>
        </p:nvSpPr>
        <p:spPr>
          <a:xfrm>
            <a:off x="6177425" y="4123944"/>
            <a:ext cx="0" cy="164592"/>
          </a:xfrm>
          <a:prstGeom prst="line">
            <a:avLst/>
          </a:prstGeom>
          <a:noFill/>
          <a:ln w="25400">
            <a:solidFill>
              <a:srgbClr val="1A1D1F"/>
            </a:solidFill>
            <a:prstDash val="solid"/>
          </a:ln>
        </p:spPr>
      </p:sp>
      <p:sp>
        <p:nvSpPr>
          <p:cNvPr id="29" name="Shape 27"/>
          <p:cNvSpPr/>
          <p:nvPr/>
        </p:nvSpPr>
        <p:spPr>
          <a:xfrm>
            <a:off x="8971570" y="4123944"/>
            <a:ext cx="0" cy="164592"/>
          </a:xfrm>
          <a:prstGeom prst="line">
            <a:avLst/>
          </a:prstGeom>
          <a:noFill/>
          <a:ln w="25400">
            <a:solidFill>
              <a:srgbClr val="1A1D1F"/>
            </a:solidFill>
            <a:prstDash val="solid"/>
          </a:ln>
        </p:spPr>
      </p:sp>
      <p:sp>
        <p:nvSpPr>
          <p:cNvPr id="30" name="Text 28"/>
          <p:cNvSpPr txBox="1"/>
          <p:nvPr/>
        </p:nvSpPr>
        <p:spPr>
          <a:xfrm>
            <a:off x="9784080" y="4069080"/>
            <a:ext cx="15819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46 % </a:t>
            </a:r>
            <a:pPr algn="r" indent="0" marL="0">
              <a:buNone/>
            </a:pPr>
            <a:r>
              <a:rPr lang="en-US" sz="1100" dirty="0">
                <a:solidFill>
                  <a:srgbClr val="666B70"/>
                </a:solidFill>
                <a:latin typeface="Courier New" pitchFamily="34" charset="0"/>
                <a:ea typeface="Courier New" pitchFamily="34" charset="-122"/>
                <a:cs typeface="Courier New" pitchFamily="34" charset="-120"/>
              </a:rPr>
              <a:t>(31 a 62)</a:t>
            </a:r>
            <a:endParaRPr lang="en-US" sz="1100" dirty="0"/>
          </a:p>
        </p:txBody>
      </p:sp>
      <p:sp>
        <p:nvSpPr>
          <p:cNvPr id="31" name="Text 29"/>
          <p:cNvSpPr txBox="1"/>
          <p:nvPr/>
        </p:nvSpPr>
        <p:spPr>
          <a:xfrm>
            <a:off x="822960" y="4617720"/>
            <a:ext cx="2468880" cy="274320"/>
          </a:xfrm>
          <a:prstGeom prst="rect">
            <a:avLst/>
          </a:prstGeom>
          <a:noFill/>
          <a:ln/>
        </p:spPr>
        <p:txBody>
          <a:bodyPr wrap="square" lIns="0" tIns="0" rIns="0" bIns="0" rtlCol="0" anchor="ctr"/>
          <a:lstStyle/>
          <a:p>
            <a:pPr indent="0" marL="0">
              <a:buNone/>
            </a:pPr>
            <a:r>
              <a:rPr lang="en-US" sz="1300" dirty="0">
                <a:solidFill>
                  <a:srgbClr val="1A1D1F"/>
                </a:solidFill>
                <a:latin typeface="Calibri" pitchFamily="34" charset="0"/>
                <a:ea typeface="Calibri" pitchFamily="34" charset="-122"/>
                <a:cs typeface="Calibri" pitchFamily="34" charset="-120"/>
              </a:rPr>
              <a:t>Ciclosporina A</a:t>
            </a:r>
            <a:endParaRPr lang="en-US" sz="1300" dirty="0"/>
          </a:p>
        </p:txBody>
      </p:sp>
      <p:sp>
        <p:nvSpPr>
          <p:cNvPr id="32" name="Shape 30"/>
          <p:cNvSpPr/>
          <p:nvPr/>
        </p:nvSpPr>
        <p:spPr>
          <a:xfrm>
            <a:off x="3383280" y="4617720"/>
            <a:ext cx="2523744" cy="274320"/>
          </a:xfrm>
          <a:prstGeom prst="rect">
            <a:avLst/>
          </a:prstGeom>
          <a:solidFill>
            <a:srgbClr val="1A1D1F"/>
          </a:solidFill>
          <a:ln w="12700">
            <a:solidFill>
              <a:srgbClr val="1A1D1F"/>
            </a:solidFill>
            <a:prstDash val="solid"/>
          </a:ln>
        </p:spPr>
      </p:sp>
      <p:sp>
        <p:nvSpPr>
          <p:cNvPr id="33" name="Shape 31"/>
          <p:cNvSpPr/>
          <p:nvPr/>
        </p:nvSpPr>
        <p:spPr>
          <a:xfrm>
            <a:off x="5095821" y="4754880"/>
            <a:ext cx="1802674" cy="0"/>
          </a:xfrm>
          <a:prstGeom prst="line">
            <a:avLst/>
          </a:prstGeom>
          <a:noFill/>
          <a:ln w="25400">
            <a:solidFill>
              <a:srgbClr val="FAFAF7"/>
            </a:solidFill>
            <a:prstDash val="solid"/>
          </a:ln>
        </p:spPr>
      </p:sp>
      <p:sp>
        <p:nvSpPr>
          <p:cNvPr id="34" name="Shape 32"/>
          <p:cNvSpPr/>
          <p:nvPr/>
        </p:nvSpPr>
        <p:spPr>
          <a:xfrm>
            <a:off x="5095821" y="4672584"/>
            <a:ext cx="0" cy="164592"/>
          </a:xfrm>
          <a:prstGeom prst="line">
            <a:avLst/>
          </a:prstGeom>
          <a:noFill/>
          <a:ln w="25400">
            <a:solidFill>
              <a:srgbClr val="1A1D1F"/>
            </a:solidFill>
            <a:prstDash val="solid"/>
          </a:ln>
        </p:spPr>
      </p:sp>
      <p:sp>
        <p:nvSpPr>
          <p:cNvPr id="35" name="Shape 33"/>
          <p:cNvSpPr/>
          <p:nvPr/>
        </p:nvSpPr>
        <p:spPr>
          <a:xfrm>
            <a:off x="6898495" y="4672584"/>
            <a:ext cx="0" cy="164592"/>
          </a:xfrm>
          <a:prstGeom prst="line">
            <a:avLst/>
          </a:prstGeom>
          <a:noFill/>
          <a:ln w="25400">
            <a:solidFill>
              <a:srgbClr val="1A1D1F"/>
            </a:solidFill>
            <a:prstDash val="solid"/>
          </a:ln>
        </p:spPr>
      </p:sp>
      <p:sp>
        <p:nvSpPr>
          <p:cNvPr id="36" name="Text 34"/>
          <p:cNvSpPr txBox="1"/>
          <p:nvPr/>
        </p:nvSpPr>
        <p:spPr>
          <a:xfrm>
            <a:off x="9784080" y="4617720"/>
            <a:ext cx="1581912" cy="274320"/>
          </a:xfrm>
          <a:prstGeom prst="rect">
            <a:avLst/>
          </a:prstGeom>
          <a:noFill/>
          <a:ln/>
        </p:spPr>
        <p:txBody>
          <a:bodyPr wrap="square" lIns="0" tIns="0" rIns="0" bIns="0" rtlCol="0" anchor="ctr"/>
          <a:lstStyle/>
          <a:p>
            <a:pPr algn="r" indent="0" marL="0">
              <a:buNone/>
            </a:pPr>
            <a:r>
              <a:rPr lang="en-US" sz="1100" dirty="0">
                <a:solidFill>
                  <a:srgbClr val="1A1D1F"/>
                </a:solidFill>
                <a:latin typeface="Courier New" pitchFamily="34" charset="0"/>
                <a:ea typeface="Courier New" pitchFamily="34" charset="-122"/>
                <a:cs typeface="Courier New" pitchFamily="34" charset="-120"/>
              </a:rPr>
              <a:t>28 % </a:t>
            </a:r>
            <a:pPr algn="r" indent="0" marL="0">
              <a:buNone/>
            </a:pPr>
            <a:r>
              <a:rPr lang="en-US" sz="1100" dirty="0">
                <a:solidFill>
                  <a:srgbClr val="666B70"/>
                </a:solidFill>
                <a:latin typeface="Courier New" pitchFamily="34" charset="0"/>
                <a:ea typeface="Courier New" pitchFamily="34" charset="-122"/>
                <a:cs typeface="Courier New" pitchFamily="34" charset="-120"/>
              </a:rPr>
              <a:t>(19 a 39)</a:t>
            </a:r>
            <a:endParaRPr lang="en-US" sz="1100" dirty="0"/>
          </a:p>
        </p:txBody>
      </p:sp>
      <p:sp>
        <p:nvSpPr>
          <p:cNvPr id="37" name="Shape 35"/>
          <p:cNvSpPr/>
          <p:nvPr/>
        </p:nvSpPr>
        <p:spPr>
          <a:xfrm>
            <a:off x="822960" y="5257800"/>
            <a:ext cx="10545775" cy="0"/>
          </a:xfrm>
          <a:prstGeom prst="line">
            <a:avLst/>
          </a:prstGeom>
          <a:noFill/>
          <a:ln w="9525">
            <a:solidFill>
              <a:srgbClr val="D9D9D4"/>
            </a:solidFill>
            <a:prstDash val="solid"/>
          </a:ln>
        </p:spPr>
      </p:sp>
      <p:sp>
        <p:nvSpPr>
          <p:cNvPr id="38" name="Text 36"/>
          <p:cNvSpPr txBox="1"/>
          <p:nvPr/>
        </p:nvSpPr>
        <p:spPr>
          <a:xfrm>
            <a:off x="822960" y="5349240"/>
            <a:ext cx="6583680" cy="822960"/>
          </a:xfrm>
          <a:prstGeom prst="rect">
            <a:avLst/>
          </a:prstGeom>
          <a:noFill/>
          <a:ln/>
        </p:spPr>
        <p:txBody>
          <a:bodyPr wrap="square" lIns="0" tIns="0" rIns="0" bIns="0" rtlCol="0" anchor="t"/>
          <a:lstStyle/>
          <a:p>
            <a:pPr indent="0" marL="0">
              <a:lnSpc>
                <a:spcPct val="115000"/>
              </a:lnSpc>
              <a:buNone/>
            </a:pPr>
            <a:r>
              <a:rPr lang="en-US" sz="1100" dirty="0">
                <a:solidFill>
                  <a:srgbClr val="3B4045"/>
                </a:solidFill>
                <a:latin typeface="Calibri" pitchFamily="34" charset="0"/>
                <a:ea typeface="Calibri" pitchFamily="34" charset="-122"/>
                <a:cs typeface="Calibri" pitchFamily="34" charset="-120"/>
              </a:rPr>
              <a:t>Estudios con riesgo de sesgo bajo o moderado. Sólo formas moderadas a graves: fenitoína 36 %, bloqueantes de calcio 20 %, ciclosporina A 33 %. Los autores advierten que las cifras están infladas por sesgo de reclutamiento: la mayoría de los estudios se hizo en pacientes que buscaban atención, no en población general.</a:t>
            </a:r>
            <a:endParaRPr lang="en-US" sz="1100" dirty="0"/>
          </a:p>
        </p:txBody>
      </p:sp>
      <p:sp>
        <p:nvSpPr>
          <p:cNvPr id="39" name="Text 37"/>
          <p:cNvSpPr txBox="1"/>
          <p:nvPr/>
        </p:nvSpPr>
        <p:spPr>
          <a:xfrm>
            <a:off x="7863840" y="5349240"/>
            <a:ext cx="1645920" cy="365760"/>
          </a:xfrm>
          <a:prstGeom prst="rect">
            <a:avLst/>
          </a:prstGeom>
          <a:noFill/>
          <a:ln/>
        </p:spPr>
        <p:txBody>
          <a:bodyPr wrap="square" lIns="0" tIns="0" rIns="0" bIns="0" rtlCol="0" anchor="t"/>
          <a:lstStyle/>
          <a:p>
            <a:pPr indent="0" marL="0">
              <a:buNone/>
            </a:pPr>
            <a:r>
              <a:rPr lang="en-US" sz="1800" dirty="0">
                <a:solidFill>
                  <a:srgbClr val="1A1D1F"/>
                </a:solidFill>
                <a:latin typeface="Cambria" pitchFamily="34" charset="0"/>
                <a:ea typeface="Cambria" pitchFamily="34" charset="-122"/>
                <a:cs typeface="Cambria" pitchFamily="34" charset="-120"/>
              </a:rPr>
              <a:t>22 a 23 %</a:t>
            </a:r>
            <a:endParaRPr lang="en-US" sz="1800" dirty="0"/>
          </a:p>
        </p:txBody>
      </p:sp>
      <p:sp>
        <p:nvSpPr>
          <p:cNvPr id="40" name="Text 38"/>
          <p:cNvSpPr txBox="1"/>
          <p:nvPr/>
        </p:nvSpPr>
        <p:spPr>
          <a:xfrm>
            <a:off x="7863840" y="5715000"/>
            <a:ext cx="1645920" cy="274320"/>
          </a:xfrm>
          <a:prstGeom prst="rect">
            <a:avLst/>
          </a:prstGeom>
          <a:noFill/>
          <a:ln/>
        </p:spPr>
        <p:txBody>
          <a:bodyPr wrap="square" lIns="0" tIns="0" rIns="0" bIns="0" rtlCol="0" anchor="t"/>
          <a:lstStyle/>
          <a:p>
            <a:pPr indent="0" marL="0">
              <a:buNone/>
            </a:pPr>
            <a:r>
              <a:rPr lang="en-US" sz="1100" dirty="0">
                <a:solidFill>
                  <a:srgbClr val="666B70"/>
                </a:solidFill>
                <a:latin typeface="Calibri" pitchFamily="34" charset="0"/>
                <a:ea typeface="Calibri" pitchFamily="34" charset="-122"/>
                <a:cs typeface="Calibri" pitchFamily="34" charset="-120"/>
              </a:rPr>
              <a:t>embarazo</a:t>
            </a:r>
            <a:endParaRPr lang="en-US" sz="1100" dirty="0"/>
          </a:p>
        </p:txBody>
      </p:sp>
      <p:sp>
        <p:nvSpPr>
          <p:cNvPr id="41" name="Text 39"/>
          <p:cNvSpPr txBox="1"/>
          <p:nvPr/>
        </p:nvSpPr>
        <p:spPr>
          <a:xfrm>
            <a:off x="9692640" y="5349240"/>
            <a:ext cx="1673352" cy="365760"/>
          </a:xfrm>
          <a:prstGeom prst="rect">
            <a:avLst/>
          </a:prstGeom>
          <a:noFill/>
          <a:ln/>
        </p:spPr>
        <p:txBody>
          <a:bodyPr wrap="square" lIns="0" tIns="0" rIns="0" bIns="0" rtlCol="0" anchor="t"/>
          <a:lstStyle/>
          <a:p>
            <a:pPr indent="0" marL="0">
              <a:buNone/>
            </a:pPr>
            <a:r>
              <a:rPr lang="en-US" sz="1800" dirty="0">
                <a:solidFill>
                  <a:srgbClr val="1A1D1F"/>
                </a:solidFill>
                <a:latin typeface="Cambria" pitchFamily="34" charset="0"/>
                <a:ea typeface="Cambria" pitchFamily="34" charset="-122"/>
                <a:cs typeface="Cambria" pitchFamily="34" charset="-120"/>
              </a:rPr>
              <a:t>1 : 750.000</a:t>
            </a:r>
            <a:endParaRPr lang="en-US" sz="1800" dirty="0"/>
          </a:p>
        </p:txBody>
      </p:sp>
      <p:sp>
        <p:nvSpPr>
          <p:cNvPr id="42" name="Text 40"/>
          <p:cNvSpPr txBox="1"/>
          <p:nvPr/>
        </p:nvSpPr>
        <p:spPr>
          <a:xfrm>
            <a:off x="9692640" y="5715000"/>
            <a:ext cx="1673352" cy="457200"/>
          </a:xfrm>
          <a:prstGeom prst="rect">
            <a:avLst/>
          </a:prstGeom>
          <a:noFill/>
          <a:ln/>
        </p:spPr>
        <p:txBody>
          <a:bodyPr wrap="square" lIns="0" tIns="0" rIns="0" bIns="0" rtlCol="0" anchor="t"/>
          <a:lstStyle/>
          <a:p>
            <a:pPr indent="0" marL="0">
              <a:lnSpc>
                <a:spcPct val="110000"/>
              </a:lnSpc>
              <a:buNone/>
            </a:pPr>
            <a:r>
              <a:rPr lang="en-US" sz="1100" dirty="0">
                <a:solidFill>
                  <a:srgbClr val="666B70"/>
                </a:solidFill>
                <a:latin typeface="Calibri" pitchFamily="34" charset="0"/>
                <a:ea typeface="Calibri" pitchFamily="34" charset="-122"/>
                <a:cs typeface="Calibri" pitchFamily="34" charset="-120"/>
              </a:rPr>
              <a:t>fibromatosis gingival hereditaria</a:t>
            </a:r>
            <a:endParaRPr lang="en-US" sz="1100" dirty="0"/>
          </a:p>
        </p:txBody>
      </p:sp>
      <p:sp>
        <p:nvSpPr>
          <p:cNvPr id="43" name="Text 41"/>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20 / 28</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Resultados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Nibali et al. 2026, J Clin Periodontol</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Factores de riesgo confirmados en los metaanálisis</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22960" y="2514600"/>
          <a:ext cx="10545775" cy="914400"/>
        </p:xfrm>
        <a:graphic>
          <a:graphicData uri="http://schemas.openxmlformats.org/drawingml/2006/table">
            <a:tbl>
              <a:tblPr/>
              <a:tblGrid>
                <a:gridCol w="3374648"/>
                <a:gridCol w="2530986"/>
                <a:gridCol w="4640141"/>
              </a:tblGrid>
              <a:tr h="0">
                <a:tc>
                  <a:txBody>
                    <a:bodyPr/>
                    <a:lstStyle/>
                    <a:p>
                      <a:pPr indent="0" marL="0">
                        <a:buNone/>
                      </a:pPr>
                      <a:r>
                        <a:rPr lang="en-US" sz="1100" dirty="0">
                          <a:solidFill>
                            <a:srgbClr val="666B70"/>
                          </a:solidFill>
                          <a:latin typeface="Courier New" pitchFamily="34" charset="0"/>
                          <a:ea typeface="Courier New" pitchFamily="34" charset="-122"/>
                          <a:cs typeface="Courier New" pitchFamily="34" charset="-120"/>
                        </a:rPr>
                        <a:t>Comparación</a:t>
                      </a:r>
                      <a:endParaRPr lang="en-US" sz="11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00" dirty="0">
                          <a:solidFill>
                            <a:srgbClr val="666B70"/>
                          </a:solidFill>
                          <a:latin typeface="Courier New" pitchFamily="34" charset="0"/>
                          <a:ea typeface="Courier New" pitchFamily="34" charset="-122"/>
                          <a:cs typeface="Courier New" pitchFamily="34" charset="-120"/>
                        </a:rPr>
                        <a:t>Efecto</a:t>
                      </a:r>
                      <a:endParaRPr lang="en-US" sz="11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00" dirty="0">
                          <a:solidFill>
                            <a:srgbClr val="666B70"/>
                          </a:solidFill>
                          <a:latin typeface="Courier New" pitchFamily="34" charset="0"/>
                          <a:ea typeface="Courier New" pitchFamily="34" charset="-122"/>
                          <a:cs typeface="Courier New" pitchFamily="34" charset="-120"/>
                        </a:rPr>
                        <a:t>Lectura clínica</a:t>
                      </a:r>
                      <a:endParaRPr lang="en-US" sz="11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00" dirty="0">
                          <a:solidFill>
                            <a:srgbClr val="1A1D1F"/>
                          </a:solidFill>
                          <a:latin typeface="Calibri" pitchFamily="34" charset="0"/>
                          <a:ea typeface="Calibri" pitchFamily="34" charset="-122"/>
                          <a:cs typeface="Calibri" pitchFamily="34" charset="-120"/>
                        </a:rPr>
                        <a:t>BCC frente a otros antihipertensivos</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ourier New" pitchFamily="34" charset="0"/>
                          <a:ea typeface="Courier New" pitchFamily="34" charset="-122"/>
                          <a:cs typeface="Courier New" pitchFamily="34" charset="-120"/>
                        </a:rPr>
                        <a:t>RR 3,27 (1,27 a 8,44)</a:t>
                      </a:r>
                      <a:endParaRPr lang="en-US" sz="12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Triple de riesgo. Las formas moderadas a graves fueron casi exclusivas de los BCC.</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00" dirty="0">
                          <a:solidFill>
                            <a:srgbClr val="1A1D1F"/>
                          </a:solidFill>
                          <a:latin typeface="Calibri" pitchFamily="34" charset="0"/>
                          <a:ea typeface="Calibri" pitchFamily="34" charset="-122"/>
                          <a:cs typeface="Calibri" pitchFamily="34" charset="-120"/>
                        </a:rPr>
                        <a:t>Ciclosporina A frente a tacrolimus</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ourier New" pitchFamily="34" charset="0"/>
                          <a:ea typeface="Courier New" pitchFamily="34" charset="-122"/>
                          <a:cs typeface="Courier New" pitchFamily="34" charset="-120"/>
                        </a:rPr>
                        <a:t>RR 2,39 (1,37 a 4,14)</a:t>
                      </a:r>
                      <a:endParaRPr lang="en-US" sz="12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El doble de riesgo con ciclosporina.</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00" dirty="0">
                          <a:solidFill>
                            <a:srgbClr val="1A1D1F"/>
                          </a:solidFill>
                          <a:latin typeface="Calibri" pitchFamily="34" charset="0"/>
                          <a:ea typeface="Calibri" pitchFamily="34" charset="-122"/>
                          <a:cs typeface="Calibri" pitchFamily="34" charset="-120"/>
                        </a:rPr>
                        <a:t>Ortodoncia fija frente a sin aparatos</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ourier New" pitchFamily="34" charset="0"/>
                          <a:ea typeface="Courier New" pitchFamily="34" charset="-122"/>
                          <a:cs typeface="Courier New" pitchFamily="34" charset="-120"/>
                        </a:rPr>
                        <a:t>RR 5,78 (1,08 a 31,09)</a:t>
                      </a:r>
                      <a:endParaRPr lang="en-US" sz="12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Fuerte pero imprecisa. Peor con más tiempo de tratamiento, brackets metálicos y excesos de resina.</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00" dirty="0">
                          <a:solidFill>
                            <a:srgbClr val="1A1D1F"/>
                          </a:solidFill>
                          <a:latin typeface="Calibri" pitchFamily="34" charset="0"/>
                          <a:ea typeface="Calibri" pitchFamily="34" charset="-122"/>
                          <a:cs typeface="Calibri" pitchFamily="34" charset="-120"/>
                        </a:rPr>
                        <a:t>Placa bacteriana, pacientes con CsA</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ourier New" pitchFamily="34" charset="0"/>
                          <a:ea typeface="Courier New" pitchFamily="34" charset="-122"/>
                          <a:cs typeface="Courier New" pitchFamily="34" charset="-120"/>
                        </a:rPr>
                        <a:t>DM +0,45 índice de placa</a:t>
                      </a:r>
                      <a:endParaRPr lang="en-US" sz="12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La higiene deficiente es el factor más consistente en todos los grupos.</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00" dirty="0">
                          <a:solidFill>
                            <a:srgbClr val="1A1D1F"/>
                          </a:solidFill>
                          <a:latin typeface="Calibri" pitchFamily="34" charset="0"/>
                          <a:ea typeface="Calibri" pitchFamily="34" charset="-122"/>
                          <a:cs typeface="Calibri" pitchFamily="34" charset="-120"/>
                        </a:rPr>
                        <a:t>Edad, pacientes con CsA</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ourier New" pitchFamily="34" charset="0"/>
                          <a:ea typeface="Courier New" pitchFamily="34" charset="-122"/>
                          <a:cs typeface="Courier New" pitchFamily="34" charset="-120"/>
                        </a:rPr>
                        <a:t>DM 4,02 años más jóvenes</a:t>
                      </a:r>
                      <a:endParaRPr lang="en-US" sz="12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Sólo demostrado en inmunosuprimidos.</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00" dirty="0">
                          <a:solidFill>
                            <a:srgbClr val="1A1D1F"/>
                          </a:solidFill>
                          <a:latin typeface="Calibri" pitchFamily="34" charset="0"/>
                          <a:ea typeface="Calibri" pitchFamily="34" charset="-122"/>
                          <a:cs typeface="Calibri" pitchFamily="34" charset="-120"/>
                        </a:rPr>
                        <a:t>Dosis y duración del fármaco</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ourier New" pitchFamily="34" charset="0"/>
                          <a:ea typeface="Courier New" pitchFamily="34" charset="-122"/>
                          <a:cs typeface="Courier New" pitchFamily="34" charset="-120"/>
                        </a:rPr>
                        <a:t>sin asociación</a:t>
                      </a:r>
                      <a:endParaRPr lang="en-US" sz="12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Ni para fenitoína, ni BCC, ni ciclosporina A.</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00" dirty="0">
                          <a:solidFill>
                            <a:srgbClr val="1A1D1F"/>
                          </a:solidFill>
                          <a:latin typeface="Calibri" pitchFamily="34" charset="0"/>
                          <a:ea typeface="Calibri" pitchFamily="34" charset="-122"/>
                          <a:cs typeface="Calibri" pitchFamily="34" charset="-120"/>
                        </a:rPr>
                        <a:t>Nifedipina frente a amlodipina</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ourier New" pitchFamily="34" charset="0"/>
                          <a:ea typeface="Courier New" pitchFamily="34" charset="-122"/>
                          <a:cs typeface="Courier New" pitchFamily="34" charset="-120"/>
                        </a:rPr>
                        <a:t>sin diferencia</a:t>
                      </a:r>
                      <a:endParaRPr lang="en-US" sz="12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Evidencia contradictoria; el metaanálisis fue inconcluyente.</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bl>
          </a:graphicData>
        </a:graphic>
      </p:graphicFrame>
      <p:sp>
        <p:nvSpPr>
          <p:cNvPr id="7" name="Text 4"/>
          <p:cNvSpPr txBox="1"/>
          <p:nvPr/>
        </p:nvSpPr>
        <p:spPr>
          <a:xfrm>
            <a:off x="822960" y="5897880"/>
            <a:ext cx="10545775" cy="274320"/>
          </a:xfrm>
          <a:prstGeom prst="rect">
            <a:avLst/>
          </a:prstGeom>
          <a:noFill/>
          <a:ln/>
        </p:spPr>
        <p:txBody>
          <a:bodyPr wrap="square" lIns="0" tIns="0" rIns="0" bIns="0" rtlCol="0" anchor="t"/>
          <a:lstStyle/>
          <a:p>
            <a:pPr indent="0" marL="0">
              <a:buNone/>
            </a:pPr>
            <a:r>
              <a:rPr lang="en-US" sz="1100" dirty="0">
                <a:solidFill>
                  <a:srgbClr val="666B70"/>
                </a:solidFill>
                <a:latin typeface="Calibri" pitchFamily="34" charset="0"/>
                <a:ea typeface="Calibri" pitchFamily="34" charset="-122"/>
                <a:cs typeface="Calibri" pitchFamily="34" charset="-120"/>
              </a:rPr>
              <a:t>RR: riesgo relativo; DM: diferencia de medias; CsA: ciclosporina A; BCC: bloqueante de canales de calcio.</a:t>
            </a:r>
            <a:endParaRPr lang="en-US" sz="1100" dirty="0"/>
          </a:p>
        </p:txBody>
      </p:sp>
      <p:sp>
        <p:nvSpPr>
          <p:cNvPr id="8" name="Text 5"/>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21 / 28</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Resultados</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Nibali et al. 2026, J Clin Periodontol</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Evidencia de tratamiento en 50 estudios</a:t>
            </a:r>
            <a:endParaRPr lang="en-US" sz="3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2514600"/>
          <a:ext cx="10545775" cy="914400"/>
        </p:xfrm>
        <a:graphic>
          <a:graphicData uri="http://schemas.openxmlformats.org/drawingml/2006/table">
            <a:tbl>
              <a:tblPr/>
              <a:tblGrid>
                <a:gridCol w="2320071"/>
                <a:gridCol w="5694719"/>
                <a:gridCol w="2530986"/>
              </a:tblGrid>
              <a:tr h="0">
                <a:tc>
                  <a:txBody>
                    <a:bodyPr/>
                    <a:lstStyle/>
                    <a:p>
                      <a:pPr indent="0" marL="0">
                        <a:buNone/>
                      </a:pPr>
                      <a:r>
                        <a:rPr lang="en-US" sz="1100" dirty="0">
                          <a:solidFill>
                            <a:srgbClr val="666B70"/>
                          </a:solidFill>
                          <a:latin typeface="Courier New" pitchFamily="34" charset="0"/>
                          <a:ea typeface="Courier New" pitchFamily="34" charset="-122"/>
                          <a:cs typeface="Courier New" pitchFamily="34" charset="-120"/>
                        </a:rPr>
                        <a:t>Intervención</a:t>
                      </a:r>
                      <a:endParaRPr lang="en-US" sz="11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00" dirty="0">
                          <a:solidFill>
                            <a:srgbClr val="666B70"/>
                          </a:solidFill>
                          <a:latin typeface="Courier New" pitchFamily="34" charset="0"/>
                          <a:ea typeface="Courier New" pitchFamily="34" charset="-122"/>
                          <a:cs typeface="Courier New" pitchFamily="34" charset="-120"/>
                        </a:rPr>
                        <a:t>Qué encontraron</a:t>
                      </a:r>
                      <a:endParaRPr lang="en-US" sz="11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00" dirty="0">
                          <a:solidFill>
                            <a:srgbClr val="666B70"/>
                          </a:solidFill>
                          <a:latin typeface="Courier New" pitchFamily="34" charset="0"/>
                          <a:ea typeface="Courier New" pitchFamily="34" charset="-122"/>
                          <a:cs typeface="Courier New" pitchFamily="34" charset="-120"/>
                        </a:rPr>
                        <a:t>Estudios</a:t>
                      </a:r>
                      <a:endParaRPr lang="en-US" sz="11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150" dirty="0">
                          <a:solidFill>
                            <a:srgbClr val="1A1D1F"/>
                          </a:solidFill>
                          <a:latin typeface="Calibri" pitchFamily="34" charset="0"/>
                          <a:ea typeface="Calibri" pitchFamily="34" charset="-122"/>
                          <a:cs typeface="Calibri" pitchFamily="34" charset="-120"/>
                        </a:rPr>
                        <a:t>Control de placa</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3B4045"/>
                          </a:solidFill>
                          <a:latin typeface="Calibri" pitchFamily="34" charset="0"/>
                          <a:ea typeface="Calibri" pitchFamily="34" charset="-122"/>
                          <a:cs typeface="Calibri" pitchFamily="34" charset="-120"/>
                        </a:rPr>
                        <a:t>La remoción profesional reduce índice de placa, índice gingival y agrandamiento; un programa preventivo lo redujo con fenitoína. En susceptibles no siempre lo evita.</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666B70"/>
                          </a:solidFill>
                          <a:latin typeface="Calibri" pitchFamily="34" charset="0"/>
                          <a:ea typeface="Calibri" pitchFamily="34" charset="-122"/>
                          <a:cs typeface="Calibri" pitchFamily="34" charset="-120"/>
                        </a:rPr>
                        <a:t>Pejcic 2014; de Iudicibus 2008; Pihlstrom 1980; Seymour y Smith 1991</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150" dirty="0">
                          <a:solidFill>
                            <a:srgbClr val="1A1D1F"/>
                          </a:solidFill>
                          <a:latin typeface="Calibri" pitchFamily="34" charset="0"/>
                          <a:ea typeface="Calibri" pitchFamily="34" charset="-122"/>
                          <a:cs typeface="Calibri" pitchFamily="34" charset="-120"/>
                        </a:rPr>
                        <a:t>Azitromicina sistémica</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3B4045"/>
                          </a:solidFill>
                          <a:latin typeface="Calibri" pitchFamily="34" charset="0"/>
                          <a:ea typeface="Calibri" pitchFamily="34" charset="-122"/>
                          <a:cs typeface="Calibri" pitchFamily="34" charset="-120"/>
                        </a:rPr>
                        <a:t>Mejora consistente en todos los intervalos; resolución en 86 % de 29 trasplantados a 6 meses y 76 % a 17 meses. Metronidazol, sólo en algunos momentos.</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666B70"/>
                          </a:solidFill>
                          <a:latin typeface="Calibri" pitchFamily="34" charset="0"/>
                          <a:ea typeface="Calibri" pitchFamily="34" charset="-122"/>
                          <a:cs typeface="Calibri" pitchFamily="34" charset="-120"/>
                        </a:rPr>
                        <a:t>Citterio 2001; Chand 2004</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150" dirty="0">
                          <a:solidFill>
                            <a:srgbClr val="1A1D1F"/>
                          </a:solidFill>
                          <a:latin typeface="Calibri" pitchFamily="34" charset="0"/>
                          <a:ea typeface="Calibri" pitchFamily="34" charset="-122"/>
                          <a:cs typeface="Calibri" pitchFamily="34" charset="-120"/>
                        </a:rPr>
                        <a:t>Ácido fólico y clorhexidina</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3B4045"/>
                          </a:solidFill>
                          <a:latin typeface="Calibri" pitchFamily="34" charset="0"/>
                          <a:ea typeface="Calibri" pitchFamily="34" charset="-122"/>
                          <a:cs typeface="Calibri" pitchFamily="34" charset="-120"/>
                        </a:rPr>
                        <a:t>El fólico oral previno el agrandamiento por fenitoína en niños; el barniz de clorhexidina al 40 % lo redujo en ortodoncia.</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666B70"/>
                          </a:solidFill>
                          <a:latin typeface="Calibri" pitchFamily="34" charset="0"/>
                          <a:ea typeface="Calibri" pitchFamily="34" charset="-122"/>
                          <a:cs typeface="Calibri" pitchFamily="34" charset="-120"/>
                        </a:rPr>
                        <a:t>Arya 2011; Pretti 2015</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150" dirty="0">
                          <a:solidFill>
                            <a:srgbClr val="1A1D1F"/>
                          </a:solidFill>
                          <a:latin typeface="Calibri" pitchFamily="34" charset="0"/>
                          <a:ea typeface="Calibri" pitchFamily="34" charset="-122"/>
                          <a:cs typeface="Calibri" pitchFamily="34" charset="-120"/>
                        </a:rPr>
                        <a:t>Cambio de fármaco</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3B4045"/>
                          </a:solidFill>
                          <a:latin typeface="Calibri" pitchFamily="34" charset="0"/>
                          <a:ea typeface="Calibri" pitchFamily="34" charset="-122"/>
                          <a:cs typeface="Calibri" pitchFamily="34" charset="-120"/>
                        </a:rPr>
                        <a:t>Suspender o cambiar el bloqueante de calcio lo reduce sin resolverlo del todo; pasar de nifedipina a isradipina lo hizo regresar.</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666B70"/>
                          </a:solidFill>
                          <a:latin typeface="Calibri" pitchFamily="34" charset="0"/>
                          <a:ea typeface="Calibri" pitchFamily="34" charset="-122"/>
                          <a:cs typeface="Calibri" pitchFamily="34" charset="-120"/>
                        </a:rPr>
                        <a:t>Fardal y Lygre 2015; Westbrook 1997</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150" dirty="0">
                          <a:solidFill>
                            <a:srgbClr val="1A1D1F"/>
                          </a:solidFill>
                          <a:latin typeface="Calibri" pitchFamily="34" charset="0"/>
                          <a:ea typeface="Calibri" pitchFamily="34" charset="-122"/>
                          <a:cs typeface="Calibri" pitchFamily="34" charset="-120"/>
                        </a:rPr>
                        <a:t>Gingivectomía</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3B4045"/>
                          </a:solidFill>
                          <a:latin typeface="Calibri" pitchFamily="34" charset="0"/>
                          <a:ea typeface="Calibri" pitchFamily="34" charset="-122"/>
                          <a:cs typeface="Calibri" pitchFamily="34" charset="-120"/>
                        </a:rPr>
                        <a:t>Con bisturí o láser redujo más las bolsas que la remoción de placa hasta 6 meses en ortodoncia. Sin datos de recurrencia a largo plazo.</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150" dirty="0">
                          <a:solidFill>
                            <a:srgbClr val="666B70"/>
                          </a:solidFill>
                          <a:latin typeface="Calibri" pitchFamily="34" charset="0"/>
                          <a:ea typeface="Calibri" pitchFamily="34" charset="-122"/>
                          <a:cs typeface="Calibri" pitchFamily="34" charset="-120"/>
                        </a:rPr>
                        <a:t>Lione 2020; Rihawi 2025</a:t>
                      </a:r>
                      <a:endParaRPr lang="en-US" sz="11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bl>
          </a:graphicData>
        </a:graphic>
      </p:graphicFrame>
      <p:sp>
        <p:nvSpPr>
          <p:cNvPr id="7" name="Text 4"/>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22 / 28</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0EB"/>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Conclusión</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Nibali et al. 2026, J Clin Periodontol</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Control de placa como base del manejo; coadyuvantes en casos graves o recurrentes</a:t>
            </a:r>
            <a:endParaRPr lang="en-US" sz="3600" dirty="0"/>
          </a:p>
        </p:txBody>
      </p:sp>
      <p:sp>
        <p:nvSpPr>
          <p:cNvPr id="6" name="Text 4"/>
          <p:cNvSpPr txBox="1"/>
          <p:nvPr/>
        </p:nvSpPr>
        <p:spPr>
          <a:xfrm>
            <a:off x="822960" y="2514600"/>
            <a:ext cx="10058400" cy="1645920"/>
          </a:xfrm>
          <a:prstGeom prst="rect">
            <a:avLst/>
          </a:prstGeom>
          <a:noFill/>
          <a:ln/>
        </p:spPr>
        <p:txBody>
          <a:bodyPr wrap="square" lIns="0" tIns="0" rIns="0" bIns="0" rtlCol="0" anchor="t"/>
          <a:lstStyle/>
          <a:p>
            <a:pPr indent="0" marL="0">
              <a:lnSpc>
                <a:spcPct val="120000"/>
              </a:lnSpc>
              <a:buNone/>
            </a:pPr>
            <a:r>
              <a:rPr lang="en-US" sz="2100" i="1" dirty="0">
                <a:solidFill>
                  <a:srgbClr val="1A1D1F"/>
                </a:solidFill>
                <a:latin typeface="Cambria" pitchFamily="34" charset="0"/>
                <a:ea typeface="Cambria" pitchFamily="34" charset="-122"/>
                <a:cs typeface="Cambria" pitchFamily="34" charset="-120"/>
              </a:rPr>
              <a:t>Fenitoína, bloqueantes de calcio, ciclosporina A y la ortodoncia fija se asocian con la aparición de agrandamiento gingival, sobre todo con higiene deficiente. Instrucción de higiene y remoción profesional de placa son necesarias en esos pacientes; los coadyuvantes pueden ayudar en casos graves o recurrentes.</a:t>
            </a:r>
            <a:endParaRPr lang="en-US" sz="2100" dirty="0"/>
          </a:p>
        </p:txBody>
      </p:sp>
      <p:sp>
        <p:nvSpPr>
          <p:cNvPr id="7" name="Text 5"/>
          <p:cNvSpPr txBox="1"/>
          <p:nvPr/>
        </p:nvSpPr>
        <p:spPr>
          <a:xfrm>
            <a:off x="822960" y="4343400"/>
            <a:ext cx="3657600"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Puntos clave</a:t>
            </a:r>
            <a:endParaRPr lang="en-US" sz="1100" dirty="0"/>
          </a:p>
        </p:txBody>
      </p:sp>
      <p:sp>
        <p:nvSpPr>
          <p:cNvPr id="8" name="Shape 6"/>
          <p:cNvSpPr/>
          <p:nvPr/>
        </p:nvSpPr>
        <p:spPr>
          <a:xfrm>
            <a:off x="822960" y="4544568"/>
            <a:ext cx="10545775" cy="0"/>
          </a:xfrm>
          <a:prstGeom prst="line">
            <a:avLst/>
          </a:prstGeom>
          <a:noFill/>
          <a:ln w="9525">
            <a:solidFill>
              <a:srgbClr val="D9D9D4"/>
            </a:solidFill>
            <a:prstDash val="solid"/>
          </a:ln>
        </p:spPr>
      </p:sp>
      <p:sp>
        <p:nvSpPr>
          <p:cNvPr id="9" name="Text 7"/>
          <p:cNvSpPr txBox="1"/>
          <p:nvPr/>
        </p:nvSpPr>
        <p:spPr>
          <a:xfrm>
            <a:off x="822960" y="461772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01</a:t>
            </a:r>
            <a:endParaRPr lang="en-US" sz="1200" dirty="0"/>
          </a:p>
        </p:txBody>
      </p:sp>
      <p:sp>
        <p:nvSpPr>
          <p:cNvPr id="10" name="Text 8"/>
          <p:cNvSpPr txBox="1"/>
          <p:nvPr/>
        </p:nvSpPr>
        <p:spPr>
          <a:xfrm>
            <a:off x="1371600" y="461772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La placa es el factor de riesgo modificable más consistente. La dosis y la duración no lo son.</a:t>
            </a:r>
            <a:endParaRPr lang="en-US" sz="1250" dirty="0"/>
          </a:p>
        </p:txBody>
      </p:sp>
      <p:sp>
        <p:nvSpPr>
          <p:cNvPr id="11" name="Shape 9"/>
          <p:cNvSpPr/>
          <p:nvPr/>
        </p:nvSpPr>
        <p:spPr>
          <a:xfrm>
            <a:off x="822960" y="5047488"/>
            <a:ext cx="10545775" cy="0"/>
          </a:xfrm>
          <a:prstGeom prst="line">
            <a:avLst/>
          </a:prstGeom>
          <a:noFill/>
          <a:ln w="9525">
            <a:solidFill>
              <a:srgbClr val="D9D9D4"/>
            </a:solidFill>
            <a:prstDash val="solid"/>
          </a:ln>
        </p:spPr>
      </p:sp>
      <p:sp>
        <p:nvSpPr>
          <p:cNvPr id="12" name="Text 10"/>
          <p:cNvSpPr txBox="1"/>
          <p:nvPr/>
        </p:nvSpPr>
        <p:spPr>
          <a:xfrm>
            <a:off x="822960" y="512064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02</a:t>
            </a:r>
            <a:endParaRPr lang="en-US" sz="1200" dirty="0"/>
          </a:p>
        </p:txBody>
      </p:sp>
      <p:sp>
        <p:nvSpPr>
          <p:cNvPr id="13" name="Text 11"/>
          <p:cNvSpPr txBox="1"/>
          <p:nvPr/>
        </p:nvSpPr>
        <p:spPr>
          <a:xfrm>
            <a:off x="1371600" y="512064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Certeza de la evidencia muy baja: pocos ensayos, definiciones heterogéneas, sesgo de reclutamiento.</a:t>
            </a:r>
            <a:endParaRPr lang="en-US" sz="1250" dirty="0"/>
          </a:p>
        </p:txBody>
      </p:sp>
      <p:sp>
        <p:nvSpPr>
          <p:cNvPr id="14" name="Shape 12"/>
          <p:cNvSpPr/>
          <p:nvPr/>
        </p:nvSpPr>
        <p:spPr>
          <a:xfrm>
            <a:off x="822960" y="5550408"/>
            <a:ext cx="10545775" cy="0"/>
          </a:xfrm>
          <a:prstGeom prst="line">
            <a:avLst/>
          </a:prstGeom>
          <a:noFill/>
          <a:ln w="9525">
            <a:solidFill>
              <a:srgbClr val="D9D9D4"/>
            </a:solidFill>
            <a:prstDash val="solid"/>
          </a:ln>
        </p:spPr>
      </p:sp>
      <p:sp>
        <p:nvSpPr>
          <p:cNvPr id="15" name="Text 13"/>
          <p:cNvSpPr txBox="1"/>
          <p:nvPr/>
        </p:nvSpPr>
        <p:spPr>
          <a:xfrm>
            <a:off x="822960" y="5623560"/>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03</a:t>
            </a:r>
            <a:endParaRPr lang="en-US" sz="1200" dirty="0"/>
          </a:p>
        </p:txBody>
      </p:sp>
      <p:sp>
        <p:nvSpPr>
          <p:cNvPr id="16" name="Text 14"/>
          <p:cNvSpPr txBox="1"/>
          <p:nvPr/>
        </p:nvSpPr>
        <p:spPr>
          <a:xfrm>
            <a:off x="1371600" y="5623560"/>
            <a:ext cx="9997135" cy="411480"/>
          </a:xfrm>
          <a:prstGeom prst="rect">
            <a:avLst/>
          </a:prstGeom>
          <a:noFill/>
          <a:ln/>
        </p:spPr>
        <p:txBody>
          <a:bodyPr wrap="square" lIns="0" tIns="0" rIns="0" bIns="0" rtlCol="0" anchor="t"/>
          <a:lstStyle/>
          <a:p>
            <a:pPr indent="0" marL="0">
              <a:lnSpc>
                <a:spcPct val="115000"/>
              </a:lnSpc>
              <a:buNone/>
            </a:pPr>
            <a:r>
              <a:rPr lang="en-US" sz="1250" dirty="0">
                <a:solidFill>
                  <a:srgbClr val="3B4045"/>
                </a:solidFill>
                <a:latin typeface="Calibri" pitchFamily="34" charset="0"/>
                <a:ea typeface="Calibri" pitchFamily="34" charset="-122"/>
                <a:cs typeface="Calibri" pitchFamily="34" charset="-120"/>
              </a:rPr>
              <a:t>Pendiente: ensayos multicéntricos con definiciones reproducibles, y farmacogenómica para identificar a los susceptibles antes de medicar.</a:t>
            </a:r>
            <a:endParaRPr lang="en-US" sz="1250" dirty="0"/>
          </a:p>
        </p:txBody>
      </p:sp>
      <p:sp>
        <p:nvSpPr>
          <p:cNvPr id="17" name="Text 15"/>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23 / 28</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Manejo integrado</a:t>
            </a:r>
            <a:endParaRPr lang="en-US" sz="1200" dirty="0"/>
          </a:p>
        </p:txBody>
      </p:sp>
      <p:sp>
        <p:nvSpPr>
          <p:cNvPr id="4" name="Text 2"/>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Secuencia de manejo en cinco pasos</a:t>
            </a:r>
            <a:endParaRPr lang="en-US" sz="3600" dirty="0"/>
          </a:p>
        </p:txBody>
      </p:sp>
      <p:sp>
        <p:nvSpPr>
          <p:cNvPr id="5" name="Shape 3"/>
          <p:cNvSpPr/>
          <p:nvPr/>
        </p:nvSpPr>
        <p:spPr>
          <a:xfrm>
            <a:off x="822960" y="2514600"/>
            <a:ext cx="1889699" cy="0"/>
          </a:xfrm>
          <a:prstGeom prst="line">
            <a:avLst/>
          </a:prstGeom>
          <a:noFill/>
          <a:ln w="19050">
            <a:solidFill>
              <a:srgbClr val="1F4E9C"/>
            </a:solidFill>
            <a:prstDash val="solid"/>
          </a:ln>
        </p:spPr>
      </p:sp>
      <p:sp>
        <p:nvSpPr>
          <p:cNvPr id="6" name="Text 4"/>
          <p:cNvSpPr txBox="1"/>
          <p:nvPr/>
        </p:nvSpPr>
        <p:spPr>
          <a:xfrm>
            <a:off x="822960" y="2651760"/>
            <a:ext cx="1889699" cy="548640"/>
          </a:xfrm>
          <a:prstGeom prst="rect">
            <a:avLst/>
          </a:prstGeom>
          <a:noFill/>
          <a:ln/>
        </p:spPr>
        <p:txBody>
          <a:bodyPr wrap="square" lIns="0" tIns="0" rIns="0" bIns="0" rtlCol="0" anchor="t"/>
          <a:lstStyle/>
          <a:p>
            <a:pPr indent="0" marL="0">
              <a:buNone/>
            </a:pPr>
            <a:r>
              <a:rPr lang="en-US" sz="3600" dirty="0">
                <a:solidFill>
                  <a:srgbClr val="1F4E9C"/>
                </a:solidFill>
                <a:latin typeface="Cambria" pitchFamily="34" charset="0"/>
                <a:ea typeface="Cambria" pitchFamily="34" charset="-122"/>
                <a:cs typeface="Cambria" pitchFamily="34" charset="-120"/>
              </a:rPr>
              <a:t>1</a:t>
            </a:r>
            <a:endParaRPr lang="en-US" sz="3600" dirty="0"/>
          </a:p>
        </p:txBody>
      </p:sp>
      <p:sp>
        <p:nvSpPr>
          <p:cNvPr id="7" name="Text 5"/>
          <p:cNvSpPr txBox="1"/>
          <p:nvPr/>
        </p:nvSpPr>
        <p:spPr>
          <a:xfrm>
            <a:off x="822960" y="3291840"/>
            <a:ext cx="1889699" cy="548640"/>
          </a:xfrm>
          <a:prstGeom prst="rect">
            <a:avLst/>
          </a:prstGeom>
          <a:noFill/>
          <a:ln/>
        </p:spPr>
        <p:txBody>
          <a:bodyPr wrap="square" lIns="0" tIns="0" rIns="0" bIns="0" rtlCol="0" anchor="t"/>
          <a:lstStyle/>
          <a:p>
            <a:pPr indent="0" marL="0">
              <a:lnSpc>
                <a:spcPct val="105000"/>
              </a:lnSpc>
              <a:buNone/>
            </a:pPr>
            <a:r>
              <a:rPr lang="en-US" sz="1600" dirty="0">
                <a:solidFill>
                  <a:srgbClr val="1A1D1F"/>
                </a:solidFill>
                <a:latin typeface="Cambria" pitchFamily="34" charset="0"/>
                <a:ea typeface="Cambria" pitchFamily="34" charset="-122"/>
                <a:cs typeface="Cambria" pitchFamily="34" charset="-120"/>
              </a:rPr>
              <a:t>Control de placa</a:t>
            </a:r>
            <a:endParaRPr lang="en-US" sz="1600" dirty="0"/>
          </a:p>
        </p:txBody>
      </p:sp>
      <p:sp>
        <p:nvSpPr>
          <p:cNvPr id="8" name="Text 6"/>
          <p:cNvSpPr txBox="1"/>
          <p:nvPr/>
        </p:nvSpPr>
        <p:spPr>
          <a:xfrm>
            <a:off x="822960" y="3886200"/>
            <a:ext cx="1889699" cy="1280160"/>
          </a:xfrm>
          <a:prstGeom prst="rect">
            <a:avLst/>
          </a:prstGeom>
          <a:noFill/>
          <a:ln/>
        </p:spPr>
        <p:txBody>
          <a:bodyPr wrap="square" lIns="0" tIns="0" rIns="0" bIns="0" rtlCol="0" anchor="t"/>
          <a:lstStyle/>
          <a:p>
            <a:pPr indent="0" marL="0">
              <a:lnSpc>
                <a:spcPct val="120000"/>
              </a:lnSpc>
              <a:buNone/>
            </a:pPr>
            <a:r>
              <a:rPr lang="en-US" sz="1150" dirty="0">
                <a:solidFill>
                  <a:srgbClr val="3B4045"/>
                </a:solidFill>
                <a:latin typeface="Calibri" pitchFamily="34" charset="0"/>
                <a:ea typeface="Calibri" pitchFamily="34" charset="-122"/>
                <a:cs typeface="Calibri" pitchFamily="34" charset="-120"/>
              </a:rPr>
              <a:t>Instrucción de higiene y remoción profesional de placa. Primera línea, siempre, antes y durante la medicación.</a:t>
            </a:r>
            <a:endParaRPr lang="en-US" sz="1150" dirty="0"/>
          </a:p>
        </p:txBody>
      </p:sp>
      <p:sp>
        <p:nvSpPr>
          <p:cNvPr id="9" name="Shape 7"/>
          <p:cNvSpPr/>
          <p:nvPr/>
        </p:nvSpPr>
        <p:spPr>
          <a:xfrm>
            <a:off x="2986979" y="2514600"/>
            <a:ext cx="1889699" cy="0"/>
          </a:xfrm>
          <a:prstGeom prst="line">
            <a:avLst/>
          </a:prstGeom>
          <a:noFill/>
          <a:ln w="19050">
            <a:solidFill>
              <a:srgbClr val="1A1D1F"/>
            </a:solidFill>
            <a:prstDash val="solid"/>
          </a:ln>
        </p:spPr>
      </p:sp>
      <p:sp>
        <p:nvSpPr>
          <p:cNvPr id="10" name="Text 8"/>
          <p:cNvSpPr txBox="1"/>
          <p:nvPr/>
        </p:nvSpPr>
        <p:spPr>
          <a:xfrm>
            <a:off x="2986979" y="2651760"/>
            <a:ext cx="1889699" cy="548640"/>
          </a:xfrm>
          <a:prstGeom prst="rect">
            <a:avLst/>
          </a:prstGeom>
          <a:noFill/>
          <a:ln/>
        </p:spPr>
        <p:txBody>
          <a:bodyPr wrap="square" lIns="0" tIns="0" rIns="0" bIns="0" rtlCol="0" anchor="t"/>
          <a:lstStyle/>
          <a:p>
            <a:pPr indent="0" marL="0">
              <a:buNone/>
            </a:pPr>
            <a:r>
              <a:rPr lang="en-US" sz="3600" dirty="0">
                <a:solidFill>
                  <a:srgbClr val="1A1D1F"/>
                </a:solidFill>
                <a:latin typeface="Cambria" pitchFamily="34" charset="0"/>
                <a:ea typeface="Cambria" pitchFamily="34" charset="-122"/>
                <a:cs typeface="Cambria" pitchFamily="34" charset="-120"/>
              </a:rPr>
              <a:t>2</a:t>
            </a:r>
            <a:endParaRPr lang="en-US" sz="3600" dirty="0"/>
          </a:p>
        </p:txBody>
      </p:sp>
      <p:sp>
        <p:nvSpPr>
          <p:cNvPr id="11" name="Text 9"/>
          <p:cNvSpPr txBox="1"/>
          <p:nvPr/>
        </p:nvSpPr>
        <p:spPr>
          <a:xfrm>
            <a:off x="2986979" y="3291840"/>
            <a:ext cx="1889699" cy="548640"/>
          </a:xfrm>
          <a:prstGeom prst="rect">
            <a:avLst/>
          </a:prstGeom>
          <a:noFill/>
          <a:ln/>
        </p:spPr>
        <p:txBody>
          <a:bodyPr wrap="square" lIns="0" tIns="0" rIns="0" bIns="0" rtlCol="0" anchor="t"/>
          <a:lstStyle/>
          <a:p>
            <a:pPr indent="0" marL="0">
              <a:lnSpc>
                <a:spcPct val="105000"/>
              </a:lnSpc>
              <a:buNone/>
            </a:pPr>
            <a:r>
              <a:rPr lang="en-US" sz="1600" dirty="0">
                <a:solidFill>
                  <a:srgbClr val="1A1D1F"/>
                </a:solidFill>
                <a:latin typeface="Cambria" pitchFamily="34" charset="0"/>
                <a:ea typeface="Cambria" pitchFamily="34" charset="-122"/>
                <a:cs typeface="Cambria" pitchFamily="34" charset="-120"/>
              </a:rPr>
              <a:t>Eliminar retención</a:t>
            </a:r>
            <a:endParaRPr lang="en-US" sz="1600" dirty="0"/>
          </a:p>
        </p:txBody>
      </p:sp>
      <p:sp>
        <p:nvSpPr>
          <p:cNvPr id="12" name="Text 10"/>
          <p:cNvSpPr txBox="1"/>
          <p:nvPr/>
        </p:nvSpPr>
        <p:spPr>
          <a:xfrm>
            <a:off x="2986979" y="3886200"/>
            <a:ext cx="1889699" cy="1280160"/>
          </a:xfrm>
          <a:prstGeom prst="rect">
            <a:avLst/>
          </a:prstGeom>
          <a:noFill/>
          <a:ln/>
        </p:spPr>
        <p:txBody>
          <a:bodyPr wrap="square" lIns="0" tIns="0" rIns="0" bIns="0" rtlCol="0" anchor="t"/>
          <a:lstStyle/>
          <a:p>
            <a:pPr indent="0" marL="0">
              <a:lnSpc>
                <a:spcPct val="120000"/>
              </a:lnSpc>
              <a:buNone/>
            </a:pPr>
            <a:r>
              <a:rPr lang="en-US" sz="1150" dirty="0">
                <a:solidFill>
                  <a:srgbClr val="3B4045"/>
                </a:solidFill>
                <a:latin typeface="Calibri" pitchFamily="34" charset="0"/>
                <a:ea typeface="Calibri" pitchFamily="34" charset="-122"/>
                <a:cs typeface="Calibri" pitchFamily="34" charset="-120"/>
              </a:rPr>
              <a:t>Márgenes desbordantes, restos radiculares, bandas y aparatos de ortodoncia en la zona afectada.</a:t>
            </a:r>
            <a:endParaRPr lang="en-US" sz="1150" dirty="0"/>
          </a:p>
        </p:txBody>
      </p:sp>
      <p:sp>
        <p:nvSpPr>
          <p:cNvPr id="13" name="Shape 11"/>
          <p:cNvSpPr/>
          <p:nvPr/>
        </p:nvSpPr>
        <p:spPr>
          <a:xfrm>
            <a:off x="5150998" y="2514600"/>
            <a:ext cx="1889699" cy="0"/>
          </a:xfrm>
          <a:prstGeom prst="line">
            <a:avLst/>
          </a:prstGeom>
          <a:noFill/>
          <a:ln w="19050">
            <a:solidFill>
              <a:srgbClr val="1A1D1F"/>
            </a:solidFill>
            <a:prstDash val="solid"/>
          </a:ln>
        </p:spPr>
      </p:sp>
      <p:sp>
        <p:nvSpPr>
          <p:cNvPr id="14" name="Text 12"/>
          <p:cNvSpPr txBox="1"/>
          <p:nvPr/>
        </p:nvSpPr>
        <p:spPr>
          <a:xfrm>
            <a:off x="5150998" y="2651760"/>
            <a:ext cx="1889699" cy="548640"/>
          </a:xfrm>
          <a:prstGeom prst="rect">
            <a:avLst/>
          </a:prstGeom>
          <a:noFill/>
          <a:ln/>
        </p:spPr>
        <p:txBody>
          <a:bodyPr wrap="square" lIns="0" tIns="0" rIns="0" bIns="0" rtlCol="0" anchor="t"/>
          <a:lstStyle/>
          <a:p>
            <a:pPr indent="0" marL="0">
              <a:buNone/>
            </a:pPr>
            <a:r>
              <a:rPr lang="en-US" sz="3600" dirty="0">
                <a:solidFill>
                  <a:srgbClr val="1A1D1F"/>
                </a:solidFill>
                <a:latin typeface="Cambria" pitchFamily="34" charset="0"/>
                <a:ea typeface="Cambria" pitchFamily="34" charset="-122"/>
                <a:cs typeface="Cambria" pitchFamily="34" charset="-120"/>
              </a:rPr>
              <a:t>3</a:t>
            </a:r>
            <a:endParaRPr lang="en-US" sz="3600" dirty="0"/>
          </a:p>
        </p:txBody>
      </p:sp>
      <p:sp>
        <p:nvSpPr>
          <p:cNvPr id="15" name="Text 13"/>
          <p:cNvSpPr txBox="1"/>
          <p:nvPr/>
        </p:nvSpPr>
        <p:spPr>
          <a:xfrm>
            <a:off x="5150998" y="3291840"/>
            <a:ext cx="1889699" cy="548640"/>
          </a:xfrm>
          <a:prstGeom prst="rect">
            <a:avLst/>
          </a:prstGeom>
          <a:noFill/>
          <a:ln/>
        </p:spPr>
        <p:txBody>
          <a:bodyPr wrap="square" lIns="0" tIns="0" rIns="0" bIns="0" rtlCol="0" anchor="t"/>
          <a:lstStyle/>
          <a:p>
            <a:pPr indent="0" marL="0">
              <a:lnSpc>
                <a:spcPct val="105000"/>
              </a:lnSpc>
              <a:buNone/>
            </a:pPr>
            <a:r>
              <a:rPr lang="en-US" sz="1600" dirty="0">
                <a:solidFill>
                  <a:srgbClr val="1A1D1F"/>
                </a:solidFill>
                <a:latin typeface="Cambria" pitchFamily="34" charset="0"/>
                <a:ea typeface="Cambria" pitchFamily="34" charset="-122"/>
                <a:cs typeface="Cambria" pitchFamily="34" charset="-120"/>
              </a:rPr>
              <a:t>Coadyuvantes</a:t>
            </a:r>
            <a:endParaRPr lang="en-US" sz="1600" dirty="0"/>
          </a:p>
        </p:txBody>
      </p:sp>
      <p:sp>
        <p:nvSpPr>
          <p:cNvPr id="16" name="Text 14"/>
          <p:cNvSpPr txBox="1"/>
          <p:nvPr/>
        </p:nvSpPr>
        <p:spPr>
          <a:xfrm>
            <a:off x="5150998" y="3886200"/>
            <a:ext cx="1889699" cy="1280160"/>
          </a:xfrm>
          <a:prstGeom prst="rect">
            <a:avLst/>
          </a:prstGeom>
          <a:noFill/>
          <a:ln/>
        </p:spPr>
        <p:txBody>
          <a:bodyPr wrap="square" lIns="0" tIns="0" rIns="0" bIns="0" rtlCol="0" anchor="t"/>
          <a:lstStyle/>
          <a:p>
            <a:pPr indent="0" marL="0">
              <a:lnSpc>
                <a:spcPct val="120000"/>
              </a:lnSpc>
              <a:buNone/>
            </a:pPr>
            <a:r>
              <a:rPr lang="en-US" sz="1150" dirty="0">
                <a:solidFill>
                  <a:srgbClr val="3B4045"/>
                </a:solidFill>
                <a:latin typeface="Calibri" pitchFamily="34" charset="0"/>
                <a:ea typeface="Calibri" pitchFamily="34" charset="-122"/>
                <a:cs typeface="Calibri" pitchFamily="34" charset="-120"/>
              </a:rPr>
              <a:t>Azitromicina 3 a 5 días; ácido fólico en casos seleccionados con fenitoína.</a:t>
            </a:r>
            <a:endParaRPr lang="en-US" sz="1150" dirty="0"/>
          </a:p>
        </p:txBody>
      </p:sp>
      <p:sp>
        <p:nvSpPr>
          <p:cNvPr id="17" name="Shape 15"/>
          <p:cNvSpPr/>
          <p:nvPr/>
        </p:nvSpPr>
        <p:spPr>
          <a:xfrm>
            <a:off x="7315017" y="2514600"/>
            <a:ext cx="1889699" cy="0"/>
          </a:xfrm>
          <a:prstGeom prst="line">
            <a:avLst/>
          </a:prstGeom>
          <a:noFill/>
          <a:ln w="19050">
            <a:solidFill>
              <a:srgbClr val="1A1D1F"/>
            </a:solidFill>
            <a:prstDash val="solid"/>
          </a:ln>
        </p:spPr>
      </p:sp>
      <p:sp>
        <p:nvSpPr>
          <p:cNvPr id="18" name="Text 16"/>
          <p:cNvSpPr txBox="1"/>
          <p:nvPr/>
        </p:nvSpPr>
        <p:spPr>
          <a:xfrm>
            <a:off x="7315017" y="2651760"/>
            <a:ext cx="1889699" cy="548640"/>
          </a:xfrm>
          <a:prstGeom prst="rect">
            <a:avLst/>
          </a:prstGeom>
          <a:noFill/>
          <a:ln/>
        </p:spPr>
        <p:txBody>
          <a:bodyPr wrap="square" lIns="0" tIns="0" rIns="0" bIns="0" rtlCol="0" anchor="t"/>
          <a:lstStyle/>
          <a:p>
            <a:pPr indent="0" marL="0">
              <a:buNone/>
            </a:pPr>
            <a:r>
              <a:rPr lang="en-US" sz="3600" dirty="0">
                <a:solidFill>
                  <a:srgbClr val="1A1D1F"/>
                </a:solidFill>
                <a:latin typeface="Cambria" pitchFamily="34" charset="0"/>
                <a:ea typeface="Cambria" pitchFamily="34" charset="-122"/>
                <a:cs typeface="Cambria" pitchFamily="34" charset="-120"/>
              </a:rPr>
              <a:t>4</a:t>
            </a:r>
            <a:endParaRPr lang="en-US" sz="3600" dirty="0"/>
          </a:p>
        </p:txBody>
      </p:sp>
      <p:sp>
        <p:nvSpPr>
          <p:cNvPr id="19" name="Text 17"/>
          <p:cNvSpPr txBox="1"/>
          <p:nvPr/>
        </p:nvSpPr>
        <p:spPr>
          <a:xfrm>
            <a:off x="7315017" y="3291840"/>
            <a:ext cx="1889699" cy="548640"/>
          </a:xfrm>
          <a:prstGeom prst="rect">
            <a:avLst/>
          </a:prstGeom>
          <a:noFill/>
          <a:ln/>
        </p:spPr>
        <p:txBody>
          <a:bodyPr wrap="square" lIns="0" tIns="0" rIns="0" bIns="0" rtlCol="0" anchor="t"/>
          <a:lstStyle/>
          <a:p>
            <a:pPr indent="0" marL="0">
              <a:lnSpc>
                <a:spcPct val="105000"/>
              </a:lnSpc>
              <a:buNone/>
            </a:pPr>
            <a:r>
              <a:rPr lang="en-US" sz="1600" dirty="0">
                <a:solidFill>
                  <a:srgbClr val="1A1D1F"/>
                </a:solidFill>
                <a:latin typeface="Cambria" pitchFamily="34" charset="0"/>
                <a:ea typeface="Cambria" pitchFamily="34" charset="-122"/>
                <a:cs typeface="Cambria" pitchFamily="34" charset="-120"/>
              </a:rPr>
              <a:t>Sustituir el fármaco</a:t>
            </a:r>
            <a:endParaRPr lang="en-US" sz="1600" dirty="0"/>
          </a:p>
        </p:txBody>
      </p:sp>
      <p:sp>
        <p:nvSpPr>
          <p:cNvPr id="20" name="Text 18"/>
          <p:cNvSpPr txBox="1"/>
          <p:nvPr/>
        </p:nvSpPr>
        <p:spPr>
          <a:xfrm>
            <a:off x="7315017" y="3886200"/>
            <a:ext cx="1889699" cy="1280160"/>
          </a:xfrm>
          <a:prstGeom prst="rect">
            <a:avLst/>
          </a:prstGeom>
          <a:noFill/>
          <a:ln/>
        </p:spPr>
        <p:txBody>
          <a:bodyPr wrap="square" lIns="0" tIns="0" rIns="0" bIns="0" rtlCol="0" anchor="t"/>
          <a:lstStyle/>
          <a:p>
            <a:pPr indent="0" marL="0">
              <a:lnSpc>
                <a:spcPct val="120000"/>
              </a:lnSpc>
              <a:buNone/>
            </a:pPr>
            <a:r>
              <a:rPr lang="en-US" sz="1150" dirty="0">
                <a:solidFill>
                  <a:srgbClr val="3B4045"/>
                </a:solidFill>
                <a:latin typeface="Calibri" pitchFamily="34" charset="0"/>
                <a:ea typeface="Calibri" pitchFamily="34" charset="-122"/>
                <a:cs typeface="Calibri" pitchFamily="34" charset="-120"/>
              </a:rPr>
              <a:t>Con el médico tratante, sólo si la alternativa controla igual la enfermedad de base.</a:t>
            </a:r>
            <a:endParaRPr lang="en-US" sz="1150" dirty="0"/>
          </a:p>
        </p:txBody>
      </p:sp>
      <p:sp>
        <p:nvSpPr>
          <p:cNvPr id="21" name="Shape 19"/>
          <p:cNvSpPr/>
          <p:nvPr/>
        </p:nvSpPr>
        <p:spPr>
          <a:xfrm>
            <a:off x="9479036" y="2514600"/>
            <a:ext cx="1889699" cy="0"/>
          </a:xfrm>
          <a:prstGeom prst="line">
            <a:avLst/>
          </a:prstGeom>
          <a:noFill/>
          <a:ln w="19050">
            <a:solidFill>
              <a:srgbClr val="1A1D1F"/>
            </a:solidFill>
            <a:prstDash val="solid"/>
          </a:ln>
        </p:spPr>
      </p:sp>
      <p:sp>
        <p:nvSpPr>
          <p:cNvPr id="22" name="Text 20"/>
          <p:cNvSpPr txBox="1"/>
          <p:nvPr/>
        </p:nvSpPr>
        <p:spPr>
          <a:xfrm>
            <a:off x="9479036" y="2651760"/>
            <a:ext cx="1889699" cy="548640"/>
          </a:xfrm>
          <a:prstGeom prst="rect">
            <a:avLst/>
          </a:prstGeom>
          <a:noFill/>
          <a:ln/>
        </p:spPr>
        <p:txBody>
          <a:bodyPr wrap="square" lIns="0" tIns="0" rIns="0" bIns="0" rtlCol="0" anchor="t"/>
          <a:lstStyle/>
          <a:p>
            <a:pPr indent="0" marL="0">
              <a:buNone/>
            </a:pPr>
            <a:r>
              <a:rPr lang="en-US" sz="3600" dirty="0">
                <a:solidFill>
                  <a:srgbClr val="1A1D1F"/>
                </a:solidFill>
                <a:latin typeface="Cambria" pitchFamily="34" charset="0"/>
                <a:ea typeface="Cambria" pitchFamily="34" charset="-122"/>
                <a:cs typeface="Cambria" pitchFamily="34" charset="-120"/>
              </a:rPr>
              <a:t>5</a:t>
            </a:r>
            <a:endParaRPr lang="en-US" sz="3600" dirty="0"/>
          </a:p>
        </p:txBody>
      </p:sp>
      <p:sp>
        <p:nvSpPr>
          <p:cNvPr id="23" name="Text 21"/>
          <p:cNvSpPr txBox="1"/>
          <p:nvPr/>
        </p:nvSpPr>
        <p:spPr>
          <a:xfrm>
            <a:off x="9479036" y="3291840"/>
            <a:ext cx="1889699" cy="548640"/>
          </a:xfrm>
          <a:prstGeom prst="rect">
            <a:avLst/>
          </a:prstGeom>
          <a:noFill/>
          <a:ln/>
        </p:spPr>
        <p:txBody>
          <a:bodyPr wrap="square" lIns="0" tIns="0" rIns="0" bIns="0" rtlCol="0" anchor="t"/>
          <a:lstStyle/>
          <a:p>
            <a:pPr indent="0" marL="0">
              <a:lnSpc>
                <a:spcPct val="105000"/>
              </a:lnSpc>
              <a:buNone/>
            </a:pPr>
            <a:r>
              <a:rPr lang="en-US" sz="1600" dirty="0">
                <a:solidFill>
                  <a:srgbClr val="1A1D1F"/>
                </a:solidFill>
                <a:latin typeface="Cambria" pitchFamily="34" charset="0"/>
                <a:ea typeface="Cambria" pitchFamily="34" charset="-122"/>
                <a:cs typeface="Cambria" pitchFamily="34" charset="-120"/>
              </a:rPr>
              <a:t>Cirugía</a:t>
            </a:r>
            <a:endParaRPr lang="en-US" sz="1600" dirty="0"/>
          </a:p>
        </p:txBody>
      </p:sp>
      <p:sp>
        <p:nvSpPr>
          <p:cNvPr id="24" name="Text 22"/>
          <p:cNvSpPr txBox="1"/>
          <p:nvPr/>
        </p:nvSpPr>
        <p:spPr>
          <a:xfrm>
            <a:off x="9479036" y="3886200"/>
            <a:ext cx="1889699" cy="1280160"/>
          </a:xfrm>
          <a:prstGeom prst="rect">
            <a:avLst/>
          </a:prstGeom>
          <a:noFill/>
          <a:ln/>
        </p:spPr>
        <p:txBody>
          <a:bodyPr wrap="square" lIns="0" tIns="0" rIns="0" bIns="0" rtlCol="0" anchor="t"/>
          <a:lstStyle/>
          <a:p>
            <a:pPr indent="0" marL="0">
              <a:lnSpc>
                <a:spcPct val="120000"/>
              </a:lnSpc>
              <a:buNone/>
            </a:pPr>
            <a:r>
              <a:rPr lang="en-US" sz="1150" dirty="0">
                <a:solidFill>
                  <a:srgbClr val="3B4045"/>
                </a:solidFill>
                <a:latin typeface="Calibri" pitchFamily="34" charset="0"/>
                <a:ea typeface="Calibri" pitchFamily="34" charset="-122"/>
                <a:cs typeface="Calibri" pitchFamily="34" charset="-120"/>
              </a:rPr>
              <a:t>Gingivectomía o gingivoplastia con bisturí, electrocirugía o láser cuando compromete función o estética.</a:t>
            </a:r>
            <a:endParaRPr lang="en-US" sz="1150" dirty="0"/>
          </a:p>
        </p:txBody>
      </p:sp>
      <p:sp>
        <p:nvSpPr>
          <p:cNvPr id="25" name="Text 23"/>
          <p:cNvSpPr txBox="1"/>
          <p:nvPr/>
        </p:nvSpPr>
        <p:spPr>
          <a:xfrm>
            <a:off x="822960" y="5257800"/>
            <a:ext cx="9601200" cy="914400"/>
          </a:xfrm>
          <a:prstGeom prst="rect">
            <a:avLst/>
          </a:prstGeom>
          <a:noFill/>
          <a:ln/>
        </p:spPr>
        <p:txBody>
          <a:bodyPr wrap="square" lIns="0" tIns="0" rIns="0" bIns="0" rtlCol="0" anchor="t"/>
          <a:lstStyle/>
          <a:p>
            <a:pPr indent="0" marL="0">
              <a:lnSpc>
                <a:spcPct val="115000"/>
              </a:lnSpc>
              <a:buNone/>
            </a:pPr>
            <a:r>
              <a:rPr lang="en-US" sz="1700" i="1" dirty="0">
                <a:solidFill>
                  <a:srgbClr val="1A1D1F"/>
                </a:solidFill>
                <a:latin typeface="Cambria" pitchFamily="34" charset="0"/>
                <a:ea typeface="Cambria" pitchFamily="34" charset="-122"/>
                <a:cs typeface="Cambria" pitchFamily="34" charset="-120"/>
              </a:rPr>
              <a:t>Los pasos se acumulan: el control de placa acompaña a cualquier medida posterior y es lo que reduce la recidiva.</a:t>
            </a:r>
            <a:endParaRPr lang="en-US" sz="1700" dirty="0"/>
          </a:p>
        </p:txBody>
      </p:sp>
      <p:sp>
        <p:nvSpPr>
          <p:cNvPr id="26" name="Text 24"/>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24 / 28</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Paso 4</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Manejo integrado</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Sustituir el fármaco, siempre con el médico tratante</a:t>
            </a:r>
            <a:endParaRPr lang="en-US" sz="3600" dirty="0"/>
          </a:p>
        </p:txBody>
      </p:sp>
      <p:sp>
        <p:nvSpPr>
          <p:cNvPr id="6" name="Text 4"/>
          <p:cNvSpPr txBox="1"/>
          <p:nvPr/>
        </p:nvSpPr>
        <p:spPr>
          <a:xfrm>
            <a:off x="822960" y="2514600"/>
            <a:ext cx="3295802"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Si toma</a:t>
            </a:r>
            <a:endParaRPr lang="en-US" sz="1100" dirty="0"/>
          </a:p>
        </p:txBody>
      </p:sp>
      <p:sp>
        <p:nvSpPr>
          <p:cNvPr id="7" name="Text 5"/>
          <p:cNvSpPr txBox="1"/>
          <p:nvPr/>
        </p:nvSpPr>
        <p:spPr>
          <a:xfrm>
            <a:off x="822960" y="2788920"/>
            <a:ext cx="3295802" cy="457200"/>
          </a:xfrm>
          <a:prstGeom prst="rect">
            <a:avLst/>
          </a:prstGeom>
          <a:noFill/>
          <a:ln/>
        </p:spPr>
        <p:txBody>
          <a:bodyPr wrap="square" lIns="0" tIns="0" rIns="0" bIns="0" rtlCol="0" anchor="t"/>
          <a:lstStyle/>
          <a:p>
            <a:pPr indent="0" marL="0">
              <a:buNone/>
            </a:pPr>
            <a:r>
              <a:rPr lang="en-US" sz="2000" dirty="0">
                <a:solidFill>
                  <a:srgbClr val="1A1D1F"/>
                </a:solidFill>
                <a:latin typeface="Cambria" pitchFamily="34" charset="0"/>
                <a:ea typeface="Cambria" pitchFamily="34" charset="-122"/>
                <a:cs typeface="Cambria" pitchFamily="34" charset="-120"/>
              </a:rPr>
              <a:t>Fenitoína</a:t>
            </a:r>
            <a:endParaRPr lang="en-US" sz="2000" dirty="0"/>
          </a:p>
        </p:txBody>
      </p:sp>
      <p:sp>
        <p:nvSpPr>
          <p:cNvPr id="8" name="Shape 6"/>
          <p:cNvSpPr/>
          <p:nvPr/>
        </p:nvSpPr>
        <p:spPr>
          <a:xfrm>
            <a:off x="841248" y="3337560"/>
            <a:ext cx="201168" cy="365760"/>
          </a:xfrm>
          <a:prstGeom prst="downArrow">
            <a:avLst/>
          </a:prstGeom>
          <a:solidFill>
            <a:srgbClr val="1F4E9C"/>
          </a:solidFill>
          <a:ln w="12700">
            <a:solidFill>
              <a:srgbClr val="1F4E9C"/>
            </a:solidFill>
            <a:prstDash val="solid"/>
          </a:ln>
        </p:spPr>
      </p:sp>
      <p:sp>
        <p:nvSpPr>
          <p:cNvPr id="9" name="Text 7"/>
          <p:cNvSpPr txBox="1"/>
          <p:nvPr/>
        </p:nvSpPr>
        <p:spPr>
          <a:xfrm>
            <a:off x="822960" y="3794760"/>
            <a:ext cx="3295802"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Alternativas descritas</a:t>
            </a:r>
            <a:endParaRPr lang="en-US" sz="1100" dirty="0"/>
          </a:p>
        </p:txBody>
      </p:sp>
      <p:sp>
        <p:nvSpPr>
          <p:cNvPr id="10" name="Text 8"/>
          <p:cNvSpPr txBox="1"/>
          <p:nvPr/>
        </p:nvSpPr>
        <p:spPr>
          <a:xfrm>
            <a:off x="822960" y="4069080"/>
            <a:ext cx="3295802" cy="82296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00" dirty="0">
                <a:solidFill>
                  <a:srgbClr val="3B4045"/>
                </a:solidFill>
                <a:latin typeface="Calibri" pitchFamily="34" charset="0"/>
                <a:ea typeface="Calibri" pitchFamily="34" charset="-122"/>
                <a:cs typeface="Calibri" pitchFamily="34" charset="-120"/>
              </a:rPr>
              <a:t>Carbamazepina</a:t>
            </a:r>
            <a:endParaRPr lang="en-US" sz="1300" dirty="0"/>
          </a:p>
          <a:p>
            <a:pPr marL="342900" indent="-342900">
              <a:lnSpc>
                <a:spcPct val="115000"/>
              </a:lnSpc>
              <a:spcAft>
                <a:spcPts val="600"/>
              </a:spcAft>
              <a:buSzPct val="100000"/>
              <a:buChar char="•"/>
            </a:pPr>
            <a:r>
              <a:rPr lang="en-US" sz="1300" dirty="0">
                <a:solidFill>
                  <a:srgbClr val="3B4045"/>
                </a:solidFill>
                <a:latin typeface="Calibri" pitchFamily="34" charset="0"/>
                <a:ea typeface="Calibri" pitchFamily="34" charset="-122"/>
                <a:cs typeface="Calibri" pitchFamily="34" charset="-120"/>
              </a:rPr>
              <a:t>Etosuximida</a:t>
            </a:r>
            <a:endParaRPr lang="en-US" sz="1300" dirty="0"/>
          </a:p>
          <a:p>
            <a:pPr marL="342900" indent="-342900">
              <a:lnSpc>
                <a:spcPct val="115000"/>
              </a:lnSpc>
              <a:spcAft>
                <a:spcPts val="600"/>
              </a:spcAft>
              <a:buSzPct val="100000"/>
              <a:buChar char="•"/>
            </a:pPr>
            <a:r>
              <a:rPr lang="en-US" sz="1300" dirty="0">
                <a:solidFill>
                  <a:srgbClr val="3B4045"/>
                </a:solidFill>
                <a:latin typeface="Calibri" pitchFamily="34" charset="0"/>
                <a:ea typeface="Calibri" pitchFamily="34" charset="-122"/>
                <a:cs typeface="Calibri" pitchFamily="34" charset="-120"/>
              </a:rPr>
              <a:t>Valproato de sodio</a:t>
            </a:r>
            <a:endParaRPr lang="en-US" sz="1300" dirty="0"/>
          </a:p>
        </p:txBody>
      </p:sp>
      <p:sp>
        <p:nvSpPr>
          <p:cNvPr id="11" name="Text 9"/>
          <p:cNvSpPr txBox="1"/>
          <p:nvPr/>
        </p:nvSpPr>
        <p:spPr>
          <a:xfrm>
            <a:off x="822960" y="4846320"/>
            <a:ext cx="3295802" cy="640080"/>
          </a:xfrm>
          <a:prstGeom prst="rect">
            <a:avLst/>
          </a:prstGeom>
          <a:noFill/>
          <a:ln/>
        </p:spPr>
        <p:txBody>
          <a:bodyPr wrap="square" lIns="0" tIns="0" rIns="0" bIns="0" rtlCol="0" anchor="t"/>
          <a:lstStyle/>
          <a:p>
            <a:pPr indent="0" marL="0">
              <a:lnSpc>
                <a:spcPct val="115000"/>
              </a:lnSpc>
              <a:buNone/>
            </a:pPr>
            <a:r>
              <a:rPr lang="en-US" sz="1100" dirty="0">
                <a:solidFill>
                  <a:srgbClr val="666B70"/>
                </a:solidFill>
                <a:latin typeface="Calibri" pitchFamily="34" charset="0"/>
                <a:ea typeface="Calibri" pitchFamily="34" charset="-122"/>
                <a:cs typeface="Calibri" pitchFamily="34" charset="-120"/>
              </a:rPr>
              <a:t>Atención: FAERS 2026 detecta señal también para valproato y levetiracetam.</a:t>
            </a:r>
            <a:endParaRPr lang="en-US" sz="1100" dirty="0"/>
          </a:p>
        </p:txBody>
      </p:sp>
      <p:sp>
        <p:nvSpPr>
          <p:cNvPr id="12" name="Shape 10"/>
          <p:cNvSpPr/>
          <p:nvPr/>
        </p:nvSpPr>
        <p:spPr>
          <a:xfrm>
            <a:off x="4283354" y="2514600"/>
            <a:ext cx="0" cy="2651760"/>
          </a:xfrm>
          <a:prstGeom prst="line">
            <a:avLst/>
          </a:prstGeom>
          <a:noFill/>
          <a:ln w="9525">
            <a:solidFill>
              <a:srgbClr val="D9D9D4"/>
            </a:solidFill>
            <a:prstDash val="solid"/>
          </a:ln>
        </p:spPr>
      </p:sp>
      <p:sp>
        <p:nvSpPr>
          <p:cNvPr id="13" name="Text 11"/>
          <p:cNvSpPr txBox="1"/>
          <p:nvPr/>
        </p:nvSpPr>
        <p:spPr>
          <a:xfrm>
            <a:off x="4447946" y="2514600"/>
            <a:ext cx="3295802"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Si toma</a:t>
            </a:r>
            <a:endParaRPr lang="en-US" sz="1100" dirty="0"/>
          </a:p>
        </p:txBody>
      </p:sp>
      <p:sp>
        <p:nvSpPr>
          <p:cNvPr id="14" name="Text 12"/>
          <p:cNvSpPr txBox="1"/>
          <p:nvPr/>
        </p:nvSpPr>
        <p:spPr>
          <a:xfrm>
            <a:off x="4447946" y="2788920"/>
            <a:ext cx="3295802" cy="457200"/>
          </a:xfrm>
          <a:prstGeom prst="rect">
            <a:avLst/>
          </a:prstGeom>
          <a:noFill/>
          <a:ln/>
        </p:spPr>
        <p:txBody>
          <a:bodyPr wrap="square" lIns="0" tIns="0" rIns="0" bIns="0" rtlCol="0" anchor="t"/>
          <a:lstStyle/>
          <a:p>
            <a:pPr indent="0" marL="0">
              <a:buNone/>
            </a:pPr>
            <a:r>
              <a:rPr lang="en-US" sz="2000" dirty="0">
                <a:solidFill>
                  <a:srgbClr val="1A1D1F"/>
                </a:solidFill>
                <a:latin typeface="Cambria" pitchFamily="34" charset="0"/>
                <a:ea typeface="Cambria" pitchFamily="34" charset="-122"/>
                <a:cs typeface="Cambria" pitchFamily="34" charset="-120"/>
              </a:rPr>
              <a:t>Bloqueante de calcio</a:t>
            </a:r>
            <a:endParaRPr lang="en-US" sz="2000" dirty="0"/>
          </a:p>
        </p:txBody>
      </p:sp>
      <p:sp>
        <p:nvSpPr>
          <p:cNvPr id="15" name="Shape 13"/>
          <p:cNvSpPr/>
          <p:nvPr/>
        </p:nvSpPr>
        <p:spPr>
          <a:xfrm>
            <a:off x="4466234" y="3337560"/>
            <a:ext cx="201168" cy="365760"/>
          </a:xfrm>
          <a:prstGeom prst="downArrow">
            <a:avLst/>
          </a:prstGeom>
          <a:solidFill>
            <a:srgbClr val="1F4E9C"/>
          </a:solidFill>
          <a:ln w="12700">
            <a:solidFill>
              <a:srgbClr val="1F4E9C"/>
            </a:solidFill>
            <a:prstDash val="solid"/>
          </a:ln>
        </p:spPr>
      </p:sp>
      <p:sp>
        <p:nvSpPr>
          <p:cNvPr id="16" name="Text 14"/>
          <p:cNvSpPr txBox="1"/>
          <p:nvPr/>
        </p:nvSpPr>
        <p:spPr>
          <a:xfrm>
            <a:off x="4447946" y="3794760"/>
            <a:ext cx="3295802"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Alternativas descritas</a:t>
            </a:r>
            <a:endParaRPr lang="en-US" sz="1100" dirty="0"/>
          </a:p>
        </p:txBody>
      </p:sp>
      <p:sp>
        <p:nvSpPr>
          <p:cNvPr id="17" name="Text 15"/>
          <p:cNvSpPr txBox="1"/>
          <p:nvPr/>
        </p:nvSpPr>
        <p:spPr>
          <a:xfrm>
            <a:off x="4447946" y="4069080"/>
            <a:ext cx="3295802" cy="82296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00" dirty="0">
                <a:solidFill>
                  <a:srgbClr val="3B4045"/>
                </a:solidFill>
                <a:latin typeface="Calibri" pitchFamily="34" charset="0"/>
                <a:ea typeface="Calibri" pitchFamily="34" charset="-122"/>
                <a:cs typeface="Calibri" pitchFamily="34" charset="-120"/>
              </a:rPr>
              <a:t>Betabloqueantes, diuréticos o IECA</a:t>
            </a:r>
            <a:endParaRPr lang="en-US" sz="1300" dirty="0"/>
          </a:p>
          <a:p>
            <a:pPr marL="342900" indent="-342900">
              <a:lnSpc>
                <a:spcPct val="115000"/>
              </a:lnSpc>
              <a:spcAft>
                <a:spcPts val="600"/>
              </a:spcAft>
              <a:buSzPct val="100000"/>
              <a:buChar char="•"/>
            </a:pPr>
            <a:r>
              <a:rPr lang="en-US" sz="1300" dirty="0">
                <a:solidFill>
                  <a:srgbClr val="3B4045"/>
                </a:solidFill>
                <a:latin typeface="Calibri" pitchFamily="34" charset="0"/>
                <a:ea typeface="Calibri" pitchFamily="34" charset="-122"/>
                <a:cs typeface="Calibri" pitchFamily="34" charset="-120"/>
              </a:rPr>
              <a:t>Otro BCC de menor riesgo: verapamilo o isradipina</a:t>
            </a:r>
            <a:endParaRPr lang="en-US" sz="1300" dirty="0"/>
          </a:p>
        </p:txBody>
      </p:sp>
      <p:sp>
        <p:nvSpPr>
          <p:cNvPr id="18" name="Text 16"/>
          <p:cNvSpPr txBox="1"/>
          <p:nvPr/>
        </p:nvSpPr>
        <p:spPr>
          <a:xfrm>
            <a:off x="4447946" y="4846320"/>
            <a:ext cx="3295802" cy="640080"/>
          </a:xfrm>
          <a:prstGeom prst="rect">
            <a:avLst/>
          </a:prstGeom>
          <a:noFill/>
          <a:ln/>
        </p:spPr>
        <p:txBody>
          <a:bodyPr wrap="square" lIns="0" tIns="0" rIns="0" bIns="0" rtlCol="0" anchor="t"/>
          <a:lstStyle/>
          <a:p>
            <a:pPr indent="0" marL="0">
              <a:lnSpc>
                <a:spcPct val="115000"/>
              </a:lnSpc>
              <a:buNone/>
            </a:pPr>
            <a:r>
              <a:rPr lang="en-US" sz="1100" dirty="0">
                <a:solidFill>
                  <a:srgbClr val="666B70"/>
                </a:solidFill>
                <a:latin typeface="Calibri" pitchFamily="34" charset="0"/>
                <a:ea typeface="Calibri" pitchFamily="34" charset="-122"/>
                <a:cs typeface="Calibri" pitchFamily="34" charset="-120"/>
              </a:rPr>
              <a:t>Suspender o cambiar el BCC reduce el agrandamiento, aunque no siempre lo resuelve del todo (Fardal y Lygre 2015).</a:t>
            </a:r>
            <a:endParaRPr lang="en-US" sz="1100" dirty="0"/>
          </a:p>
        </p:txBody>
      </p:sp>
      <p:sp>
        <p:nvSpPr>
          <p:cNvPr id="19" name="Shape 17"/>
          <p:cNvSpPr/>
          <p:nvPr/>
        </p:nvSpPr>
        <p:spPr>
          <a:xfrm>
            <a:off x="7908341" y="2514600"/>
            <a:ext cx="0" cy="2651760"/>
          </a:xfrm>
          <a:prstGeom prst="line">
            <a:avLst/>
          </a:prstGeom>
          <a:noFill/>
          <a:ln w="9525">
            <a:solidFill>
              <a:srgbClr val="D9D9D4"/>
            </a:solidFill>
            <a:prstDash val="solid"/>
          </a:ln>
        </p:spPr>
      </p:sp>
      <p:sp>
        <p:nvSpPr>
          <p:cNvPr id="20" name="Text 18"/>
          <p:cNvSpPr txBox="1"/>
          <p:nvPr/>
        </p:nvSpPr>
        <p:spPr>
          <a:xfrm>
            <a:off x="8072933" y="2514600"/>
            <a:ext cx="3295802" cy="228600"/>
          </a:xfrm>
          <a:prstGeom prst="rect">
            <a:avLst/>
          </a:prstGeom>
          <a:noFill/>
          <a:ln/>
        </p:spPr>
        <p:txBody>
          <a:bodyPr wrap="square" lIns="0" tIns="0" rIns="0" bIns="0" rtlCol="0" anchor="t"/>
          <a:lstStyle/>
          <a:p>
            <a:pPr indent="0" marL="0">
              <a:buNone/>
            </a:pPr>
            <a:r>
              <a:rPr lang="en-US" sz="1100" dirty="0">
                <a:solidFill>
                  <a:srgbClr val="666B70"/>
                </a:solidFill>
                <a:latin typeface="Courier New" pitchFamily="34" charset="0"/>
                <a:ea typeface="Courier New" pitchFamily="34" charset="-122"/>
                <a:cs typeface="Courier New" pitchFamily="34" charset="-120"/>
              </a:rPr>
              <a:t>Si toma</a:t>
            </a:r>
            <a:endParaRPr lang="en-US" sz="1100" dirty="0"/>
          </a:p>
        </p:txBody>
      </p:sp>
      <p:sp>
        <p:nvSpPr>
          <p:cNvPr id="21" name="Text 19"/>
          <p:cNvSpPr txBox="1"/>
          <p:nvPr/>
        </p:nvSpPr>
        <p:spPr>
          <a:xfrm>
            <a:off x="8072933" y="2788920"/>
            <a:ext cx="3295802" cy="457200"/>
          </a:xfrm>
          <a:prstGeom prst="rect">
            <a:avLst/>
          </a:prstGeom>
          <a:noFill/>
          <a:ln/>
        </p:spPr>
        <p:txBody>
          <a:bodyPr wrap="square" lIns="0" tIns="0" rIns="0" bIns="0" rtlCol="0" anchor="t"/>
          <a:lstStyle/>
          <a:p>
            <a:pPr indent="0" marL="0">
              <a:buNone/>
            </a:pPr>
            <a:r>
              <a:rPr lang="en-US" sz="2000" dirty="0">
                <a:solidFill>
                  <a:srgbClr val="1A1D1F"/>
                </a:solidFill>
                <a:latin typeface="Cambria" pitchFamily="34" charset="0"/>
                <a:ea typeface="Cambria" pitchFamily="34" charset="-122"/>
                <a:cs typeface="Cambria" pitchFamily="34" charset="-120"/>
              </a:rPr>
              <a:t>Ciclosporina A</a:t>
            </a:r>
            <a:endParaRPr lang="en-US" sz="2000" dirty="0"/>
          </a:p>
        </p:txBody>
      </p:sp>
      <p:sp>
        <p:nvSpPr>
          <p:cNvPr id="22" name="Shape 20"/>
          <p:cNvSpPr/>
          <p:nvPr/>
        </p:nvSpPr>
        <p:spPr>
          <a:xfrm>
            <a:off x="8091221" y="3337560"/>
            <a:ext cx="201168" cy="365760"/>
          </a:xfrm>
          <a:prstGeom prst="downArrow">
            <a:avLst/>
          </a:prstGeom>
          <a:solidFill>
            <a:srgbClr val="1F4E9C"/>
          </a:solidFill>
          <a:ln w="12700">
            <a:solidFill>
              <a:srgbClr val="1F4E9C"/>
            </a:solidFill>
            <a:prstDash val="solid"/>
          </a:ln>
        </p:spPr>
      </p:sp>
      <p:sp>
        <p:nvSpPr>
          <p:cNvPr id="23" name="Text 21"/>
          <p:cNvSpPr txBox="1"/>
          <p:nvPr/>
        </p:nvSpPr>
        <p:spPr>
          <a:xfrm>
            <a:off x="8072933" y="3794760"/>
            <a:ext cx="3295802"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Alternativas descritas</a:t>
            </a:r>
            <a:endParaRPr lang="en-US" sz="1100" dirty="0"/>
          </a:p>
        </p:txBody>
      </p:sp>
      <p:sp>
        <p:nvSpPr>
          <p:cNvPr id="24" name="Text 22"/>
          <p:cNvSpPr txBox="1"/>
          <p:nvPr/>
        </p:nvSpPr>
        <p:spPr>
          <a:xfrm>
            <a:off x="8072933" y="4069080"/>
            <a:ext cx="3295802" cy="82296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00" dirty="0">
                <a:solidFill>
                  <a:srgbClr val="3B4045"/>
                </a:solidFill>
                <a:latin typeface="Calibri" pitchFamily="34" charset="0"/>
                <a:ea typeface="Calibri" pitchFamily="34" charset="-122"/>
                <a:cs typeface="Calibri" pitchFamily="34" charset="-120"/>
              </a:rPr>
              <a:t>Tacrolimus</a:t>
            </a:r>
            <a:endParaRPr lang="en-US" sz="1300" dirty="0"/>
          </a:p>
        </p:txBody>
      </p:sp>
      <p:sp>
        <p:nvSpPr>
          <p:cNvPr id="25" name="Text 23"/>
          <p:cNvSpPr txBox="1"/>
          <p:nvPr/>
        </p:nvSpPr>
        <p:spPr>
          <a:xfrm>
            <a:off x="8072933" y="4846320"/>
            <a:ext cx="3295802" cy="640080"/>
          </a:xfrm>
          <a:prstGeom prst="rect">
            <a:avLst/>
          </a:prstGeom>
          <a:noFill/>
          <a:ln/>
        </p:spPr>
        <p:txBody>
          <a:bodyPr wrap="square" lIns="0" tIns="0" rIns="0" bIns="0" rtlCol="0" anchor="t"/>
          <a:lstStyle/>
          <a:p>
            <a:pPr indent="0" marL="0">
              <a:lnSpc>
                <a:spcPct val="115000"/>
              </a:lnSpc>
              <a:buNone/>
            </a:pPr>
            <a:r>
              <a:rPr lang="en-US" sz="1100" dirty="0">
                <a:solidFill>
                  <a:srgbClr val="666B70"/>
                </a:solidFill>
                <a:latin typeface="Calibri" pitchFamily="34" charset="0"/>
                <a:ea typeface="Calibri" pitchFamily="34" charset="-122"/>
                <a:cs typeface="Calibri" pitchFamily="34" charset="-120"/>
              </a:rPr>
              <a:t>La conversión a tacrolimus de liberación prolongada redujo el agrandamiento en trasplantados renales estables (Krejci 2016).</a:t>
            </a:r>
            <a:endParaRPr lang="en-US" sz="1100" dirty="0"/>
          </a:p>
        </p:txBody>
      </p:sp>
      <p:sp>
        <p:nvSpPr>
          <p:cNvPr id="26" name="Shape 24"/>
          <p:cNvSpPr/>
          <p:nvPr/>
        </p:nvSpPr>
        <p:spPr>
          <a:xfrm>
            <a:off x="822960" y="5486400"/>
            <a:ext cx="10545775" cy="0"/>
          </a:xfrm>
          <a:prstGeom prst="line">
            <a:avLst/>
          </a:prstGeom>
          <a:noFill/>
          <a:ln w="9525">
            <a:solidFill>
              <a:srgbClr val="D9D9D4"/>
            </a:solidFill>
            <a:prstDash val="solid"/>
          </a:ln>
        </p:spPr>
      </p:sp>
      <p:sp>
        <p:nvSpPr>
          <p:cNvPr id="27" name="Text 25"/>
          <p:cNvSpPr txBox="1"/>
          <p:nvPr/>
        </p:nvSpPr>
        <p:spPr>
          <a:xfrm>
            <a:off x="822960" y="5577840"/>
            <a:ext cx="9601200" cy="548640"/>
          </a:xfrm>
          <a:prstGeom prst="rect">
            <a:avLst/>
          </a:prstGeom>
          <a:noFill/>
          <a:ln/>
        </p:spPr>
        <p:txBody>
          <a:bodyPr wrap="square" lIns="0" tIns="0" rIns="0" bIns="0" rtlCol="0" anchor="t"/>
          <a:lstStyle/>
          <a:p>
            <a:pPr indent="0" marL="0">
              <a:lnSpc>
                <a:spcPct val="115000"/>
              </a:lnSpc>
              <a:buNone/>
            </a:pPr>
            <a:r>
              <a:rPr lang="en-US" sz="1250" dirty="0">
                <a:solidFill>
                  <a:srgbClr val="1A1D1F"/>
                </a:solidFill>
                <a:latin typeface="Calibri" pitchFamily="34" charset="0"/>
                <a:ea typeface="Calibri" pitchFamily="34" charset="-122"/>
                <a:cs typeface="Calibri" pitchFamily="34" charset="-120"/>
              </a:rPr>
              <a:t>Remisión esperable en 1 a 8 semanas. La respuesta es impredecible en lesiones de larga evolución, y el cambio sólo se justifica si el nuevo fármaco controla igual la enfermedad de base (Mavrogiannis 2006).</a:t>
            </a:r>
            <a:endParaRPr lang="en-US" sz="1250" dirty="0"/>
          </a:p>
        </p:txBody>
      </p:sp>
      <p:sp>
        <p:nvSpPr>
          <p:cNvPr id="28" name="Text 26"/>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25 / 28</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Paso 5</a:t>
            </a:r>
            <a:endParaRPr lang="en-US" sz="1200" dirty="0"/>
          </a:p>
        </p:txBody>
      </p:sp>
      <p:sp>
        <p:nvSpPr>
          <p:cNvPr id="4" name="Text 2"/>
          <p:cNvSpPr txBox="1"/>
          <p:nvPr/>
        </p:nvSpPr>
        <p:spPr>
          <a:xfrm>
            <a:off x="5852160" y="932688"/>
            <a:ext cx="5516575" cy="274320"/>
          </a:xfrm>
          <a:prstGeom prst="rect">
            <a:avLst/>
          </a:prstGeom>
          <a:noFill/>
          <a:ln/>
        </p:spPr>
        <p:txBody>
          <a:bodyPr wrap="square" lIns="0" tIns="0" rIns="0" bIns="0" rtlCol="0" anchor="t"/>
          <a:lstStyle/>
          <a:p>
            <a:pPr algn="r" indent="0" marL="0">
              <a:buNone/>
            </a:pPr>
            <a:r>
              <a:rPr lang="en-US" sz="1200" dirty="0">
                <a:solidFill>
                  <a:srgbClr val="666B70"/>
                </a:solidFill>
                <a:latin typeface="Courier New" pitchFamily="34" charset="0"/>
                <a:ea typeface="Courier New" pitchFamily="34" charset="-122"/>
                <a:cs typeface="Courier New" pitchFamily="34" charset="-120"/>
              </a:rPr>
              <a:t>Manejo integrado</a:t>
            </a:r>
            <a:endParaRPr lang="en-US" sz="1200" dirty="0"/>
          </a:p>
        </p:txBody>
      </p:sp>
      <p:sp>
        <p:nvSpPr>
          <p:cNvPr id="5" name="Text 3"/>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Cirugía: indicaciones y técnicas</a:t>
            </a:r>
            <a:endParaRPr lang="en-US" sz="3600" dirty="0"/>
          </a:p>
        </p:txBody>
      </p:sp>
      <p:sp>
        <p:nvSpPr>
          <p:cNvPr id="6" name="Text 4"/>
          <p:cNvSpPr txBox="1"/>
          <p:nvPr/>
        </p:nvSpPr>
        <p:spPr>
          <a:xfrm>
            <a:off x="822960" y="2514600"/>
            <a:ext cx="4114800"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Indicaciones</a:t>
            </a:r>
            <a:endParaRPr lang="en-US" sz="1100" dirty="0"/>
          </a:p>
        </p:txBody>
      </p:sp>
      <p:sp>
        <p:nvSpPr>
          <p:cNvPr id="7" name="Text 5"/>
          <p:cNvSpPr txBox="1"/>
          <p:nvPr/>
        </p:nvSpPr>
        <p:spPr>
          <a:xfrm>
            <a:off x="822960" y="2834640"/>
            <a:ext cx="4206240" cy="237744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50" dirty="0">
                <a:solidFill>
                  <a:srgbClr val="3B4045"/>
                </a:solidFill>
                <a:latin typeface="Calibri" pitchFamily="34" charset="0"/>
                <a:ea typeface="Calibri" pitchFamily="34" charset="-122"/>
                <a:cs typeface="Calibri" pitchFamily="34" charset="-120"/>
              </a:rPr>
              <a:t>Compromete la higiene, la masticación o la estética.</a:t>
            </a:r>
            <a:endParaRPr lang="en-US" sz="1250" dirty="0"/>
          </a:p>
          <a:p>
            <a:pPr marL="342900" indent="-342900">
              <a:lnSpc>
                <a:spcPct val="115000"/>
              </a:lnSpc>
              <a:spcAft>
                <a:spcPts val="600"/>
              </a:spcAft>
              <a:buSzPct val="100000"/>
              <a:buChar char="•"/>
            </a:pPr>
            <a:r>
              <a:rPr lang="en-US" sz="1250" dirty="0">
                <a:solidFill>
                  <a:srgbClr val="3B4045"/>
                </a:solidFill>
                <a:latin typeface="Calibri" pitchFamily="34" charset="0"/>
                <a:ea typeface="Calibri" pitchFamily="34" charset="-122"/>
                <a:cs typeface="Calibri" pitchFamily="34" charset="-120"/>
              </a:rPr>
              <a:t>Persiste tras el control de placa y los ajustes de medicación.</a:t>
            </a:r>
            <a:endParaRPr lang="en-US" sz="1250" dirty="0"/>
          </a:p>
          <a:p>
            <a:pPr marL="342900" indent="-342900">
              <a:lnSpc>
                <a:spcPct val="115000"/>
              </a:lnSpc>
              <a:spcAft>
                <a:spcPts val="600"/>
              </a:spcAft>
              <a:buSzPct val="100000"/>
              <a:buChar char="•"/>
            </a:pPr>
            <a:r>
              <a:rPr lang="en-US" sz="1250" dirty="0">
                <a:solidFill>
                  <a:srgbClr val="3B4045"/>
                </a:solidFill>
                <a:latin typeface="Calibri" pitchFamily="34" charset="0"/>
                <a:ea typeface="Calibri" pitchFamily="34" charset="-122"/>
                <a:cs typeface="Calibri" pitchFamily="34" charset="-120"/>
              </a:rPr>
              <a:t>Presentación fibrótica, más frecuente con fenitoína y ciclosporina A.</a:t>
            </a:r>
            <a:endParaRPr lang="en-US" sz="1250" dirty="0"/>
          </a:p>
          <a:p>
            <a:pPr marL="342900" indent="-342900">
              <a:lnSpc>
                <a:spcPct val="115000"/>
              </a:lnSpc>
              <a:spcAft>
                <a:spcPts val="600"/>
              </a:spcAft>
              <a:buSzPct val="100000"/>
              <a:buChar char="•"/>
            </a:pPr>
            <a:r>
              <a:rPr lang="en-US" sz="1250" dirty="0">
                <a:solidFill>
                  <a:srgbClr val="3B4045"/>
                </a:solidFill>
                <a:latin typeface="Calibri" pitchFamily="34" charset="0"/>
                <a:ea typeface="Calibri" pitchFamily="34" charset="-122"/>
                <a:cs typeface="Calibri" pitchFamily="34" charset="-120"/>
              </a:rPr>
              <a:t>En ortodoncia: la gingivectomía redujo más las bolsas que la remoción de placa sola hasta 6 meses (Lione 2020; Rihawi 2025).</a:t>
            </a:r>
            <a:endParaRPr lang="en-US" sz="1250" dirty="0"/>
          </a:p>
        </p:txBody>
      </p:sp>
      <p:sp>
        <p:nvSpPr>
          <p:cNvPr id="8" name="Shape 6"/>
          <p:cNvSpPr/>
          <p:nvPr/>
        </p:nvSpPr>
        <p:spPr>
          <a:xfrm>
            <a:off x="5349240" y="2514600"/>
            <a:ext cx="0" cy="2651760"/>
          </a:xfrm>
          <a:prstGeom prst="line">
            <a:avLst/>
          </a:prstGeom>
          <a:noFill/>
          <a:ln w="9525">
            <a:solidFill>
              <a:srgbClr val="D9D9D4"/>
            </a:solidFill>
            <a:prstDash val="solid"/>
          </a:ln>
        </p:spPr>
      </p:sp>
      <p:sp>
        <p:nvSpPr>
          <p:cNvPr id="9" name="Text 7"/>
          <p:cNvSpPr txBox="1"/>
          <p:nvPr/>
        </p:nvSpPr>
        <p:spPr>
          <a:xfrm>
            <a:off x="5669280" y="2514600"/>
            <a:ext cx="3657600" cy="228600"/>
          </a:xfrm>
          <a:prstGeom prst="rect">
            <a:avLst/>
          </a:prstGeom>
          <a:noFill/>
          <a:ln/>
        </p:spPr>
        <p:txBody>
          <a:bodyPr wrap="square" lIns="0" tIns="0" rIns="0" bIns="0" rtlCol="0" anchor="t"/>
          <a:lstStyle/>
          <a:p>
            <a:pPr indent="0" marL="0">
              <a:buNone/>
            </a:pPr>
            <a:r>
              <a:rPr lang="en-US" sz="1100" dirty="0">
                <a:solidFill>
                  <a:srgbClr val="1F4E9C"/>
                </a:solidFill>
                <a:latin typeface="Courier New" pitchFamily="34" charset="0"/>
                <a:ea typeface="Courier New" pitchFamily="34" charset="-122"/>
                <a:cs typeface="Courier New" pitchFamily="34" charset="-120"/>
              </a:rPr>
              <a:t>Técnicas</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0" y="2834640"/>
          <a:ext cx="5699455" cy="914400"/>
        </p:xfrm>
        <a:graphic>
          <a:graphicData uri="http://schemas.openxmlformats.org/drawingml/2006/table">
            <a:tbl>
              <a:tblPr/>
              <a:tblGrid>
                <a:gridCol w="1463040"/>
                <a:gridCol w="4236415"/>
              </a:tblGrid>
              <a:tr h="0">
                <a:tc>
                  <a:txBody>
                    <a:bodyPr/>
                    <a:lstStyle/>
                    <a:p>
                      <a:pPr indent="0" marL="0">
                        <a:buNone/>
                      </a:pPr>
                      <a:r>
                        <a:rPr lang="en-US" sz="1250" dirty="0">
                          <a:solidFill>
                            <a:srgbClr val="1A1D1F"/>
                          </a:solidFill>
                          <a:latin typeface="Calibri" pitchFamily="34" charset="0"/>
                          <a:ea typeface="Calibri" pitchFamily="34" charset="-122"/>
                          <a:cs typeface="Calibri" pitchFamily="34" charset="-120"/>
                        </a:rPr>
                        <a:t>Bisturí</a:t>
                      </a:r>
                      <a:endParaRPr lang="en-US" sz="12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Gingivectomía o gingivoplastia con bisel externo o interno. Eficacia similar al láser; más dolor en la cicatrización temprana.</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50" dirty="0">
                          <a:solidFill>
                            <a:srgbClr val="1A1D1F"/>
                          </a:solidFill>
                          <a:latin typeface="Calibri" pitchFamily="34" charset="0"/>
                          <a:ea typeface="Calibri" pitchFamily="34" charset="-122"/>
                          <a:cs typeface="Calibri" pitchFamily="34" charset="-120"/>
                        </a:rPr>
                        <a:t>Electrocirugía</a:t>
                      </a:r>
                      <a:endParaRPr lang="en-US" sz="12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Alternativa cuando la hemostasia está comprometida o en pacientes pediátricos y con necesidades especiales.</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r h="0">
                <a:tc>
                  <a:txBody>
                    <a:bodyPr/>
                    <a:lstStyle/>
                    <a:p>
                      <a:pPr indent="0" marL="0">
                        <a:buNone/>
                      </a:pPr>
                      <a:r>
                        <a:rPr lang="en-US" sz="1250" dirty="0">
                          <a:solidFill>
                            <a:srgbClr val="1A1D1F"/>
                          </a:solidFill>
                          <a:latin typeface="Calibri" pitchFamily="34" charset="0"/>
                          <a:ea typeface="Calibri" pitchFamily="34" charset="-122"/>
                          <a:cs typeface="Calibri" pitchFamily="34" charset="-120"/>
                        </a:rPr>
                        <a:t>Láser de diodo</a:t>
                      </a:r>
                      <a:endParaRPr lang="en-US" sz="125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c>
                  <a:txBody>
                    <a:bodyPr/>
                    <a:lstStyle/>
                    <a:p>
                      <a:pPr indent="0" marL="0">
                        <a:buNone/>
                      </a:pPr>
                      <a:r>
                        <a:rPr lang="en-US" sz="1200" dirty="0">
                          <a:solidFill>
                            <a:srgbClr val="3B4045"/>
                          </a:solidFill>
                          <a:latin typeface="Calibri" pitchFamily="34" charset="0"/>
                          <a:ea typeface="Calibri" pitchFamily="34" charset="-122"/>
                          <a:cs typeface="Calibri" pitchFamily="34" charset="-120"/>
                        </a:rPr>
                        <a:t>Buena hemostasia, menos dolor durante y después del procedimiento y resultado predecible. Costo y disponibilidad lo limitan.</a:t>
                      </a:r>
                      <a:endParaRPr lang="en-US" sz="1200" dirty="0">
                        <a:latin typeface="Calibri" charset="0"/>
                        <a:ea typeface="Calibri" charset="0"/>
                        <a:cs typeface="Calibri" charset="0"/>
                      </a:endParaRPr>
                    </a:p>
                  </a:txBody>
                  <a:tcPr marL="0" marR="109728" marT="73152" marB="73152" anchor="ctr">
                    <a:lnL w="0" cap="flat" cmpd="sng" algn="ctr">
                      <a:noFill/>
                    </a:lnL>
                    <a:lnR w="0" cap="flat" cmpd="sng" algn="ctr">
                      <a:noFill/>
                    </a:lnR>
                    <a:lnT w="0" cap="flat" cmpd="sng" algn="ctr">
                      <a:noFill/>
                    </a:lnT>
                    <a:lnB w="6350" cap="flat" cmpd="sng" algn="ctr">
                      <a:solidFill>
                        <a:srgbClr val="D9D9D4"/>
                      </a:solidFill>
                      <a:prstDash val="solid"/>
                      <a:round/>
                      <a:headEnd type="none" w="med" len="med"/>
                      <a:tailEnd type="none" w="med" len="med"/>
                    </a:lnB>
                  </a:tcPr>
                </a:tc>
              </a:tr>
            </a:tbl>
          </a:graphicData>
        </a:graphic>
      </p:graphicFrame>
      <p:sp>
        <p:nvSpPr>
          <p:cNvPr id="11" name="Shape 8"/>
          <p:cNvSpPr/>
          <p:nvPr/>
        </p:nvSpPr>
        <p:spPr>
          <a:xfrm>
            <a:off x="822960" y="5440680"/>
            <a:ext cx="10545775" cy="0"/>
          </a:xfrm>
          <a:prstGeom prst="line">
            <a:avLst/>
          </a:prstGeom>
          <a:noFill/>
          <a:ln w="9525">
            <a:solidFill>
              <a:srgbClr val="D9D9D4"/>
            </a:solidFill>
            <a:prstDash val="solid"/>
          </a:ln>
        </p:spPr>
      </p:sp>
      <p:sp>
        <p:nvSpPr>
          <p:cNvPr id="12" name="Text 9"/>
          <p:cNvSpPr txBox="1"/>
          <p:nvPr/>
        </p:nvSpPr>
        <p:spPr>
          <a:xfrm>
            <a:off x="822960" y="5504688"/>
            <a:ext cx="10058400" cy="914400"/>
          </a:xfrm>
          <a:prstGeom prst="rect">
            <a:avLst/>
          </a:prstGeom>
          <a:noFill/>
          <a:ln/>
        </p:spPr>
        <p:txBody>
          <a:bodyPr wrap="square" lIns="0" tIns="0" rIns="0" bIns="0" rtlCol="0" anchor="t"/>
          <a:lstStyle/>
          <a:p>
            <a:pPr indent="0" marL="0">
              <a:lnSpc>
                <a:spcPct val="115000"/>
              </a:lnSpc>
              <a:buNone/>
            </a:pPr>
            <a:r>
              <a:rPr lang="en-US" sz="1500" i="1" dirty="0">
                <a:solidFill>
                  <a:srgbClr val="1A1D1F"/>
                </a:solidFill>
                <a:latin typeface="Cambria" pitchFamily="34" charset="0"/>
                <a:ea typeface="Cambria" pitchFamily="34" charset="-122"/>
                <a:cs typeface="Cambria" pitchFamily="34" charset="-120"/>
              </a:rPr>
              <a:t>La cirugía elimina el volumen, no la causa. No hay datos de recurrencia a largo plazo; lo que la reduce es el control de placa y la terapia periodontal de soporte.</a:t>
            </a:r>
            <a:endParaRPr lang="en-US" sz="1500" dirty="0"/>
          </a:p>
        </p:txBody>
      </p:sp>
      <p:sp>
        <p:nvSpPr>
          <p:cNvPr id="13" name="Text 10"/>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26 / 28</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D1F"/>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3A3F44"/>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9DBBF3"/>
                </a:solidFill>
                <a:latin typeface="Courier New" pitchFamily="34" charset="0"/>
                <a:ea typeface="Courier New" pitchFamily="34" charset="-122"/>
                <a:cs typeface="Courier New" pitchFamily="34" charset="-120"/>
              </a:rPr>
              <a:t>Manejo integrado</a:t>
            </a:r>
            <a:endParaRPr lang="en-US" sz="1200" dirty="0"/>
          </a:p>
        </p:txBody>
      </p:sp>
      <p:sp>
        <p:nvSpPr>
          <p:cNvPr id="4" name="Text 2"/>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F4F4F1"/>
                </a:solidFill>
                <a:latin typeface="Cambria" pitchFamily="34" charset="0"/>
                <a:ea typeface="Cambria" pitchFamily="34" charset="-122"/>
                <a:cs typeface="Cambria" pitchFamily="34" charset="-120"/>
              </a:rPr>
              <a:t>Síntesis</a:t>
            </a:r>
            <a:endParaRPr lang="en-US" sz="3600" dirty="0"/>
          </a:p>
        </p:txBody>
      </p:sp>
      <p:sp>
        <p:nvSpPr>
          <p:cNvPr id="5" name="Shape 3"/>
          <p:cNvSpPr/>
          <p:nvPr/>
        </p:nvSpPr>
        <p:spPr>
          <a:xfrm>
            <a:off x="822960" y="2514600"/>
            <a:ext cx="10545775" cy="0"/>
          </a:xfrm>
          <a:prstGeom prst="line">
            <a:avLst/>
          </a:prstGeom>
          <a:noFill/>
          <a:ln w="9525">
            <a:solidFill>
              <a:srgbClr val="3A3F44"/>
            </a:solidFill>
            <a:prstDash val="solid"/>
          </a:ln>
        </p:spPr>
      </p:sp>
      <p:sp>
        <p:nvSpPr>
          <p:cNvPr id="6" name="Text 4"/>
          <p:cNvSpPr txBox="1"/>
          <p:nvPr/>
        </p:nvSpPr>
        <p:spPr>
          <a:xfrm>
            <a:off x="822960" y="2624328"/>
            <a:ext cx="457200" cy="365760"/>
          </a:xfrm>
          <a:prstGeom prst="rect">
            <a:avLst/>
          </a:prstGeom>
          <a:noFill/>
          <a:ln/>
        </p:spPr>
        <p:txBody>
          <a:bodyPr wrap="square" lIns="0" tIns="0" rIns="0" bIns="0" rtlCol="0" anchor="t"/>
          <a:lstStyle/>
          <a:p>
            <a:pPr indent="0" marL="0">
              <a:buNone/>
            </a:pPr>
            <a:r>
              <a:rPr lang="en-US" sz="1800" dirty="0">
                <a:solidFill>
                  <a:srgbClr val="9DBBF3"/>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71600" y="2642616"/>
            <a:ext cx="9997135" cy="502920"/>
          </a:xfrm>
          <a:prstGeom prst="rect">
            <a:avLst/>
          </a:prstGeom>
          <a:noFill/>
          <a:ln/>
        </p:spPr>
        <p:txBody>
          <a:bodyPr wrap="square" lIns="0" tIns="0" rIns="0" bIns="0" rtlCol="0" anchor="t"/>
          <a:lstStyle/>
          <a:p>
            <a:pPr indent="0" marL="0">
              <a:lnSpc>
                <a:spcPct val="120000"/>
              </a:lnSpc>
              <a:buNone/>
            </a:pPr>
            <a:r>
              <a:rPr lang="en-US" sz="1400" dirty="0">
                <a:solidFill>
                  <a:srgbClr val="F4F4F1"/>
                </a:solidFill>
                <a:latin typeface="Calibri" pitchFamily="34" charset="0"/>
                <a:ea typeface="Calibri" pitchFamily="34" charset="-122"/>
                <a:cs typeface="Calibri" pitchFamily="34" charset="-120"/>
              </a:rPr>
              <a:t>Fenitoína, bloqueantes de calcio y ciclosporina A siguen siendo los tres grandes. Amlodipina concentra hoy la mayoría de los reportes.</a:t>
            </a:r>
            <a:endParaRPr lang="en-US" sz="1400" dirty="0"/>
          </a:p>
        </p:txBody>
      </p:sp>
      <p:sp>
        <p:nvSpPr>
          <p:cNvPr id="8" name="Shape 6"/>
          <p:cNvSpPr/>
          <p:nvPr/>
        </p:nvSpPr>
        <p:spPr>
          <a:xfrm>
            <a:off x="822960" y="3191256"/>
            <a:ext cx="10545775" cy="0"/>
          </a:xfrm>
          <a:prstGeom prst="line">
            <a:avLst/>
          </a:prstGeom>
          <a:noFill/>
          <a:ln w="9525">
            <a:solidFill>
              <a:srgbClr val="3A3F44"/>
            </a:solidFill>
            <a:prstDash val="solid"/>
          </a:ln>
        </p:spPr>
      </p:sp>
      <p:sp>
        <p:nvSpPr>
          <p:cNvPr id="9" name="Text 7"/>
          <p:cNvSpPr txBox="1"/>
          <p:nvPr/>
        </p:nvSpPr>
        <p:spPr>
          <a:xfrm>
            <a:off x="822960" y="3300984"/>
            <a:ext cx="457200" cy="365760"/>
          </a:xfrm>
          <a:prstGeom prst="rect">
            <a:avLst/>
          </a:prstGeom>
          <a:noFill/>
          <a:ln/>
        </p:spPr>
        <p:txBody>
          <a:bodyPr wrap="square" lIns="0" tIns="0" rIns="0" bIns="0" rtlCol="0" anchor="t"/>
          <a:lstStyle/>
          <a:p>
            <a:pPr indent="0" marL="0">
              <a:buNone/>
            </a:pPr>
            <a:r>
              <a:rPr lang="en-US" sz="1800" dirty="0">
                <a:solidFill>
                  <a:srgbClr val="9DBBF3"/>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371600" y="3319272"/>
            <a:ext cx="9997135" cy="502920"/>
          </a:xfrm>
          <a:prstGeom prst="rect">
            <a:avLst/>
          </a:prstGeom>
          <a:noFill/>
          <a:ln/>
        </p:spPr>
        <p:txBody>
          <a:bodyPr wrap="square" lIns="0" tIns="0" rIns="0" bIns="0" rtlCol="0" anchor="t"/>
          <a:lstStyle/>
          <a:p>
            <a:pPr indent="0" marL="0">
              <a:lnSpc>
                <a:spcPct val="120000"/>
              </a:lnSpc>
              <a:buNone/>
            </a:pPr>
            <a:r>
              <a:rPr lang="en-US" sz="1400" dirty="0">
                <a:solidFill>
                  <a:srgbClr val="F4F4F1"/>
                </a:solidFill>
                <a:latin typeface="Calibri" pitchFamily="34" charset="0"/>
                <a:ea typeface="Calibri" pitchFamily="34" charset="-122"/>
                <a:cs typeface="Calibri" pitchFamily="34" charset="-120"/>
              </a:rPr>
              <a:t>El riesgo ajustado ordena: bloqueantes de calcio, luego inmunosupresores, luego antiepilépticos. Los bifosfonatos aparecen como señal nueva.</a:t>
            </a:r>
            <a:endParaRPr lang="en-US" sz="1400" dirty="0"/>
          </a:p>
        </p:txBody>
      </p:sp>
      <p:sp>
        <p:nvSpPr>
          <p:cNvPr id="11" name="Shape 9"/>
          <p:cNvSpPr/>
          <p:nvPr/>
        </p:nvSpPr>
        <p:spPr>
          <a:xfrm>
            <a:off x="822960" y="3867912"/>
            <a:ext cx="10545775" cy="0"/>
          </a:xfrm>
          <a:prstGeom prst="line">
            <a:avLst/>
          </a:prstGeom>
          <a:noFill/>
          <a:ln w="9525">
            <a:solidFill>
              <a:srgbClr val="3A3F44"/>
            </a:solidFill>
            <a:prstDash val="solid"/>
          </a:ln>
        </p:spPr>
      </p:sp>
      <p:sp>
        <p:nvSpPr>
          <p:cNvPr id="12" name="Text 10"/>
          <p:cNvSpPr txBox="1"/>
          <p:nvPr/>
        </p:nvSpPr>
        <p:spPr>
          <a:xfrm>
            <a:off x="822960" y="3977640"/>
            <a:ext cx="457200" cy="365760"/>
          </a:xfrm>
          <a:prstGeom prst="rect">
            <a:avLst/>
          </a:prstGeom>
          <a:noFill/>
          <a:ln/>
        </p:spPr>
        <p:txBody>
          <a:bodyPr wrap="square" lIns="0" tIns="0" rIns="0" bIns="0" rtlCol="0" anchor="t"/>
          <a:lstStyle/>
          <a:p>
            <a:pPr indent="0" marL="0">
              <a:buNone/>
            </a:pPr>
            <a:r>
              <a:rPr lang="en-US" sz="1800" dirty="0">
                <a:solidFill>
                  <a:srgbClr val="9DBBF3"/>
                </a:solidFill>
                <a:latin typeface="Cambria" pitchFamily="34" charset="0"/>
                <a:ea typeface="Cambria" pitchFamily="34" charset="-122"/>
                <a:cs typeface="Cambria" pitchFamily="34" charset="-120"/>
              </a:rPr>
              <a:t>3</a:t>
            </a:r>
            <a:endParaRPr lang="en-US" sz="1800" dirty="0"/>
          </a:p>
        </p:txBody>
      </p:sp>
      <p:sp>
        <p:nvSpPr>
          <p:cNvPr id="13" name="Text 11"/>
          <p:cNvSpPr txBox="1"/>
          <p:nvPr/>
        </p:nvSpPr>
        <p:spPr>
          <a:xfrm>
            <a:off x="1371600" y="3995928"/>
            <a:ext cx="9997135" cy="502920"/>
          </a:xfrm>
          <a:prstGeom prst="rect">
            <a:avLst/>
          </a:prstGeom>
          <a:noFill/>
          <a:ln/>
        </p:spPr>
        <p:txBody>
          <a:bodyPr wrap="square" lIns="0" tIns="0" rIns="0" bIns="0" rtlCol="0" anchor="t"/>
          <a:lstStyle/>
          <a:p>
            <a:pPr indent="0" marL="0">
              <a:lnSpc>
                <a:spcPct val="120000"/>
              </a:lnSpc>
              <a:buNone/>
            </a:pPr>
            <a:r>
              <a:rPr lang="en-US" sz="1400" dirty="0">
                <a:solidFill>
                  <a:srgbClr val="F4F4F1"/>
                </a:solidFill>
                <a:latin typeface="Calibri" pitchFamily="34" charset="0"/>
                <a:ea typeface="Calibri" pitchFamily="34" charset="-122"/>
                <a:cs typeface="Calibri" pitchFamily="34" charset="-120"/>
              </a:rPr>
              <a:t>La placa es el factor de riesgo modificable más consistente. Dosis y duración del fármaco no mostraron asociación.</a:t>
            </a:r>
            <a:endParaRPr lang="en-US" sz="1400" dirty="0"/>
          </a:p>
        </p:txBody>
      </p:sp>
      <p:sp>
        <p:nvSpPr>
          <p:cNvPr id="14" name="Shape 12"/>
          <p:cNvSpPr/>
          <p:nvPr/>
        </p:nvSpPr>
        <p:spPr>
          <a:xfrm>
            <a:off x="822960" y="4544568"/>
            <a:ext cx="10545775" cy="0"/>
          </a:xfrm>
          <a:prstGeom prst="line">
            <a:avLst/>
          </a:prstGeom>
          <a:noFill/>
          <a:ln w="9525">
            <a:solidFill>
              <a:srgbClr val="3A3F44"/>
            </a:solidFill>
            <a:prstDash val="solid"/>
          </a:ln>
        </p:spPr>
      </p:sp>
      <p:sp>
        <p:nvSpPr>
          <p:cNvPr id="15" name="Text 13"/>
          <p:cNvSpPr txBox="1"/>
          <p:nvPr/>
        </p:nvSpPr>
        <p:spPr>
          <a:xfrm>
            <a:off x="822960" y="4654296"/>
            <a:ext cx="457200" cy="365760"/>
          </a:xfrm>
          <a:prstGeom prst="rect">
            <a:avLst/>
          </a:prstGeom>
          <a:noFill/>
          <a:ln/>
        </p:spPr>
        <p:txBody>
          <a:bodyPr wrap="square" lIns="0" tIns="0" rIns="0" bIns="0" rtlCol="0" anchor="t"/>
          <a:lstStyle/>
          <a:p>
            <a:pPr indent="0" marL="0">
              <a:buNone/>
            </a:pPr>
            <a:r>
              <a:rPr lang="en-US" sz="1800" dirty="0">
                <a:solidFill>
                  <a:srgbClr val="9DBBF3"/>
                </a:solidFill>
                <a:latin typeface="Cambria" pitchFamily="34" charset="0"/>
                <a:ea typeface="Cambria" pitchFamily="34" charset="-122"/>
                <a:cs typeface="Cambria" pitchFamily="34" charset="-120"/>
              </a:rPr>
              <a:t>4</a:t>
            </a:r>
            <a:endParaRPr lang="en-US" sz="1800" dirty="0"/>
          </a:p>
        </p:txBody>
      </p:sp>
      <p:sp>
        <p:nvSpPr>
          <p:cNvPr id="16" name="Text 14"/>
          <p:cNvSpPr txBox="1"/>
          <p:nvPr/>
        </p:nvSpPr>
        <p:spPr>
          <a:xfrm>
            <a:off x="1371600" y="4672584"/>
            <a:ext cx="9997135" cy="502920"/>
          </a:xfrm>
          <a:prstGeom prst="rect">
            <a:avLst/>
          </a:prstGeom>
          <a:noFill/>
          <a:ln/>
        </p:spPr>
        <p:txBody>
          <a:bodyPr wrap="square" lIns="0" tIns="0" rIns="0" bIns="0" rtlCol="0" anchor="t"/>
          <a:lstStyle/>
          <a:p>
            <a:pPr indent="0" marL="0">
              <a:lnSpc>
                <a:spcPct val="120000"/>
              </a:lnSpc>
              <a:buNone/>
            </a:pPr>
            <a:r>
              <a:rPr lang="en-US" sz="1400" dirty="0">
                <a:solidFill>
                  <a:srgbClr val="F4F4F1"/>
                </a:solidFill>
                <a:latin typeface="Calibri" pitchFamily="34" charset="0"/>
                <a:ea typeface="Calibri" pitchFamily="34" charset="-122"/>
                <a:cs typeface="Calibri" pitchFamily="34" charset="-120"/>
              </a:rPr>
              <a:t>Higiene y remoción profesional de placa primero, siempre. Azitromicina o cambio de fármaco cuando no alcanza.</a:t>
            </a:r>
            <a:endParaRPr lang="en-US" sz="1400" dirty="0"/>
          </a:p>
        </p:txBody>
      </p:sp>
      <p:sp>
        <p:nvSpPr>
          <p:cNvPr id="17" name="Shape 15"/>
          <p:cNvSpPr/>
          <p:nvPr/>
        </p:nvSpPr>
        <p:spPr>
          <a:xfrm>
            <a:off x="822960" y="5221224"/>
            <a:ext cx="10545775" cy="0"/>
          </a:xfrm>
          <a:prstGeom prst="line">
            <a:avLst/>
          </a:prstGeom>
          <a:noFill/>
          <a:ln w="9525">
            <a:solidFill>
              <a:srgbClr val="3A3F44"/>
            </a:solidFill>
            <a:prstDash val="solid"/>
          </a:ln>
        </p:spPr>
      </p:sp>
      <p:sp>
        <p:nvSpPr>
          <p:cNvPr id="18" name="Text 16"/>
          <p:cNvSpPr txBox="1"/>
          <p:nvPr/>
        </p:nvSpPr>
        <p:spPr>
          <a:xfrm>
            <a:off x="822960" y="5330952"/>
            <a:ext cx="457200" cy="365760"/>
          </a:xfrm>
          <a:prstGeom prst="rect">
            <a:avLst/>
          </a:prstGeom>
          <a:noFill/>
          <a:ln/>
        </p:spPr>
        <p:txBody>
          <a:bodyPr wrap="square" lIns="0" tIns="0" rIns="0" bIns="0" rtlCol="0" anchor="t"/>
          <a:lstStyle/>
          <a:p>
            <a:pPr indent="0" marL="0">
              <a:buNone/>
            </a:pPr>
            <a:r>
              <a:rPr lang="en-US" sz="1800" dirty="0">
                <a:solidFill>
                  <a:srgbClr val="9DBBF3"/>
                </a:solidFill>
                <a:latin typeface="Cambria" pitchFamily="34" charset="0"/>
                <a:ea typeface="Cambria" pitchFamily="34" charset="-122"/>
                <a:cs typeface="Cambria" pitchFamily="34" charset="-120"/>
              </a:rPr>
              <a:t>5</a:t>
            </a:r>
            <a:endParaRPr lang="en-US" sz="1800" dirty="0"/>
          </a:p>
        </p:txBody>
      </p:sp>
      <p:sp>
        <p:nvSpPr>
          <p:cNvPr id="19" name="Text 17"/>
          <p:cNvSpPr txBox="1"/>
          <p:nvPr/>
        </p:nvSpPr>
        <p:spPr>
          <a:xfrm>
            <a:off x="1371600" y="5349240"/>
            <a:ext cx="9997135" cy="502920"/>
          </a:xfrm>
          <a:prstGeom prst="rect">
            <a:avLst/>
          </a:prstGeom>
          <a:noFill/>
          <a:ln/>
        </p:spPr>
        <p:txBody>
          <a:bodyPr wrap="square" lIns="0" tIns="0" rIns="0" bIns="0" rtlCol="0" anchor="t"/>
          <a:lstStyle/>
          <a:p>
            <a:pPr indent="0" marL="0">
              <a:lnSpc>
                <a:spcPct val="120000"/>
              </a:lnSpc>
              <a:buNone/>
            </a:pPr>
            <a:r>
              <a:rPr lang="en-US" sz="1400" dirty="0">
                <a:solidFill>
                  <a:srgbClr val="F4F4F1"/>
                </a:solidFill>
                <a:latin typeface="Calibri" pitchFamily="34" charset="0"/>
                <a:ea typeface="Calibri" pitchFamily="34" charset="-122"/>
                <a:cs typeface="Calibri" pitchFamily="34" charset="-120"/>
              </a:rPr>
              <a:t>La cirugía resuelve el volumen, no la causa. Sin control de placa posterior, recidiva.</a:t>
            </a:r>
            <a:endParaRPr lang="en-US" sz="1400" dirty="0"/>
          </a:p>
        </p:txBody>
      </p:sp>
      <p:sp>
        <p:nvSpPr>
          <p:cNvPr id="20" name="Text 18"/>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B3B8BD"/>
                </a:solidFill>
                <a:latin typeface="Courier New" pitchFamily="34" charset="0"/>
                <a:ea typeface="Courier New" pitchFamily="34" charset="-122"/>
                <a:cs typeface="Courier New" pitchFamily="34" charset="-120"/>
              </a:rPr>
              <a:t>27 / 28</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22960" y="822960"/>
            <a:ext cx="10545775" cy="0"/>
          </a:xfrm>
          <a:prstGeom prst="line">
            <a:avLst/>
          </a:prstGeom>
          <a:noFill/>
          <a:ln w="19050">
            <a:solidFill>
              <a:srgbClr val="1A1D1F"/>
            </a:solidFill>
            <a:prstDash val="solid"/>
          </a:ln>
        </p:spPr>
      </p:sp>
      <p:sp>
        <p:nvSpPr>
          <p:cNvPr id="3" name="Text 1"/>
          <p:cNvSpPr txBox="1"/>
          <p:nvPr/>
        </p:nvSpPr>
        <p:spPr>
          <a:xfrm>
            <a:off x="822960" y="932688"/>
            <a:ext cx="54864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Manejo integrado</a:t>
            </a:r>
            <a:endParaRPr lang="en-US" sz="1200" dirty="0"/>
          </a:p>
        </p:txBody>
      </p:sp>
      <p:sp>
        <p:nvSpPr>
          <p:cNvPr id="4" name="Text 2"/>
          <p:cNvSpPr txBox="1"/>
          <p:nvPr/>
        </p:nvSpPr>
        <p:spPr>
          <a:xfrm>
            <a:off x="822960" y="1261872"/>
            <a:ext cx="10058400" cy="1097280"/>
          </a:xfrm>
          <a:prstGeom prst="rect">
            <a:avLst/>
          </a:prstGeom>
          <a:noFill/>
          <a:ln/>
        </p:spPr>
        <p:txBody>
          <a:bodyPr wrap="square" lIns="0" tIns="0" rIns="0" bIns="0" rtlCol="0" anchor="t"/>
          <a:lstStyle/>
          <a:p>
            <a:pPr indent="0" marL="0">
              <a:lnSpc>
                <a:spcPct val="100000"/>
              </a:lnSpc>
              <a:buNone/>
            </a:pPr>
            <a:r>
              <a:rPr lang="en-US" sz="3600" dirty="0">
                <a:solidFill>
                  <a:srgbClr val="1A1D1F"/>
                </a:solidFill>
                <a:latin typeface="Cambria" pitchFamily="34" charset="0"/>
                <a:ea typeface="Cambria" pitchFamily="34" charset="-122"/>
                <a:cs typeface="Cambria" pitchFamily="34" charset="-120"/>
              </a:rPr>
              <a:t>Referencias</a:t>
            </a:r>
            <a:endParaRPr lang="en-US" sz="3600" dirty="0"/>
          </a:p>
        </p:txBody>
      </p:sp>
      <p:sp>
        <p:nvSpPr>
          <p:cNvPr id="5" name="Shape 3"/>
          <p:cNvSpPr/>
          <p:nvPr/>
        </p:nvSpPr>
        <p:spPr>
          <a:xfrm>
            <a:off x="822960" y="2514600"/>
            <a:ext cx="10545775" cy="0"/>
          </a:xfrm>
          <a:prstGeom prst="line">
            <a:avLst/>
          </a:prstGeom>
          <a:noFill/>
          <a:ln w="9525">
            <a:solidFill>
              <a:srgbClr val="D9D9D4"/>
            </a:solidFill>
            <a:prstDash val="solid"/>
          </a:ln>
        </p:spPr>
      </p:sp>
      <p:sp>
        <p:nvSpPr>
          <p:cNvPr id="6" name="Text 4"/>
          <p:cNvSpPr txBox="1"/>
          <p:nvPr/>
        </p:nvSpPr>
        <p:spPr>
          <a:xfrm>
            <a:off x="822960" y="2624328"/>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01</a:t>
            </a:r>
            <a:endParaRPr lang="en-US" sz="1200" dirty="0"/>
          </a:p>
        </p:txBody>
      </p:sp>
      <p:sp>
        <p:nvSpPr>
          <p:cNvPr id="7" name="Text 5"/>
          <p:cNvSpPr txBox="1"/>
          <p:nvPr/>
        </p:nvSpPr>
        <p:spPr>
          <a:xfrm>
            <a:off x="1371600" y="2624328"/>
            <a:ext cx="9997135" cy="548640"/>
          </a:xfrm>
          <a:prstGeom prst="rect">
            <a:avLst/>
          </a:prstGeom>
          <a:noFill/>
          <a:ln/>
        </p:spPr>
        <p:txBody>
          <a:bodyPr wrap="square" lIns="0" tIns="0" rIns="0" bIns="0" rtlCol="0" anchor="t"/>
          <a:lstStyle/>
          <a:p>
            <a:pPr indent="0" marL="0">
              <a:lnSpc>
                <a:spcPct val="120000"/>
              </a:lnSpc>
              <a:buNone/>
            </a:pPr>
            <a:r>
              <a:rPr lang="en-US" sz="1250" dirty="0">
                <a:solidFill>
                  <a:srgbClr val="3B4045"/>
                </a:solidFill>
                <a:latin typeface="Calibri" pitchFamily="34" charset="0"/>
                <a:ea typeface="Calibri" pitchFamily="34" charset="-122"/>
                <a:cs typeface="Calibri" pitchFamily="34" charset="-120"/>
              </a:rPr>
              <a:t>Sabarudin MA, Taib H, Wan Mohamad WM. Refining the Mechanism of Drug-Influenced Gingival Enlargement and Its Management. Cureus. 2022;14(5):e25009. doi:10.7759/cureus.25009</a:t>
            </a:r>
            <a:endParaRPr lang="en-US" sz="1250" dirty="0"/>
          </a:p>
        </p:txBody>
      </p:sp>
      <p:sp>
        <p:nvSpPr>
          <p:cNvPr id="8" name="Shape 6"/>
          <p:cNvSpPr/>
          <p:nvPr/>
        </p:nvSpPr>
        <p:spPr>
          <a:xfrm>
            <a:off x="822960" y="3291840"/>
            <a:ext cx="10545775" cy="0"/>
          </a:xfrm>
          <a:prstGeom prst="line">
            <a:avLst/>
          </a:prstGeom>
          <a:noFill/>
          <a:ln w="9525">
            <a:solidFill>
              <a:srgbClr val="D9D9D4"/>
            </a:solidFill>
            <a:prstDash val="solid"/>
          </a:ln>
        </p:spPr>
      </p:sp>
      <p:sp>
        <p:nvSpPr>
          <p:cNvPr id="9" name="Text 7"/>
          <p:cNvSpPr txBox="1"/>
          <p:nvPr/>
        </p:nvSpPr>
        <p:spPr>
          <a:xfrm>
            <a:off x="822960" y="3401568"/>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02</a:t>
            </a:r>
            <a:endParaRPr lang="en-US" sz="1200" dirty="0"/>
          </a:p>
        </p:txBody>
      </p:sp>
      <p:sp>
        <p:nvSpPr>
          <p:cNvPr id="10" name="Text 8"/>
          <p:cNvSpPr txBox="1"/>
          <p:nvPr/>
        </p:nvSpPr>
        <p:spPr>
          <a:xfrm>
            <a:off x="1371600" y="3401568"/>
            <a:ext cx="9997135" cy="548640"/>
          </a:xfrm>
          <a:prstGeom prst="rect">
            <a:avLst/>
          </a:prstGeom>
          <a:noFill/>
          <a:ln/>
        </p:spPr>
        <p:txBody>
          <a:bodyPr wrap="square" lIns="0" tIns="0" rIns="0" bIns="0" rtlCol="0" anchor="t"/>
          <a:lstStyle/>
          <a:p>
            <a:pPr indent="0" marL="0">
              <a:lnSpc>
                <a:spcPct val="120000"/>
              </a:lnSpc>
              <a:buNone/>
            </a:pPr>
            <a:r>
              <a:rPr lang="en-US" sz="1250" dirty="0">
                <a:solidFill>
                  <a:srgbClr val="3B4045"/>
                </a:solidFill>
                <a:latin typeface="Calibri" pitchFamily="34" charset="0"/>
                <a:ea typeface="Calibri" pitchFamily="34" charset="-122"/>
                <a:cs typeface="Calibri" pitchFamily="34" charset="-120"/>
              </a:rPr>
              <a:t>Zhu Q, Wu Z, Jiao X, Han L, Yuan Y. Drug-induced gingival overgrowth: FAERS based real-world pharmacovigilance study and network pharmacology analysis. Front Pharmacol. 2026;17:1775430. doi:10.3389/fphar.2026.1775430</a:t>
            </a:r>
            <a:endParaRPr lang="en-US" sz="1250" dirty="0"/>
          </a:p>
        </p:txBody>
      </p:sp>
      <p:sp>
        <p:nvSpPr>
          <p:cNvPr id="11" name="Shape 9"/>
          <p:cNvSpPr/>
          <p:nvPr/>
        </p:nvSpPr>
        <p:spPr>
          <a:xfrm>
            <a:off x="822960" y="4069080"/>
            <a:ext cx="10545775" cy="0"/>
          </a:xfrm>
          <a:prstGeom prst="line">
            <a:avLst/>
          </a:prstGeom>
          <a:noFill/>
          <a:ln w="9525">
            <a:solidFill>
              <a:srgbClr val="D9D9D4"/>
            </a:solidFill>
            <a:prstDash val="solid"/>
          </a:ln>
        </p:spPr>
      </p:sp>
      <p:sp>
        <p:nvSpPr>
          <p:cNvPr id="12" name="Text 10"/>
          <p:cNvSpPr txBox="1"/>
          <p:nvPr/>
        </p:nvSpPr>
        <p:spPr>
          <a:xfrm>
            <a:off x="822960" y="4178808"/>
            <a:ext cx="457200" cy="274320"/>
          </a:xfrm>
          <a:prstGeom prst="rect">
            <a:avLst/>
          </a:prstGeom>
          <a:noFill/>
          <a:ln/>
        </p:spPr>
        <p:txBody>
          <a:bodyPr wrap="square" lIns="0" tIns="0" rIns="0" bIns="0" rtlCol="0" anchor="t"/>
          <a:lstStyle/>
          <a:p>
            <a:pPr indent="0" marL="0">
              <a:buNone/>
            </a:pPr>
            <a:r>
              <a:rPr lang="en-US" sz="1200" dirty="0">
                <a:solidFill>
                  <a:srgbClr val="1F4E9C"/>
                </a:solidFill>
                <a:latin typeface="Courier New" pitchFamily="34" charset="0"/>
                <a:ea typeface="Courier New" pitchFamily="34" charset="-122"/>
                <a:cs typeface="Courier New" pitchFamily="34" charset="-120"/>
              </a:rPr>
              <a:t>03</a:t>
            </a:r>
            <a:endParaRPr lang="en-US" sz="1200" dirty="0"/>
          </a:p>
        </p:txBody>
      </p:sp>
      <p:sp>
        <p:nvSpPr>
          <p:cNvPr id="13" name="Text 11"/>
          <p:cNvSpPr txBox="1"/>
          <p:nvPr/>
        </p:nvSpPr>
        <p:spPr>
          <a:xfrm>
            <a:off x="1371600" y="4178808"/>
            <a:ext cx="9997135" cy="548640"/>
          </a:xfrm>
          <a:prstGeom prst="rect">
            <a:avLst/>
          </a:prstGeom>
          <a:noFill/>
          <a:ln/>
        </p:spPr>
        <p:txBody>
          <a:bodyPr wrap="square" lIns="0" tIns="0" rIns="0" bIns="0" rtlCol="0" anchor="t"/>
          <a:lstStyle/>
          <a:p>
            <a:pPr indent="0" marL="0">
              <a:lnSpc>
                <a:spcPct val="120000"/>
              </a:lnSpc>
              <a:buNone/>
            </a:pPr>
            <a:r>
              <a:rPr lang="en-US" sz="1250" dirty="0">
                <a:solidFill>
                  <a:srgbClr val="3B4045"/>
                </a:solidFill>
                <a:latin typeface="Calibri" pitchFamily="34" charset="0"/>
                <a:ea typeface="Calibri" pitchFamily="34" charset="-122"/>
                <a:cs typeface="Calibri" pitchFamily="34" charset="-120"/>
              </a:rPr>
              <a:t>Nibali L, Lu EM, Kang J, Bostanci N, Belibasakis GN, Paz HES. Risk Factors and Management of Gingival Enlargement: A Systematic Review and Meta-Analysis. J Clin Periodontol. 2026. doi:10.1111/jcpe.70125</a:t>
            </a:r>
            <a:endParaRPr lang="en-US" sz="1250" dirty="0"/>
          </a:p>
        </p:txBody>
      </p:sp>
      <p:sp>
        <p:nvSpPr>
          <p:cNvPr id="14" name="Text 12"/>
          <p:cNvSpPr txBox="1"/>
          <p:nvPr/>
        </p:nvSpPr>
        <p:spPr>
          <a:xfrm>
            <a:off x="822960" y="5212080"/>
            <a:ext cx="7315200" cy="731520"/>
          </a:xfrm>
          <a:prstGeom prst="rect">
            <a:avLst/>
          </a:prstGeom>
          <a:noFill/>
          <a:ln/>
        </p:spPr>
        <p:txBody>
          <a:bodyPr wrap="square" lIns="0" tIns="0" rIns="0" bIns="0" rtlCol="0" anchor="t"/>
          <a:lstStyle/>
          <a:p>
            <a:pPr indent="0" marL="0">
              <a:buNone/>
            </a:pPr>
            <a:r>
              <a:rPr lang="en-US" sz="3600" i="1" dirty="0">
                <a:solidFill>
                  <a:srgbClr val="1A1D1F"/>
                </a:solidFill>
                <a:latin typeface="Cambria" pitchFamily="34" charset="0"/>
                <a:ea typeface="Cambria" pitchFamily="34" charset="-122"/>
                <a:cs typeface="Cambria" pitchFamily="34" charset="-120"/>
              </a:rPr>
              <a:t>Preguntas</a:t>
            </a:r>
            <a:endParaRPr lang="en-US" sz="3600" dirty="0"/>
          </a:p>
        </p:txBody>
      </p:sp>
      <p:sp>
        <p:nvSpPr>
          <p:cNvPr id="15" name="Text 13"/>
          <p:cNvSpPr txBox="1"/>
          <p:nvPr/>
        </p:nvSpPr>
        <p:spPr>
          <a:xfrm>
            <a:off x="9997135" y="6327648"/>
            <a:ext cx="1371600" cy="274320"/>
          </a:xfrm>
          <a:prstGeom prst="rect">
            <a:avLst/>
          </a:prstGeom>
          <a:noFill/>
          <a:ln/>
        </p:spPr>
        <p:txBody>
          <a:bodyPr wrap="square" lIns="0" tIns="0" rIns="0" bIns="0" rtlCol="0" anchor="t"/>
          <a:lstStyle/>
          <a:p>
            <a:pPr algn="r" indent="0" marL="0">
              <a:buNone/>
            </a:pPr>
            <a:r>
              <a:rPr lang="en-US" sz="1050" dirty="0">
                <a:solidFill>
                  <a:srgbClr val="666B70"/>
                </a:solidFill>
                <a:latin typeface="Courier New" pitchFamily="34" charset="0"/>
                <a:ea typeface="Courier New" pitchFamily="34" charset="-122"/>
                <a:cs typeface="Courier New" pitchFamily="34" charset="-120"/>
              </a:rPr>
              <a:t>28 / 28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Agrandamiento gingival inducido por fármacos</dc:title>
  <dc:subject>PptxGenJS Presentation</dc:subject>
  <dc:creator>Rosmary Tarazona</dc:creator>
  <cp:lastModifiedBy>Rosmary Tarazona</cp:lastModifiedBy>
  <cp:revision>1</cp:revision>
  <dcterms:created xsi:type="dcterms:W3CDTF">2026-09-24T06:54:33Z</dcterms:created>
  <dcterms:modified xsi:type="dcterms:W3CDTF">2026-09-24T06:54:33Z</dcterms:modified>
</cp:coreProperties>
</file>